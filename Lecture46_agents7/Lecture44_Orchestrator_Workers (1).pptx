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4572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09  ·  AGENTIC WORKFLOWS  ·  LECTURE 44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011680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Orchestrator–Workers</a:t>
            </a:r>
            <a:endParaRPr lang="en-US" sz="54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01752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A1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agent plans, others do the parts, the planner puts it together.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822960" y="3931920"/>
            <a:ext cx="5669280" cy="731520"/>
          </a:xfrm>
          <a:prstGeom prst="roundRect">
            <a:avLst>
              <a:gd name="adj" fmla="val 15000"/>
            </a:avLst>
          </a:prstGeom>
          <a:solidFill>
            <a:srgbClr val="1D1D1F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51560" y="3931920"/>
            <a:ext cx="5303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C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Beta: </a:t>
            </a:r>
            <a:pPr indent="0" marL="0">
              <a:buNone/>
            </a:pPr>
            <a:r>
              <a:rPr lang="en-US" sz="1400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GPT-6.1 Sol and all GPT-5.6 models. Item schemas may change.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64008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1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OpenAI API docs, “Multi-agent” (Responses API, beta)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4572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 ·  WHAT IT IS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91440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Root delegates. Subagents work. Root combines.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480560" y="1828800"/>
            <a:ext cx="3200400" cy="914400"/>
          </a:xfrm>
          <a:prstGeom prst="roundRect">
            <a:avLst>
              <a:gd name="adj" fmla="val 12000"/>
            </a:avLst>
          </a:prstGeom>
          <a:solidFill>
            <a:srgbClr val="29B5E8"/>
          </a:solidFill>
          <a:ln w="12700">
            <a:solidFill>
              <a:srgbClr val="29B5E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480560" y="192024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/root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4480560" y="23317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plans + writes final answer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188720" y="3566160"/>
            <a:ext cx="2743200" cy="914400"/>
          </a:xfrm>
          <a:prstGeom prst="roundRect">
            <a:avLst>
              <a:gd name="adj" fmla="val 12000"/>
            </a:avLst>
          </a:prstGeom>
          <a:solidFill>
            <a:srgbClr val="1D1D1F"/>
          </a:solidFill>
          <a:ln w="12700">
            <a:solidFill>
              <a:srgbClr val="29B5E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188720" y="365760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5F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/root/researcher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1188720" y="40690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1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focused task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080760" y="2743200"/>
            <a:ext cx="-3520440" cy="822960"/>
          </a:xfrm>
          <a:prstGeom prst="line">
            <a:avLst/>
          </a:prstGeom>
          <a:noFill/>
          <a:ln w="12700">
            <a:solidFill>
              <a:srgbClr val="29B5E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54880" y="3566160"/>
            <a:ext cx="2743200" cy="914400"/>
          </a:xfrm>
          <a:prstGeom prst="roundRect">
            <a:avLst>
              <a:gd name="adj" fmla="val 12000"/>
            </a:avLst>
          </a:prstGeom>
          <a:solidFill>
            <a:srgbClr val="1D1D1F"/>
          </a:solidFill>
          <a:ln w="12700">
            <a:solidFill>
              <a:srgbClr val="29B5E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754880" y="365760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5F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/root/reviewer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4754880" y="40690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1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focused task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080760" y="2743200"/>
            <a:ext cx="45720" cy="822960"/>
          </a:xfrm>
          <a:prstGeom prst="line">
            <a:avLst/>
          </a:prstGeom>
          <a:noFill/>
          <a:ln w="12700">
            <a:solidFill>
              <a:srgbClr val="29B5E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321040" y="3566160"/>
            <a:ext cx="2743200" cy="914400"/>
          </a:xfrm>
          <a:prstGeom prst="roundRect">
            <a:avLst>
              <a:gd name="adj" fmla="val 12000"/>
            </a:avLst>
          </a:prstGeom>
          <a:solidFill>
            <a:srgbClr val="1D1D1F"/>
          </a:solidFill>
          <a:ln w="12700">
            <a:solidFill>
              <a:srgbClr val="29B5E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321040" y="365760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5F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/root/tester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8321040" y="40690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1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focused task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080760" y="2743200"/>
            <a:ext cx="3611880" cy="822960"/>
          </a:xfrm>
          <a:prstGeom prst="line">
            <a:avLst/>
          </a:prstGeom>
          <a:noFill/>
          <a:ln w="12700">
            <a:solidFill>
              <a:srgbClr val="29B5E8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22960" y="48006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Parallel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822960" y="516636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1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independent work runs at the same time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4434840" y="48006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Focused context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4434840" y="516636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1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subagent keeps its own context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8046720" y="48006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Model-directed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8046720" y="516636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1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orchestration code needed in your app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822960" y="58978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idea: </a:t>
            </a:r>
            <a:pPr indent="0" marL="0">
              <a:buNone/>
            </a:pPr>
            <a:r>
              <a:rPr lang="en-US" sz="1600" i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Orchestrator–workers, built into the API.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822960" y="64008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1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OpenAI API docs, “Multi-agent” (Responses API, beta)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4572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 ·  WHEN TO USE IT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91440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Split work only when the parts are independent.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822960" y="1828800"/>
            <a:ext cx="5029200" cy="3657600"/>
          </a:xfrm>
          <a:prstGeom prst="roundRect">
            <a:avLst>
              <a:gd name="adj" fmla="val 3000"/>
            </a:avLst>
          </a:prstGeom>
          <a:solidFill>
            <a:srgbClr val="1D1D1F"/>
          </a:solidFill>
          <a:ln w="12700">
            <a:solidFill>
              <a:srgbClr val="34C75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97280" y="201168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4C7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Multi-agent when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2560320"/>
            <a:ext cx="45720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200"/>
              </a:spcAft>
              <a:buNone/>
            </a:pPr>
            <a:r>
              <a:rPr lang="en-US" sz="1500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 splits into independent, bounded tasks</a:t>
            </a:r>
            <a:endParaRPr lang="en-US" sz="15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500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Separate context improves focus</a:t>
            </a:r>
            <a:endParaRPr lang="en-US" sz="15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500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Parallel work cuts wall-clock time</a:t>
            </a:r>
            <a:endParaRPr lang="en-US" sz="15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500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Comparing independent findings improves coverage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309360" y="1828800"/>
            <a:ext cx="5029200" cy="3657600"/>
          </a:xfrm>
          <a:prstGeom prst="roundRect">
            <a:avLst>
              <a:gd name="adj" fmla="val 3000"/>
            </a:avLst>
          </a:prstGeom>
          <a:solidFill>
            <a:srgbClr val="1D1D1F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583680" y="201168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Prefer one agent when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6583680" y="2560320"/>
            <a:ext cx="45720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200"/>
              </a:spcAft>
              <a:buNone/>
            </a:pPr>
            <a:r>
              <a:rPr lang="en-US" sz="1500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step depends on the previous one</a:t>
            </a:r>
            <a:endParaRPr lang="en-US" sz="15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500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task is small and quick</a:t>
            </a:r>
            <a:endParaRPr lang="en-US" sz="15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500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Agents would fight over the same mutable resource</a:t>
            </a:r>
            <a:endParaRPr lang="en-US" sz="15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500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need a fixed, deterministic flow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58521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idea: </a:t>
            </a:r>
            <a:pPr indent="0" marL="0">
              <a:buNone/>
            </a:pPr>
            <a:r>
              <a:rPr lang="en-US" sz="1600" i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agents = more tokens. Split only when it actually helps.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64008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1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OpenAI API docs, “Multi-agent” (Responses API, beta)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4572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 ·  TURNING IT ON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91440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setting, plus the beta flag.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822960" y="1828800"/>
            <a:ext cx="6675120" cy="3749040"/>
          </a:xfrm>
          <a:prstGeom prst="roundRect">
            <a:avLst>
              <a:gd name="adj" fmla="val 2927"/>
            </a:avLst>
          </a:prstGeom>
          <a:solidFill>
            <a:srgbClr val="1D1D1F"/>
          </a:solidFill>
          <a:ln w="12700">
            <a:solidFill>
              <a:srgbClr val="3A3A3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51560" y="1965960"/>
            <a:ext cx="630936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5F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response = client.beta.responses.create(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5F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model="gpt-6.1-sol",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5F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input="Review this diff with three agents: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5F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correctness, security, missing tests...",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5F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multi_agent={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5F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"enabled": True,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5F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"max_concurrent_subagents": 3,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5F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5F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betas=["responses_multi_agent=v1"],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5F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7863840" y="18288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9B5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client.beta.responses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7863840" y="219456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1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beta SDK, not the normal one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7863840" y="276148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9B5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multi_agent.enabled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7863840" y="3127248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1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lets the root spawn subagents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7863840" y="3694176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9B5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max_concurrent_subagents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7863840" y="4059936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1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 at once across the whole tree; default 3 (recommended)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7863840" y="4626864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9B5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 hard limits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7863840" y="4992624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1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tree depth or total subagents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58521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idea: </a:t>
            </a:r>
            <a:pPr indent="0" marL="0">
              <a:buNone/>
            </a:pPr>
            <a:r>
              <a:rPr lang="en-US" sz="1600" i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the final answer from items where agent_name is "/root" and phase is "final_answer".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64008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1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OpenAI API docs, “Multi-agent” (Responses API, beta)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2026-10-11T03:14:25Z</dcterms:created>
  <dcterms:modified xsi:type="dcterms:W3CDTF">2026-10-11T03:14:25Z</dcterms:modified>
</cp:coreProperties>
</file>