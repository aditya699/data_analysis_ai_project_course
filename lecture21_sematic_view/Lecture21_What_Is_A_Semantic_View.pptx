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5F5F7"/>
                </a:solidFill>
                <a:latin typeface="Arial"/>
              </a:defRPr>
            </a:pPr>
            <a:r>
              <a:rPr sz="1400" b="0" i="0" u="none" strike="noStrike">
                <a:solidFill>
                  <a:srgbClr val="F5F5F7"/>
                </a:solidFill>
                <a:latin typeface="Arial"/>
              </a:rPr>
              <a:t>Accuracy on business questions (%)</a:t>
            </a:r>
          </a:p>
        </c:rich>
      </c:tx>
      <c:layout/>
      <c:overlay val="0"/>
    </c:title>
    <c:autoTitleDeleted val="0"/>
    <c:plotArea>
      <c:layout/>
      <c:barChart>
        <c:barDir val="col"/>
        <c:grouping val="clustered"/>
        <c:varyColors val="0"/>
        <c:ser>
          <c:idx val="0"/>
          <c:order val="0"/>
          <c:tx>
            <c:strRef>
              <c:f>Sheet1!$B$1</c:f>
              <c:strCache>
                <c:ptCount val="1"/>
                <c:pt idx="0">
                  <c:v>Without semantic layer</c:v>
                </c:pt>
              </c:strCache>
            </c:strRef>
          </c:tx>
          <c:spPr>
            <a:solidFill>
              <a:srgbClr val="3A3A3C"/>
            </a:solidFill>
            <a:effectLst/>
          </c:spPr>
          <c:invertIfNegative val="0"/>
          <c:dLbls>
            <c:numFmt formatCode="0.0" sourceLinked="0"/>
            <c:txPr>
              <a:bodyPr/>
              <a:lstStyle/>
              <a:p>
                <a:pPr>
                  <a:defRPr b="0" i="0" strike="noStrike" sz="1200" u="none">
                    <a:solidFill>
                      <a:srgbClr val="F5F5F7"/>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GPT-4 (2023)</c:v>
                  </c:pt>
                  <c:pt idx="1">
                    <c:v>GPT-5.3-Codex (2026)</c:v>
                  </c:pt>
                  <c:pt idx="2">
                    <c:v>Claude Sonnet 4.6 (2026)</c:v>
                  </c:pt>
                </c:lvl>
              </c:multiLvlStrCache>
            </c:multiLvlStrRef>
          </c:cat>
          <c:val>
            <c:numRef>
              <c:f>Sheet1!$B$2:$B$4</c:f>
              <c:numCache>
                <c:formatCode>General</c:formatCode>
                <c:ptCount val="3"/>
                <c:pt idx="0">
                  <c:v>16.7</c:v>
                </c:pt>
                <c:pt idx="1">
                  <c:v>84.1</c:v>
                </c:pt>
                <c:pt idx="2">
                  <c:v>90</c:v>
                </c:pt>
              </c:numCache>
            </c:numRef>
          </c:val>
        </c:ser>
        <c:ser>
          <c:idx val="1"/>
          <c:order val="1"/>
          <c:tx>
            <c:strRef>
              <c:f>Sheet1!$C$1</c:f>
              <c:strCache>
                <c:ptCount val="1"/>
                <c:pt idx="0">
                  <c:v>With semantic layer</c:v>
                </c:pt>
              </c:strCache>
            </c:strRef>
          </c:tx>
          <c:spPr>
            <a:solidFill>
              <a:srgbClr val="29B5E8"/>
            </a:solidFill>
            <a:effectLst/>
          </c:spPr>
          <c:invertIfNegative val="0"/>
          <c:dLbls>
            <c:numFmt formatCode="0.0" sourceLinked="0"/>
            <c:txPr>
              <a:bodyPr/>
              <a:lstStyle/>
              <a:p>
                <a:pPr>
                  <a:defRPr b="0" i="0" strike="noStrike" sz="1200" u="none">
                    <a:solidFill>
                      <a:srgbClr val="F5F5F7"/>
                    </a:solidFill>
                    <a:latin typeface="Arial"/>
                  </a:defRPr>
                </a:pPr>
              </a:p>
            </c:txPr>
            <c:showLegendKey val="0"/>
            <c:showVal val="1"/>
            <c:showCatName val="0"/>
            <c:showSerName val="0"/>
            <c:showPercent val="0"/>
            <c:showBubbleSize val="0"/>
            <c:showLeaderLines val="0"/>
          </c:dLbls>
          <c:cat>
            <c:multiLvlStrRef>
              <c:f>Sheet1!$A$2:$A$4</c:f>
              <c:multiLvlStrCache>
                <c:ptCount val="3"/>
                <c:lvl>
                  <c:pt idx="0">
                    <c:v>GPT-4 (2023)</c:v>
                  </c:pt>
                  <c:pt idx="1">
                    <c:v>GPT-5.3-Codex (2026)</c:v>
                  </c:pt>
                  <c:pt idx="2">
                    <c:v>Claude Sonnet 4.6 (2026)</c:v>
                  </c:pt>
                </c:lvl>
              </c:multiLvlStrCache>
            </c:multiLvlStrRef>
          </c:cat>
          <c:val>
            <c:numRef>
              <c:f>Sheet1!$C$2:$C$4</c:f>
              <c:numCache>
                <c:formatCode>General</c:formatCode>
                <c:ptCount val="3"/>
                <c:pt idx="0">
                  <c:v>54.2</c:v>
                </c:pt>
                <c:pt idx="1">
                  <c:v>100</c:v>
                </c:pt>
                <c:pt idx="2">
                  <c:v>98.2</c:v>
                </c:pt>
              </c:numCache>
            </c:numRef>
          </c:val>
        </c:ser>
        <c:dLbls>
          <c:numFmt formatCode="0.0" sourceLinked="0"/>
          <c:txPr>
            <a:bodyPr/>
            <a:lstStyle/>
            <a:p>
              <a:pPr>
                <a:defRPr b="0" i="0" strike="noStrike" sz="1200" u="none">
                  <a:solidFill>
                    <a:srgbClr val="F5F5F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1A1A6"/>
                </a:solidFill>
                <a:latin typeface="Arial"/>
              </a:defRPr>
            </a:pPr>
            <a:endParaRPr lang="en-US"/>
          </a:p>
        </c:txPr>
        <c:crossAx val="2094734552"/>
        <c:crosses val="autoZero"/>
        <c:auto val="1"/>
        <c:lblAlgn val="ctr"/>
        <c:noMultiLvlLbl val="1"/>
      </c:catAx>
      <c:valAx>
        <c:axId val="2094734552"/>
        <c:scaling>
          <c:orientation val="minMax"/>
          <c:max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1A1A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1A1A6"/>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5F5F7"/>
                </a:solidFill>
                <a:latin typeface="Arial"/>
              </a:defRPr>
            </a:pPr>
            <a:r>
              <a:rPr sz="1400" b="0" i="0" u="none" strike="noStrike">
                <a:solidFill>
                  <a:srgbClr val="F5F5F7"/>
                </a:solidFill>
                <a:latin typeface="Arial"/>
              </a:rPr>
              <a:t>Accuracy on 99 retail questions (%)</a:t>
            </a:r>
          </a:p>
        </c:rich>
      </c:tx>
      <c:layout/>
      <c:overlay val="0"/>
    </c:title>
    <c:autoTitleDeleted val="0"/>
    <c:plotArea>
      <c:layout/>
      <c:barChart>
        <c:barDir val="col"/>
        <c:grouping val="clustered"/>
        <c:varyColors val="0"/>
        <c:ser>
          <c:idx val="0"/>
          <c:order val="0"/>
          <c:tx>
            <c:strRef>
              <c:f>Sheet1!$B$1</c:f>
              <c:strCache>
                <c:ptCount val="1"/>
                <c:pt idx="0">
                  <c:v>Schema only</c:v>
                </c:pt>
              </c:strCache>
            </c:strRef>
          </c:tx>
          <c:spPr>
            <a:solidFill>
              <a:srgbClr val="3A3A3C"/>
            </a:solidFill>
            <a:effectLst/>
          </c:spPr>
          <c:invertIfNegative val="0"/>
          <c:dLbls>
            <c:numFmt formatCode="0.0" sourceLinked="0"/>
            <c:txPr>
              <a:bodyPr/>
              <a:lstStyle/>
              <a:p>
                <a:pPr>
                  <a:defRPr b="0" i="0" strike="noStrike" sz="1200" u="none">
                    <a:solidFill>
                      <a:srgbClr val="F5F5F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Claude Opus 4.7</c:v>
                  </c:pt>
                  <c:pt idx="1">
                    <c:v>Claude Sonnet 4.6</c:v>
                  </c:pt>
                  <c:pt idx="2">
                    <c:v>GPT-5.4</c:v>
                  </c:pt>
                </c:lvl>
              </c:multiLvlStrCache>
            </c:multiLvlStrRef>
          </c:cat>
          <c:val>
            <c:numRef>
              <c:f>Sheet1!$B$2:$B$4</c:f>
              <c:numCache>
                <c:formatCode>General</c:formatCode>
                <c:ptCount val="3"/>
                <c:pt idx="0">
                  <c:v>50.5</c:v>
                </c:pt>
                <c:pt idx="1">
                  <c:v>46.5</c:v>
                </c:pt>
                <c:pt idx="2">
                  <c:v>45.5</c:v>
                </c:pt>
              </c:numCache>
            </c:numRef>
          </c:val>
        </c:ser>
        <c:ser>
          <c:idx val="1"/>
          <c:order val="1"/>
          <c:tx>
            <c:strRef>
              <c:f>Sheet1!$C$1</c:f>
              <c:strCache>
                <c:ptCount val="1"/>
                <c:pt idx="0">
                  <c:v>Schema + 4 KB semantic doc</c:v>
                </c:pt>
              </c:strCache>
            </c:strRef>
          </c:tx>
          <c:spPr>
            <a:solidFill>
              <a:srgbClr val="29B5E8"/>
            </a:solidFill>
            <a:effectLst/>
          </c:spPr>
          <c:invertIfNegative val="0"/>
          <c:dLbls>
            <c:numFmt formatCode="0.0" sourceLinked="0"/>
            <c:txPr>
              <a:bodyPr/>
              <a:lstStyle/>
              <a:p>
                <a:pPr>
                  <a:defRPr b="0" i="0" strike="noStrike" sz="1200" u="none">
                    <a:solidFill>
                      <a:srgbClr val="F5F5F7"/>
                    </a:solidFill>
                    <a:latin typeface="Arial"/>
                  </a:defRPr>
                </a:pPr>
              </a:p>
            </c:txPr>
            <c:showLegendKey val="0"/>
            <c:showVal val="1"/>
            <c:showCatName val="0"/>
            <c:showSerName val="0"/>
            <c:showPercent val="0"/>
            <c:showBubbleSize val="0"/>
            <c:showLeaderLines val="0"/>
          </c:dLbls>
          <c:cat>
            <c:multiLvlStrRef>
              <c:f>Sheet1!$A$2:$A$4</c:f>
              <c:multiLvlStrCache>
                <c:ptCount val="3"/>
                <c:lvl>
                  <c:pt idx="0">
                    <c:v>Claude Opus 4.7</c:v>
                  </c:pt>
                  <c:pt idx="1">
                    <c:v>Claude Sonnet 4.6</c:v>
                  </c:pt>
                  <c:pt idx="2">
                    <c:v>GPT-5.4</c:v>
                  </c:pt>
                </c:lvl>
              </c:multiLvlStrCache>
            </c:multiLvlStrRef>
          </c:cat>
          <c:val>
            <c:numRef>
              <c:f>Sheet1!$C$2:$C$4</c:f>
              <c:numCache>
                <c:formatCode>General</c:formatCode>
                <c:ptCount val="3"/>
                <c:pt idx="0">
                  <c:v>67.7</c:v>
                </c:pt>
                <c:pt idx="1">
                  <c:v>68.7</c:v>
                </c:pt>
                <c:pt idx="2">
                  <c:v>68.7</c:v>
                </c:pt>
              </c:numCache>
            </c:numRef>
          </c:val>
        </c:ser>
        <c:dLbls>
          <c:numFmt formatCode="0.0" sourceLinked="0"/>
          <c:txPr>
            <a:bodyPr/>
            <a:lstStyle/>
            <a:p>
              <a:pPr>
                <a:defRPr b="0" i="0" strike="noStrike" sz="1200" u="none">
                  <a:solidFill>
                    <a:srgbClr val="F5F5F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1A1A6"/>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1A1A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A1A1A6"/>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clean warehouse and a star schema. Before we plug AI into it, we need one more layer: meaning. This lecture is pure concept, no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column list. Ask the question. Point out that valid SQL can still give a wrong number, because the question was never defined. Optional demo: ask Claude Code this with no context and show the assumptions it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sits between the physical tables and whoever asks questions: Cortex Analyst, agents, BI tools. It does not copy data. It stores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Tables and relationships = the star schema we built. Facts = raw numbers per row. Dimensions = how you slice. Metrics = the definitions, e.g. revenue excludes cancelled. Metrics are the whole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same questions, with and without business meaning. 2023 GPT-4 jumps from 17% to 54%. Even 2026 frontier models go from ~85-90% to ~98-100%. Right: Snowflake says Cortex Analyst with a semantic model is about twice as accurate as one-shot GPT-4o. Red card: on messy real enterprise databases with raw schema, agents still struggle.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April 2026 paper. Three frontier models, same 99 questions, run twice: schema only, then schema plus a 4 KB hand-written doc explaining metrics and conventions. Every model jumped 17-23 points. And within each condition, the models were statistically tied. Lesson: writing down what your data means beats paying for a bigger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error categories the 2026 study found the semantic document fixed. In their data, summing a snapshot table gave numbers about 1000x too big and nothing flagged it. Map each one to OrderIQ. The time one is real for us: our orders end 31 Dec 2025, so last quarter from today returns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dbt Labs 2026 benchmark observation: text-to-SQL failures look like believable wrong answers; semantic layer failures look like refusals. Then our own story: the agent wrote valid SQL, the business rule was the problem, and it was a human-side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views are first-class objects now, not a YAML side file. Verified queries are our "agent proposes, you verify" built into the product. Autopilot and Cortex Code can draft it, but we still own the business rules. Tip from Snowflake builders: only include columns you actually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pipeline we built and show where the semantic view slots in. Be honest: models improve every year, and good modelling matters. But business rules like what counts as revenue can only come from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LECTURE 21  ·  SEMANTIC LAYER</a:t>
            </a:r>
            <a:endParaRPr lang="en-US" sz="1400" dirty="0"/>
          </a:p>
        </p:txBody>
      </p:sp>
      <p:sp>
        <p:nvSpPr>
          <p:cNvPr id="3" name="Text 1"/>
          <p:cNvSpPr txBox="1"/>
          <p:nvPr/>
        </p:nvSpPr>
        <p:spPr>
          <a:xfrm>
            <a:off x="822960" y="2011680"/>
            <a:ext cx="10515600" cy="1097280"/>
          </a:xfrm>
          <a:prstGeom prst="rect">
            <a:avLst/>
          </a:prstGeom>
          <a:noFill/>
          <a:ln/>
        </p:spPr>
        <p:txBody>
          <a:bodyPr wrap="square" lIns="0" tIns="0" rIns="0" bIns="0" rtlCol="0" anchor="ctr"/>
          <a:lstStyle/>
          <a:p>
            <a:pPr indent="0" marL="0">
              <a:buNone/>
            </a:pPr>
            <a:r>
              <a:rPr lang="en-US" sz="5400" b="1" dirty="0">
                <a:solidFill>
                  <a:srgbClr val="F5F5F7"/>
                </a:solidFill>
                <a:latin typeface="Arial" pitchFamily="34" charset="0"/>
                <a:ea typeface="Arial" pitchFamily="34" charset="-122"/>
                <a:cs typeface="Arial" pitchFamily="34" charset="-120"/>
              </a:rPr>
              <a:t>What Is a Semantic View?</a:t>
            </a:r>
            <a:endParaRPr lang="en-US" sz="5400" dirty="0"/>
          </a:p>
        </p:txBody>
      </p:sp>
      <p:sp>
        <p:nvSpPr>
          <p:cNvPr id="4" name="Text 2"/>
          <p:cNvSpPr txBox="1"/>
          <p:nvPr/>
        </p:nvSpPr>
        <p:spPr>
          <a:xfrm>
            <a:off x="822960" y="3291840"/>
            <a:ext cx="10515600" cy="1097280"/>
          </a:xfrm>
          <a:prstGeom prst="rect">
            <a:avLst/>
          </a:prstGeom>
          <a:noFill/>
          <a:ln/>
        </p:spPr>
        <p:txBody>
          <a:bodyPr wrap="square" lIns="0" tIns="0" rIns="0" bIns="0" rtlCol="0" anchor="ctr"/>
          <a:lstStyle/>
          <a:p>
            <a:pPr indent="0" marL="0">
              <a:buNone/>
            </a:pPr>
            <a:r>
              <a:rPr lang="en-US" sz="2400" dirty="0">
                <a:solidFill>
                  <a:srgbClr val="A1A1A6"/>
                </a:solidFill>
                <a:latin typeface="Arial" pitchFamily="34" charset="0"/>
                <a:ea typeface="Arial" pitchFamily="34" charset="-122"/>
                <a:cs typeface="Arial" pitchFamily="34" charset="-120"/>
              </a:rPr>
              <a:t>The star schema organises the data.</a:t>
            </a:r>
            <a:endParaRPr lang="en-US" sz="2400" dirty="0"/>
          </a:p>
          <a:p>
            <a:pPr indent="0" marL="0">
              <a:buNone/>
            </a:pPr>
            <a:r>
              <a:rPr lang="en-US" sz="2400" dirty="0">
                <a:solidFill>
                  <a:srgbClr val="A1A1A6"/>
                </a:solidFill>
                <a:latin typeface="Arial" pitchFamily="34" charset="0"/>
                <a:ea typeface="Arial" pitchFamily="34" charset="-122"/>
                <a:cs typeface="Arial" pitchFamily="34" charset="-120"/>
              </a:rPr>
              <a:t>The semantic view tells the AI what it means.</a:t>
            </a:r>
            <a:endParaRPr lang="en-US" sz="2400" dirty="0"/>
          </a:p>
        </p:txBody>
      </p:sp>
      <p:sp>
        <p:nvSpPr>
          <p:cNvPr id="5" name="Text 3"/>
          <p:cNvSpPr txBox="1"/>
          <p:nvPr/>
        </p:nvSpPr>
        <p:spPr>
          <a:xfrm>
            <a:off x="822960" y="5852160"/>
            <a:ext cx="10515600" cy="365760"/>
          </a:xfrm>
          <a:prstGeom prst="rect">
            <a:avLst/>
          </a:prstGeom>
          <a:noFill/>
          <a:ln/>
        </p:spPr>
        <p:txBody>
          <a:bodyPr wrap="square" lIns="0" tIns="0" rIns="0" bIns="0" rtlCol="0" anchor="ctr"/>
          <a:lstStyle/>
          <a:p>
            <a:pPr indent="0" marL="0">
              <a:buNone/>
            </a:pPr>
            <a:r>
              <a:rPr lang="en-US" sz="1400" dirty="0">
                <a:solidFill>
                  <a:srgbClr val="A1A1A6"/>
                </a:solidFill>
                <a:latin typeface="Arial" pitchFamily="34" charset="0"/>
                <a:ea typeface="Arial" pitchFamily="34" charset="-122"/>
                <a:cs typeface="Arial" pitchFamily="34" charset="-120"/>
              </a:rPr>
              <a:t>OrderIQ  ·  From clean data to AI that answers correctly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1  ·  THE PROBLEM</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600" b="1" dirty="0">
                <a:solidFill>
                  <a:srgbClr val="F5F5F7"/>
                </a:solidFill>
                <a:latin typeface="Arial" pitchFamily="34" charset="0"/>
                <a:ea typeface="Arial" pitchFamily="34" charset="-122"/>
                <a:cs typeface="Arial" pitchFamily="34" charset="-120"/>
              </a:rPr>
              <a:t>The agent sees column names, not meaning.</a:t>
            </a:r>
            <a:endParaRPr lang="en-US" sz="3600" dirty="0"/>
          </a:p>
        </p:txBody>
      </p:sp>
      <p:sp>
        <p:nvSpPr>
          <p:cNvPr id="4" name="Shape 2"/>
          <p:cNvSpPr/>
          <p:nvPr/>
        </p:nvSpPr>
        <p:spPr>
          <a:xfrm>
            <a:off x="822960" y="2011680"/>
            <a:ext cx="4937760" cy="3566160"/>
          </a:xfrm>
          <a:prstGeom prst="roundRect">
            <a:avLst>
              <a:gd name="adj" fmla="val 3077"/>
            </a:avLst>
          </a:prstGeom>
          <a:solidFill>
            <a:srgbClr val="1D1D1F"/>
          </a:solidFill>
          <a:ln w="12700">
            <a:solidFill>
              <a:srgbClr val="3A3A3C"/>
            </a:solidFill>
            <a:prstDash val="solid"/>
          </a:ln>
        </p:spPr>
      </p:sp>
      <p:sp>
        <p:nvSpPr>
          <p:cNvPr id="5" name="Text 3"/>
          <p:cNvSpPr txBox="1"/>
          <p:nvPr/>
        </p:nvSpPr>
        <p:spPr>
          <a:xfrm>
            <a:off x="1097280" y="2194560"/>
            <a:ext cx="4389120" cy="365760"/>
          </a:xfrm>
          <a:prstGeom prst="rect">
            <a:avLst/>
          </a:prstGeom>
          <a:noFill/>
          <a:ln/>
        </p:spPr>
        <p:txBody>
          <a:bodyPr wrap="square" lIns="0" tIns="0" rIns="0" bIns="0" rtlCol="0" anchor="ctr"/>
          <a:lstStyle/>
          <a:p>
            <a:pPr indent="0" marL="0">
              <a:buNone/>
            </a:pPr>
            <a:r>
              <a:rPr lang="en-US" sz="1600" b="1" dirty="0">
                <a:solidFill>
                  <a:srgbClr val="A1A1A6"/>
                </a:solidFill>
                <a:latin typeface="Arial" pitchFamily="34" charset="0"/>
                <a:ea typeface="Arial" pitchFamily="34" charset="-122"/>
                <a:cs typeface="Arial" pitchFamily="34" charset="-120"/>
              </a:rPr>
              <a:t>What the agent sees</a:t>
            </a:r>
            <a:endParaRPr lang="en-US" sz="1600" dirty="0"/>
          </a:p>
        </p:txBody>
      </p:sp>
      <p:sp>
        <p:nvSpPr>
          <p:cNvPr id="6" name="Text 4"/>
          <p:cNvSpPr txBox="1"/>
          <p:nvPr/>
        </p:nvSpPr>
        <p:spPr>
          <a:xfrm>
            <a:off x="1097280" y="2697480"/>
            <a:ext cx="4389120" cy="2651760"/>
          </a:xfrm>
          <a:prstGeom prst="rect">
            <a:avLst/>
          </a:prstGeom>
          <a:noFill/>
          <a:ln/>
        </p:spPr>
        <p:txBody>
          <a:bodyPr wrap="square" lIns="0" tIns="0" rIns="0" bIns="0" rtlCol="0" anchor="t"/>
          <a:lstStyle/>
          <a:p>
            <a:pPr indent="0" marL="0">
              <a:buNone/>
            </a:pPr>
            <a:r>
              <a:rPr lang="en-US" sz="1700" dirty="0">
                <a:solidFill>
                  <a:srgbClr val="F5F5F7"/>
                </a:solidFill>
                <a:latin typeface="Courier New" pitchFamily="34" charset="0"/>
                <a:ea typeface="Courier New" pitchFamily="34" charset="-122"/>
                <a:cs typeface="Courier New" pitchFamily="34" charset="-120"/>
              </a:rPr>
              <a:t>FACT_ORDER_ITEMS</a:t>
            </a:r>
            <a:endParaRPr lang="en-US" sz="1700" dirty="0"/>
          </a:p>
          <a:p>
            <a:pPr indent="0" marL="0">
              <a:buNone/>
            </a:pPr>
            <a:r>
              <a:rPr lang="en-US" sz="1700" dirty="0">
                <a:solidFill>
                  <a:srgbClr val="F5F5F7"/>
                </a:solidFill>
                <a:latin typeface="Courier New" pitchFamily="34" charset="0"/>
                <a:ea typeface="Courier New" pitchFamily="34" charset="-122"/>
                <a:cs typeface="Courier New" pitchFamily="34" charset="-120"/>
              </a:rPr>
              <a:t>  QUANTITY</a:t>
            </a:r>
            <a:endParaRPr lang="en-US" sz="1700" dirty="0"/>
          </a:p>
          <a:p>
            <a:pPr indent="0" marL="0">
              <a:buNone/>
            </a:pPr>
            <a:r>
              <a:rPr lang="en-US" sz="1700" dirty="0">
                <a:solidFill>
                  <a:srgbClr val="F5F5F7"/>
                </a:solidFill>
                <a:latin typeface="Courier New" pitchFamily="34" charset="0"/>
                <a:ea typeface="Courier New" pitchFamily="34" charset="-122"/>
                <a:cs typeface="Courier New" pitchFamily="34" charset="-120"/>
              </a:rPr>
              <a:t>  UNIT_PRICE</a:t>
            </a:r>
            <a:endParaRPr lang="en-US" sz="1700" dirty="0"/>
          </a:p>
          <a:p>
            <a:pPr indent="0" marL="0">
              <a:buNone/>
            </a:pPr>
            <a:r>
              <a:rPr lang="en-US" sz="1700" dirty="0">
                <a:solidFill>
                  <a:srgbClr val="F5F5F7"/>
                </a:solidFill>
                <a:latin typeface="Courier New" pitchFamily="34" charset="0"/>
                <a:ea typeface="Courier New" pitchFamily="34" charset="-122"/>
                <a:cs typeface="Courier New" pitchFamily="34" charset="-120"/>
              </a:rPr>
              <a:t>  LINE_REVENUE</a:t>
            </a:r>
            <a:endParaRPr lang="en-US" sz="1700" dirty="0"/>
          </a:p>
          <a:p>
            <a:pPr indent="0" marL="0">
              <a:buNone/>
            </a:pPr>
            <a:r>
              <a:rPr lang="en-US" sz="1700" dirty="0">
                <a:solidFill>
                  <a:srgbClr val="F5F5F7"/>
                </a:solidFill>
                <a:latin typeface="Courier New" pitchFamily="34" charset="0"/>
                <a:ea typeface="Courier New" pitchFamily="34" charset="-122"/>
                <a:cs typeface="Courier New" pitchFamily="34" charset="-120"/>
              </a:rPr>
              <a:t>  STATUS</a:t>
            </a:r>
            <a:endParaRPr lang="en-US" sz="1700" dirty="0"/>
          </a:p>
          <a:p>
            <a:pPr indent="0" marL="0">
              <a:buNone/>
            </a:pPr>
            <a:r>
              <a:rPr lang="en-US" sz="1700" dirty="0">
                <a:solidFill>
                  <a:srgbClr val="F5F5F7"/>
                </a:solidFill>
                <a:latin typeface="Courier New" pitchFamily="34" charset="0"/>
                <a:ea typeface="Courier New" pitchFamily="34" charset="-122"/>
                <a:cs typeface="Courier New" pitchFamily="34" charset="-120"/>
              </a:rPr>
              <a:t>  IS_RETURN</a:t>
            </a:r>
            <a:endParaRPr lang="en-US" sz="1700" dirty="0"/>
          </a:p>
          <a:p>
            <a:pPr indent="0" marL="0">
              <a:buNone/>
            </a:pPr>
            <a:r>
              <a:rPr lang="en-US" sz="1700" dirty="0">
                <a:solidFill>
                  <a:srgbClr val="F5F5F7"/>
                </a:solidFill>
                <a:latin typeface="Courier New" pitchFamily="34" charset="0"/>
                <a:ea typeface="Courier New" pitchFamily="34" charset="-122"/>
                <a:cs typeface="Courier New" pitchFamily="34" charset="-120"/>
              </a:rPr>
              <a:t>  ORDER_DATE_KEY</a:t>
            </a:r>
            <a:endParaRPr lang="en-US" sz="1700" dirty="0"/>
          </a:p>
        </p:txBody>
      </p:sp>
      <p:sp>
        <p:nvSpPr>
          <p:cNvPr id="7" name="Text 5"/>
          <p:cNvSpPr txBox="1"/>
          <p:nvPr/>
        </p:nvSpPr>
        <p:spPr>
          <a:xfrm>
            <a:off x="6217920" y="2011680"/>
            <a:ext cx="5120640" cy="457200"/>
          </a:xfrm>
          <a:prstGeom prst="rect">
            <a:avLst/>
          </a:prstGeom>
          <a:noFill/>
          <a:ln/>
        </p:spPr>
        <p:txBody>
          <a:bodyPr wrap="square" lIns="0" tIns="0" rIns="0" bIns="0" rtlCol="0" anchor="ctr"/>
          <a:lstStyle/>
          <a:p>
            <a:pPr indent="0" marL="0">
              <a:buNone/>
            </a:pPr>
            <a:r>
              <a:rPr lang="en-US" sz="2200" b="1" dirty="0">
                <a:solidFill>
                  <a:srgbClr val="29B5E8"/>
                </a:solidFill>
                <a:latin typeface="Arial" pitchFamily="34" charset="0"/>
                <a:ea typeface="Arial" pitchFamily="34" charset="-122"/>
                <a:cs typeface="Arial" pitchFamily="34" charset="-120"/>
              </a:rPr>
              <a:t>“What was revenue last month?”</a:t>
            </a:r>
            <a:endParaRPr lang="en-US" sz="2200" dirty="0"/>
          </a:p>
        </p:txBody>
      </p:sp>
      <p:sp>
        <p:nvSpPr>
          <p:cNvPr id="8" name="Text 6"/>
          <p:cNvSpPr txBox="1"/>
          <p:nvPr/>
        </p:nvSpPr>
        <p:spPr>
          <a:xfrm>
            <a:off x="6217920" y="2651760"/>
            <a:ext cx="5120640" cy="365760"/>
          </a:xfrm>
          <a:prstGeom prst="rect">
            <a:avLst/>
          </a:prstGeom>
          <a:noFill/>
          <a:ln/>
        </p:spPr>
        <p:txBody>
          <a:bodyPr wrap="square" lIns="0" tIns="0" rIns="0" bIns="0" rtlCol="0" anchor="ctr"/>
          <a:lstStyle/>
          <a:p>
            <a:pPr indent="0" marL="0">
              <a:buNone/>
            </a:pPr>
            <a:r>
              <a:rPr lang="en-US" sz="1600" dirty="0">
                <a:solidFill>
                  <a:srgbClr val="A1A1A6"/>
                </a:solidFill>
                <a:latin typeface="Arial" pitchFamily="34" charset="0"/>
                <a:ea typeface="Arial" pitchFamily="34" charset="-122"/>
                <a:cs typeface="Arial" pitchFamily="34" charset="-120"/>
              </a:rPr>
              <a:t>Hidden decisions it has to guess:</a:t>
            </a:r>
            <a:endParaRPr lang="en-US" sz="1600" dirty="0"/>
          </a:p>
        </p:txBody>
      </p:sp>
      <p:sp>
        <p:nvSpPr>
          <p:cNvPr id="9" name="Shape 7"/>
          <p:cNvSpPr/>
          <p:nvPr/>
        </p:nvSpPr>
        <p:spPr>
          <a:xfrm>
            <a:off x="6217920" y="3154680"/>
            <a:ext cx="457200" cy="457200"/>
          </a:xfrm>
          <a:prstGeom prst="ellipse">
            <a:avLst/>
          </a:prstGeom>
          <a:solidFill>
            <a:srgbClr val="FF6B6B"/>
          </a:solidFill>
          <a:ln/>
        </p:spPr>
      </p:sp>
      <p:sp>
        <p:nvSpPr>
          <p:cNvPr id="10" name="Text 8"/>
          <p:cNvSpPr txBox="1"/>
          <p:nvPr/>
        </p:nvSpPr>
        <p:spPr>
          <a:xfrm>
            <a:off x="6217920" y="3154680"/>
            <a:ext cx="457200" cy="4572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a:t>
            </a:r>
            <a:endParaRPr lang="en-US" sz="1800" dirty="0"/>
          </a:p>
        </p:txBody>
      </p:sp>
      <p:sp>
        <p:nvSpPr>
          <p:cNvPr id="11" name="Text 9"/>
          <p:cNvSpPr txBox="1"/>
          <p:nvPr/>
        </p:nvSpPr>
        <p:spPr>
          <a:xfrm>
            <a:off x="6858000" y="3154680"/>
            <a:ext cx="4480560" cy="457200"/>
          </a:xfrm>
          <a:prstGeom prst="rect">
            <a:avLst/>
          </a:prstGeom>
          <a:noFill/>
          <a:ln/>
        </p:spPr>
        <p:txBody>
          <a:bodyPr wrap="square" lIns="0" tIns="0" rIns="0" bIns="0" rtlCol="0" anchor="ctr"/>
          <a:lstStyle/>
          <a:p>
            <a:pPr indent="0" marL="0">
              <a:buNone/>
            </a:pPr>
            <a:r>
              <a:rPr lang="en-US" sz="1800" dirty="0">
                <a:solidFill>
                  <a:srgbClr val="F5F5F7"/>
                </a:solidFill>
                <a:latin typeface="Arial" pitchFamily="34" charset="0"/>
                <a:ea typeface="Arial" pitchFamily="34" charset="-122"/>
                <a:cs typeface="Arial" pitchFamily="34" charset="-120"/>
              </a:rPr>
              <a:t>Include cancelled and pending orders?</a:t>
            </a:r>
            <a:endParaRPr lang="en-US" sz="1800" dirty="0"/>
          </a:p>
        </p:txBody>
      </p:sp>
      <p:sp>
        <p:nvSpPr>
          <p:cNvPr id="12" name="Shape 10"/>
          <p:cNvSpPr/>
          <p:nvPr/>
        </p:nvSpPr>
        <p:spPr>
          <a:xfrm>
            <a:off x="6217920" y="3931920"/>
            <a:ext cx="457200" cy="457200"/>
          </a:xfrm>
          <a:prstGeom prst="ellipse">
            <a:avLst/>
          </a:prstGeom>
          <a:solidFill>
            <a:srgbClr val="FF6B6B"/>
          </a:solidFill>
          <a:ln/>
        </p:spPr>
      </p:sp>
      <p:sp>
        <p:nvSpPr>
          <p:cNvPr id="13" name="Text 11"/>
          <p:cNvSpPr txBox="1"/>
          <p:nvPr/>
        </p:nvSpPr>
        <p:spPr>
          <a:xfrm>
            <a:off x="6217920" y="3931920"/>
            <a:ext cx="457200" cy="4572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a:t>
            </a:r>
            <a:endParaRPr lang="en-US" sz="1800" dirty="0"/>
          </a:p>
        </p:txBody>
      </p:sp>
      <p:sp>
        <p:nvSpPr>
          <p:cNvPr id="14" name="Text 12"/>
          <p:cNvSpPr txBox="1"/>
          <p:nvPr/>
        </p:nvSpPr>
        <p:spPr>
          <a:xfrm>
            <a:off x="6858000" y="3931920"/>
            <a:ext cx="4480560" cy="457200"/>
          </a:xfrm>
          <a:prstGeom prst="rect">
            <a:avLst/>
          </a:prstGeom>
          <a:noFill/>
          <a:ln/>
        </p:spPr>
        <p:txBody>
          <a:bodyPr wrap="square" lIns="0" tIns="0" rIns="0" bIns="0" rtlCol="0" anchor="ctr"/>
          <a:lstStyle/>
          <a:p>
            <a:pPr indent="0" marL="0">
              <a:buNone/>
            </a:pPr>
            <a:r>
              <a:rPr lang="en-US" sz="1800" dirty="0">
                <a:solidFill>
                  <a:srgbClr val="F5F5F7"/>
                </a:solidFill>
                <a:latin typeface="Arial" pitchFamily="34" charset="0"/>
                <a:ea typeface="Arial" pitchFamily="34" charset="-122"/>
                <a:cs typeface="Arial" pitchFamily="34" charset="-120"/>
              </a:rPr>
              <a:t>Subtract returns?</a:t>
            </a:r>
            <a:endParaRPr lang="en-US" sz="1800" dirty="0"/>
          </a:p>
        </p:txBody>
      </p:sp>
      <p:sp>
        <p:nvSpPr>
          <p:cNvPr id="15" name="Shape 13"/>
          <p:cNvSpPr/>
          <p:nvPr/>
        </p:nvSpPr>
        <p:spPr>
          <a:xfrm>
            <a:off x="6217920" y="4709160"/>
            <a:ext cx="457200" cy="457200"/>
          </a:xfrm>
          <a:prstGeom prst="ellipse">
            <a:avLst/>
          </a:prstGeom>
          <a:solidFill>
            <a:srgbClr val="FF6B6B"/>
          </a:solidFill>
          <a:ln/>
        </p:spPr>
      </p:sp>
      <p:sp>
        <p:nvSpPr>
          <p:cNvPr id="16" name="Text 14"/>
          <p:cNvSpPr txBox="1"/>
          <p:nvPr/>
        </p:nvSpPr>
        <p:spPr>
          <a:xfrm>
            <a:off x="6217920" y="4709160"/>
            <a:ext cx="457200" cy="45720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a:t>
            </a:r>
            <a:endParaRPr lang="en-US" sz="1800" dirty="0"/>
          </a:p>
        </p:txBody>
      </p:sp>
      <p:sp>
        <p:nvSpPr>
          <p:cNvPr id="17" name="Text 15"/>
          <p:cNvSpPr txBox="1"/>
          <p:nvPr/>
        </p:nvSpPr>
        <p:spPr>
          <a:xfrm>
            <a:off x="6858000" y="4709160"/>
            <a:ext cx="4480560" cy="457200"/>
          </a:xfrm>
          <a:prstGeom prst="rect">
            <a:avLst/>
          </a:prstGeom>
          <a:noFill/>
          <a:ln/>
        </p:spPr>
        <p:txBody>
          <a:bodyPr wrap="square" lIns="0" tIns="0" rIns="0" bIns="0" rtlCol="0" anchor="ctr"/>
          <a:lstStyle/>
          <a:p>
            <a:pPr indent="0" marL="0">
              <a:buNone/>
            </a:pPr>
            <a:r>
              <a:rPr lang="en-US" sz="1800" dirty="0">
                <a:solidFill>
                  <a:srgbClr val="F5F5F7"/>
                </a:solidFill>
                <a:latin typeface="Arial" pitchFamily="34" charset="0"/>
                <a:ea typeface="Arial" pitchFamily="34" charset="-122"/>
                <a:cs typeface="Arial" pitchFamily="34" charset="-120"/>
              </a:rPr>
              <a:t>"Last month" by which date?</a:t>
            </a:r>
            <a:endParaRPr lang="en-US" sz="1800" dirty="0"/>
          </a:p>
        </p:txBody>
      </p:sp>
      <p:sp>
        <p:nvSpPr>
          <p:cNvPr id="18" name="Text 16"/>
          <p:cNvSpPr txBox="1"/>
          <p:nvPr/>
        </p:nvSpPr>
        <p:spPr>
          <a:xfrm>
            <a:off x="822960" y="585216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The agent doesn’t fail at SQL. It fails at meaning, because nobody told 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2  ·  THE DEFINITION</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600" b="1" dirty="0">
                <a:solidFill>
                  <a:srgbClr val="F5F5F7"/>
                </a:solidFill>
                <a:latin typeface="Arial" pitchFamily="34" charset="0"/>
                <a:ea typeface="Arial" pitchFamily="34" charset="-122"/>
                <a:cs typeface="Arial" pitchFamily="34" charset="-120"/>
              </a:rPr>
              <a:t>A semantic view is a dictionary for your data.</a:t>
            </a:r>
            <a:endParaRPr lang="en-US" sz="3600" dirty="0"/>
          </a:p>
        </p:txBody>
      </p:sp>
      <p:sp>
        <p:nvSpPr>
          <p:cNvPr id="4" name="Text 2"/>
          <p:cNvSpPr txBox="1"/>
          <p:nvPr/>
        </p:nvSpPr>
        <p:spPr>
          <a:xfrm>
            <a:off x="822960" y="1691640"/>
            <a:ext cx="10515600" cy="457200"/>
          </a:xfrm>
          <a:prstGeom prst="rect">
            <a:avLst/>
          </a:prstGeom>
          <a:noFill/>
          <a:ln/>
        </p:spPr>
        <p:txBody>
          <a:bodyPr wrap="square" lIns="0" tIns="0" rIns="0" bIns="0" rtlCol="0" anchor="ctr"/>
          <a:lstStyle/>
          <a:p>
            <a:pPr indent="0" marL="0">
              <a:buNone/>
            </a:pPr>
            <a:r>
              <a:rPr lang="en-US" sz="1800" dirty="0">
                <a:solidFill>
                  <a:srgbClr val="A1A1A6"/>
                </a:solidFill>
                <a:latin typeface="Arial" pitchFamily="34" charset="0"/>
                <a:ea typeface="Arial" pitchFamily="34" charset="-122"/>
                <a:cs typeface="Arial" pitchFamily="34" charset="-120"/>
              </a:rPr>
              <a:t>A saved Snowflake object that maps business words to exact table logic. Defined once, used by everyone.</a:t>
            </a:r>
            <a:endParaRPr lang="en-US" sz="1800" dirty="0"/>
          </a:p>
        </p:txBody>
      </p:sp>
      <p:sp>
        <p:nvSpPr>
          <p:cNvPr id="5" name="Shape 3"/>
          <p:cNvSpPr/>
          <p:nvPr/>
        </p:nvSpPr>
        <p:spPr>
          <a:xfrm>
            <a:off x="822960" y="2743200"/>
            <a:ext cx="3108960" cy="1737360"/>
          </a:xfrm>
          <a:prstGeom prst="roundRect">
            <a:avLst>
              <a:gd name="adj" fmla="val 6316"/>
            </a:avLst>
          </a:prstGeom>
          <a:solidFill>
            <a:srgbClr val="1D1D1F"/>
          </a:solidFill>
          <a:ln w="12700">
            <a:solidFill>
              <a:srgbClr val="3A3A3C"/>
            </a:solidFill>
            <a:prstDash val="solid"/>
          </a:ln>
        </p:spPr>
      </p:sp>
      <p:sp>
        <p:nvSpPr>
          <p:cNvPr id="6" name="Text 4"/>
          <p:cNvSpPr txBox="1"/>
          <p:nvPr/>
        </p:nvSpPr>
        <p:spPr>
          <a:xfrm>
            <a:off x="1005840" y="3063240"/>
            <a:ext cx="2743200" cy="502920"/>
          </a:xfrm>
          <a:prstGeom prst="rect">
            <a:avLst/>
          </a:prstGeom>
          <a:noFill/>
          <a:ln/>
        </p:spPr>
        <p:txBody>
          <a:bodyPr wrap="square" lIns="0" tIns="0" rIns="0" bIns="0" rtlCol="0" anchor="ctr"/>
          <a:lstStyle/>
          <a:p>
            <a:pPr algn="ctr" indent="0" marL="0">
              <a:buNone/>
            </a:pPr>
            <a:r>
              <a:rPr lang="en-US" sz="2400" b="1" dirty="0">
                <a:solidFill>
                  <a:srgbClr val="F5F5F7"/>
                </a:solidFill>
                <a:latin typeface="Arial" pitchFamily="34" charset="0"/>
                <a:ea typeface="Arial" pitchFamily="34" charset="-122"/>
                <a:cs typeface="Arial" pitchFamily="34" charset="-120"/>
              </a:rPr>
              <a:t>Star schema</a:t>
            </a:r>
            <a:endParaRPr lang="en-US" sz="2400" dirty="0"/>
          </a:p>
        </p:txBody>
      </p:sp>
      <p:sp>
        <p:nvSpPr>
          <p:cNvPr id="7" name="Text 5"/>
          <p:cNvSpPr txBox="1"/>
          <p:nvPr/>
        </p:nvSpPr>
        <p:spPr>
          <a:xfrm>
            <a:off x="1005840" y="3657600"/>
            <a:ext cx="2743200" cy="457200"/>
          </a:xfrm>
          <a:prstGeom prst="rect">
            <a:avLst/>
          </a:prstGeom>
          <a:noFill/>
          <a:ln/>
        </p:spPr>
        <p:txBody>
          <a:bodyPr wrap="square" lIns="0" tIns="0" rIns="0" bIns="0" rtlCol="0" anchor="ctr"/>
          <a:lstStyle/>
          <a:p>
            <a:pPr algn="ctr" indent="0" marL="0">
              <a:buNone/>
            </a:pPr>
            <a:r>
              <a:rPr lang="en-US" sz="1600" dirty="0">
                <a:solidFill>
                  <a:srgbClr val="A1A1A6"/>
                </a:solidFill>
                <a:latin typeface="Arial" pitchFamily="34" charset="0"/>
                <a:ea typeface="Arial" pitchFamily="34" charset="-122"/>
                <a:cs typeface="Arial" pitchFamily="34" charset="-120"/>
              </a:rPr>
              <a:t>Tables + columns</a:t>
            </a:r>
            <a:endParaRPr lang="en-US" sz="1600" dirty="0"/>
          </a:p>
        </p:txBody>
      </p:sp>
      <p:sp>
        <p:nvSpPr>
          <p:cNvPr id="8" name="Text 6"/>
          <p:cNvSpPr txBox="1"/>
          <p:nvPr/>
        </p:nvSpPr>
        <p:spPr>
          <a:xfrm>
            <a:off x="3931920" y="3291840"/>
            <a:ext cx="640080" cy="548640"/>
          </a:xfrm>
          <a:prstGeom prst="rect">
            <a:avLst/>
          </a:prstGeom>
          <a:noFill/>
          <a:ln/>
        </p:spPr>
        <p:txBody>
          <a:bodyPr wrap="square" lIns="0" tIns="0" rIns="0" bIns="0" rtlCol="0" anchor="ctr"/>
          <a:lstStyle/>
          <a:p>
            <a:pPr algn="ctr" indent="0" marL="0">
              <a:buNone/>
            </a:pPr>
            <a:r>
              <a:rPr lang="en-US" sz="3200" dirty="0">
                <a:solidFill>
                  <a:srgbClr val="29B5E8"/>
                </a:solidFill>
                <a:latin typeface="Arial" pitchFamily="34" charset="0"/>
                <a:ea typeface="Arial" pitchFamily="34" charset="-122"/>
                <a:cs typeface="Arial" pitchFamily="34" charset="-120"/>
              </a:rPr>
              <a:t>→</a:t>
            </a:r>
            <a:endParaRPr lang="en-US" sz="3200" dirty="0"/>
          </a:p>
        </p:txBody>
      </p:sp>
      <p:sp>
        <p:nvSpPr>
          <p:cNvPr id="9" name="Shape 7"/>
          <p:cNvSpPr/>
          <p:nvPr/>
        </p:nvSpPr>
        <p:spPr>
          <a:xfrm>
            <a:off x="4572000" y="2743200"/>
            <a:ext cx="3108960" cy="1737360"/>
          </a:xfrm>
          <a:prstGeom prst="roundRect">
            <a:avLst>
              <a:gd name="adj" fmla="val 6316"/>
            </a:avLst>
          </a:prstGeom>
          <a:solidFill>
            <a:srgbClr val="29B5E8"/>
          </a:solidFill>
          <a:ln w="12700">
            <a:solidFill>
              <a:srgbClr val="29B5E8"/>
            </a:solidFill>
            <a:prstDash val="solid"/>
          </a:ln>
        </p:spPr>
      </p:sp>
      <p:sp>
        <p:nvSpPr>
          <p:cNvPr id="10" name="Text 8"/>
          <p:cNvSpPr txBox="1"/>
          <p:nvPr/>
        </p:nvSpPr>
        <p:spPr>
          <a:xfrm>
            <a:off x="4754880" y="3063240"/>
            <a:ext cx="2743200" cy="502920"/>
          </a:xfrm>
          <a:prstGeom prst="rect">
            <a:avLst/>
          </a:prstGeom>
          <a:noFill/>
          <a:ln/>
        </p:spPr>
        <p:txBody>
          <a:bodyPr wrap="square" lIns="0" tIns="0" rIns="0" bIns="0" rtlCol="0" anchor="ctr"/>
          <a:lstStyle/>
          <a:p>
            <a:pPr algn="ctr" indent="0" marL="0">
              <a:buNone/>
            </a:pPr>
            <a:r>
              <a:rPr lang="en-US" sz="2400" b="1" dirty="0">
                <a:solidFill>
                  <a:srgbClr val="000000"/>
                </a:solidFill>
                <a:latin typeface="Arial" pitchFamily="34" charset="0"/>
                <a:ea typeface="Arial" pitchFamily="34" charset="-122"/>
                <a:cs typeface="Arial" pitchFamily="34" charset="-120"/>
              </a:rPr>
              <a:t>Semantic view</a:t>
            </a:r>
            <a:endParaRPr lang="en-US" sz="2400" dirty="0"/>
          </a:p>
        </p:txBody>
      </p:sp>
      <p:sp>
        <p:nvSpPr>
          <p:cNvPr id="11" name="Text 9"/>
          <p:cNvSpPr txBox="1"/>
          <p:nvPr/>
        </p:nvSpPr>
        <p:spPr>
          <a:xfrm>
            <a:off x="4754880" y="3657600"/>
            <a:ext cx="2743200" cy="457200"/>
          </a:xfrm>
          <a:prstGeom prst="rect">
            <a:avLst/>
          </a:prstGeom>
          <a:noFill/>
          <a:ln/>
        </p:spPr>
        <p:txBody>
          <a:bodyPr wrap="square" lIns="0" tIns="0" rIns="0" bIns="0" rtlCol="0" anchor="ctr"/>
          <a:lstStyle/>
          <a:p>
            <a:pPr algn="ctr" indent="0" marL="0">
              <a:buNone/>
            </a:pPr>
            <a:r>
              <a:rPr lang="en-US" sz="1600" dirty="0">
                <a:solidFill>
                  <a:srgbClr val="000000"/>
                </a:solidFill>
                <a:latin typeface="Arial" pitchFamily="34" charset="0"/>
                <a:ea typeface="Arial" pitchFamily="34" charset="-122"/>
                <a:cs typeface="Arial" pitchFamily="34" charset="-120"/>
              </a:rPr>
              <a:t>Business meaning</a:t>
            </a:r>
            <a:endParaRPr lang="en-US" sz="1600" dirty="0"/>
          </a:p>
        </p:txBody>
      </p:sp>
      <p:sp>
        <p:nvSpPr>
          <p:cNvPr id="12" name="Text 10"/>
          <p:cNvSpPr txBox="1"/>
          <p:nvPr/>
        </p:nvSpPr>
        <p:spPr>
          <a:xfrm>
            <a:off x="7680960" y="3291840"/>
            <a:ext cx="640080" cy="548640"/>
          </a:xfrm>
          <a:prstGeom prst="rect">
            <a:avLst/>
          </a:prstGeom>
          <a:noFill/>
          <a:ln/>
        </p:spPr>
        <p:txBody>
          <a:bodyPr wrap="square" lIns="0" tIns="0" rIns="0" bIns="0" rtlCol="0" anchor="ctr"/>
          <a:lstStyle/>
          <a:p>
            <a:pPr algn="ctr" indent="0" marL="0">
              <a:buNone/>
            </a:pPr>
            <a:r>
              <a:rPr lang="en-US" sz="3200" dirty="0">
                <a:solidFill>
                  <a:srgbClr val="29B5E8"/>
                </a:solidFill>
                <a:latin typeface="Arial" pitchFamily="34" charset="0"/>
                <a:ea typeface="Arial" pitchFamily="34" charset="-122"/>
                <a:cs typeface="Arial" pitchFamily="34" charset="-120"/>
              </a:rPr>
              <a:t>→</a:t>
            </a:r>
            <a:endParaRPr lang="en-US" sz="3200" dirty="0"/>
          </a:p>
        </p:txBody>
      </p:sp>
      <p:sp>
        <p:nvSpPr>
          <p:cNvPr id="13" name="Shape 11"/>
          <p:cNvSpPr/>
          <p:nvPr/>
        </p:nvSpPr>
        <p:spPr>
          <a:xfrm>
            <a:off x="8321040" y="2743200"/>
            <a:ext cx="3108960" cy="1737360"/>
          </a:xfrm>
          <a:prstGeom prst="roundRect">
            <a:avLst>
              <a:gd name="adj" fmla="val 6316"/>
            </a:avLst>
          </a:prstGeom>
          <a:solidFill>
            <a:srgbClr val="1D1D1F"/>
          </a:solidFill>
          <a:ln w="12700">
            <a:solidFill>
              <a:srgbClr val="3A3A3C"/>
            </a:solidFill>
            <a:prstDash val="solid"/>
          </a:ln>
        </p:spPr>
      </p:sp>
      <p:sp>
        <p:nvSpPr>
          <p:cNvPr id="14" name="Text 12"/>
          <p:cNvSpPr txBox="1"/>
          <p:nvPr/>
        </p:nvSpPr>
        <p:spPr>
          <a:xfrm>
            <a:off x="8503920" y="3063240"/>
            <a:ext cx="2743200" cy="502920"/>
          </a:xfrm>
          <a:prstGeom prst="rect">
            <a:avLst/>
          </a:prstGeom>
          <a:noFill/>
          <a:ln/>
        </p:spPr>
        <p:txBody>
          <a:bodyPr wrap="square" lIns="0" tIns="0" rIns="0" bIns="0" rtlCol="0" anchor="ctr"/>
          <a:lstStyle/>
          <a:p>
            <a:pPr algn="ctr" indent="0" marL="0">
              <a:buNone/>
            </a:pPr>
            <a:r>
              <a:rPr lang="en-US" sz="2400" b="1" dirty="0">
                <a:solidFill>
                  <a:srgbClr val="F5F5F7"/>
                </a:solidFill>
                <a:latin typeface="Arial" pitchFamily="34" charset="0"/>
                <a:ea typeface="Arial" pitchFamily="34" charset="-122"/>
                <a:cs typeface="Arial" pitchFamily="34" charset="-120"/>
              </a:rPr>
              <a:t>AI + BI</a:t>
            </a:r>
            <a:endParaRPr lang="en-US" sz="2400" dirty="0"/>
          </a:p>
        </p:txBody>
      </p:sp>
      <p:sp>
        <p:nvSpPr>
          <p:cNvPr id="15" name="Text 13"/>
          <p:cNvSpPr txBox="1"/>
          <p:nvPr/>
        </p:nvSpPr>
        <p:spPr>
          <a:xfrm>
            <a:off x="8503920" y="3657600"/>
            <a:ext cx="2743200" cy="457200"/>
          </a:xfrm>
          <a:prstGeom prst="rect">
            <a:avLst/>
          </a:prstGeom>
          <a:noFill/>
          <a:ln/>
        </p:spPr>
        <p:txBody>
          <a:bodyPr wrap="square" lIns="0" tIns="0" rIns="0" bIns="0" rtlCol="0" anchor="ctr"/>
          <a:lstStyle/>
          <a:p>
            <a:pPr algn="ctr" indent="0" marL="0">
              <a:buNone/>
            </a:pPr>
            <a:r>
              <a:rPr lang="en-US" sz="1600" dirty="0">
                <a:solidFill>
                  <a:srgbClr val="A1A1A6"/>
                </a:solidFill>
                <a:latin typeface="Arial" pitchFamily="34" charset="0"/>
                <a:ea typeface="Arial" pitchFamily="34" charset="-122"/>
                <a:cs typeface="Arial" pitchFamily="34" charset="-120"/>
              </a:rPr>
              <a:t>Analyst, agents, dashboards</a:t>
            </a:r>
            <a:endParaRPr lang="en-US" sz="1600" dirty="0"/>
          </a:p>
        </p:txBody>
      </p:sp>
      <p:sp>
        <p:nvSpPr>
          <p:cNvPr id="16" name="Text 14"/>
          <p:cNvSpPr txBox="1"/>
          <p:nvPr/>
        </p:nvSpPr>
        <p:spPr>
          <a:xfrm>
            <a:off x="822960" y="4846320"/>
            <a:ext cx="10515600" cy="457200"/>
          </a:xfrm>
          <a:prstGeom prst="rect">
            <a:avLst/>
          </a:prstGeom>
          <a:noFill/>
          <a:ln/>
        </p:spPr>
        <p:txBody>
          <a:bodyPr wrap="square" lIns="0" tIns="0" rIns="0" bIns="0" rtlCol="0" anchor="ctr"/>
          <a:lstStyle/>
          <a:p>
            <a:pPr indent="0" marL="0">
              <a:buNone/>
            </a:pPr>
            <a:r>
              <a:rPr lang="en-US" sz="1600" dirty="0">
                <a:solidFill>
                  <a:srgbClr val="F5F5F7"/>
                </a:solidFill>
                <a:latin typeface="Arial" pitchFamily="34" charset="0"/>
                <a:ea typeface="Arial" pitchFamily="34" charset="-122"/>
                <a:cs typeface="Arial" pitchFamily="34" charset="-120"/>
              </a:rPr>
              <a:t>Business says “revenue”  →  semantic view says SUM(LINE_REVENUE) with the agreed rules  →  every tool gets the same number.</a:t>
            </a:r>
            <a:endParaRPr lang="en-US" sz="1600" dirty="0"/>
          </a:p>
        </p:txBody>
      </p:sp>
      <p:sp>
        <p:nvSpPr>
          <p:cNvPr id="17" name="Text 15"/>
          <p:cNvSpPr txBox="1"/>
          <p:nvPr/>
        </p:nvSpPr>
        <p:spPr>
          <a:xfrm>
            <a:off x="822960" y="585216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Write the meaning down once, so nobody has to guess it again.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3  ·  WHAT’S INSIDE</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600" b="1" dirty="0">
                <a:solidFill>
                  <a:srgbClr val="F5F5F7"/>
                </a:solidFill>
                <a:latin typeface="Arial" pitchFamily="34" charset="0"/>
                <a:ea typeface="Arial" pitchFamily="34" charset="-122"/>
                <a:cs typeface="Arial" pitchFamily="34" charset="-120"/>
              </a:rPr>
              <a:t>Five parts, using OrderIQ.</a:t>
            </a:r>
            <a:endParaRPr lang="en-US" sz="3600" dirty="0"/>
          </a:p>
        </p:txBody>
      </p:sp>
      <p:sp>
        <p:nvSpPr>
          <p:cNvPr id="4" name="Shape 2"/>
          <p:cNvSpPr/>
          <p:nvPr/>
        </p:nvSpPr>
        <p:spPr>
          <a:xfrm>
            <a:off x="822960" y="1874520"/>
            <a:ext cx="10515600" cy="658368"/>
          </a:xfrm>
          <a:prstGeom prst="roundRect">
            <a:avLst>
              <a:gd name="adj" fmla="val 16667"/>
            </a:avLst>
          </a:prstGeom>
          <a:solidFill>
            <a:srgbClr val="1D1D1F"/>
          </a:solidFill>
          <a:ln w="12700">
            <a:solidFill>
              <a:srgbClr val="3A3A3C"/>
            </a:solidFill>
            <a:prstDash val="solid"/>
          </a:ln>
        </p:spPr>
      </p:sp>
      <p:sp>
        <p:nvSpPr>
          <p:cNvPr id="5" name="Text 3"/>
          <p:cNvSpPr txBox="1"/>
          <p:nvPr/>
        </p:nvSpPr>
        <p:spPr>
          <a:xfrm>
            <a:off x="1005840" y="1874520"/>
            <a:ext cx="365760" cy="658368"/>
          </a:xfrm>
          <a:prstGeom prst="rect">
            <a:avLst/>
          </a:prstGeom>
          <a:noFill/>
          <a:ln/>
        </p:spPr>
        <p:txBody>
          <a:bodyPr wrap="square" lIns="0" tIns="0" rIns="0" bIns="0" rtlCol="0" anchor="ctr"/>
          <a:lstStyle/>
          <a:p>
            <a:pPr indent="0" marL="0">
              <a:buNone/>
            </a:pPr>
            <a:r>
              <a:rPr lang="en-US" sz="2000" b="1" dirty="0">
                <a:solidFill>
                  <a:srgbClr val="29B5E8"/>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1463040" y="1874520"/>
            <a:ext cx="2103120" cy="658368"/>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Tables</a:t>
            </a:r>
            <a:endParaRPr lang="en-US" sz="2000" dirty="0"/>
          </a:p>
        </p:txBody>
      </p:sp>
      <p:sp>
        <p:nvSpPr>
          <p:cNvPr id="7" name="Text 5"/>
          <p:cNvSpPr txBox="1"/>
          <p:nvPr/>
        </p:nvSpPr>
        <p:spPr>
          <a:xfrm>
            <a:off x="3566160" y="1874520"/>
            <a:ext cx="3108960" cy="658368"/>
          </a:xfrm>
          <a:prstGeom prst="rect">
            <a:avLst/>
          </a:prstGeom>
          <a:noFill/>
          <a:ln/>
        </p:spPr>
        <p:txBody>
          <a:bodyPr wrap="square" lIns="0" tIns="0" rIns="0" bIns="0" rtlCol="0" anchor="ctr"/>
          <a:lstStyle/>
          <a:p>
            <a:pPr indent="0" marL="0">
              <a:buNone/>
            </a:pPr>
            <a:r>
              <a:rPr lang="en-US" sz="1500" dirty="0">
                <a:solidFill>
                  <a:srgbClr val="A1A1A6"/>
                </a:solidFill>
                <a:latin typeface="Arial" pitchFamily="34" charset="0"/>
                <a:ea typeface="Arial" pitchFamily="34" charset="-122"/>
                <a:cs typeface="Arial" pitchFamily="34" charset="-120"/>
              </a:rPr>
              <a:t>Which tables it covers</a:t>
            </a:r>
            <a:endParaRPr lang="en-US" sz="1500" dirty="0"/>
          </a:p>
        </p:txBody>
      </p:sp>
      <p:sp>
        <p:nvSpPr>
          <p:cNvPr id="8" name="Text 6"/>
          <p:cNvSpPr txBox="1"/>
          <p:nvPr/>
        </p:nvSpPr>
        <p:spPr>
          <a:xfrm>
            <a:off x="6675120" y="1874520"/>
            <a:ext cx="4572000" cy="658368"/>
          </a:xfrm>
          <a:prstGeom prst="rect">
            <a:avLst/>
          </a:prstGeom>
          <a:noFill/>
          <a:ln/>
        </p:spPr>
        <p:txBody>
          <a:bodyPr wrap="square" lIns="0" tIns="0" rIns="0" bIns="0" rtlCol="0" anchor="ctr"/>
          <a:lstStyle/>
          <a:p>
            <a:pPr indent="0" marL="0">
              <a:buNone/>
            </a:pPr>
            <a:r>
              <a:rPr lang="en-US" sz="1300" dirty="0">
                <a:solidFill>
                  <a:srgbClr val="F5F5F7"/>
                </a:solidFill>
                <a:latin typeface="Courier New" pitchFamily="34" charset="0"/>
                <a:ea typeface="Courier New" pitchFamily="34" charset="-122"/>
                <a:cs typeface="Courier New" pitchFamily="34" charset="-120"/>
              </a:rPr>
              <a:t>FACT_ORDER_ITEMS, DIM_CUSTOMER, DIM_PRODUCT, DIM_DATE</a:t>
            </a:r>
            <a:endParaRPr lang="en-US" sz="1300" dirty="0"/>
          </a:p>
        </p:txBody>
      </p:sp>
      <p:sp>
        <p:nvSpPr>
          <p:cNvPr id="9" name="Shape 7"/>
          <p:cNvSpPr/>
          <p:nvPr/>
        </p:nvSpPr>
        <p:spPr>
          <a:xfrm>
            <a:off x="822960" y="2660904"/>
            <a:ext cx="10515600" cy="658368"/>
          </a:xfrm>
          <a:prstGeom prst="roundRect">
            <a:avLst>
              <a:gd name="adj" fmla="val 16667"/>
            </a:avLst>
          </a:prstGeom>
          <a:solidFill>
            <a:srgbClr val="1D1D1F"/>
          </a:solidFill>
          <a:ln w="12700">
            <a:solidFill>
              <a:srgbClr val="3A3A3C"/>
            </a:solidFill>
            <a:prstDash val="solid"/>
          </a:ln>
        </p:spPr>
      </p:sp>
      <p:sp>
        <p:nvSpPr>
          <p:cNvPr id="10" name="Text 8"/>
          <p:cNvSpPr txBox="1"/>
          <p:nvPr/>
        </p:nvSpPr>
        <p:spPr>
          <a:xfrm>
            <a:off x="1005840" y="2660904"/>
            <a:ext cx="365760" cy="658368"/>
          </a:xfrm>
          <a:prstGeom prst="rect">
            <a:avLst/>
          </a:prstGeom>
          <a:noFill/>
          <a:ln/>
        </p:spPr>
        <p:txBody>
          <a:bodyPr wrap="square" lIns="0" tIns="0" rIns="0" bIns="0" rtlCol="0" anchor="ctr"/>
          <a:lstStyle/>
          <a:p>
            <a:pPr indent="0" marL="0">
              <a:buNone/>
            </a:pPr>
            <a:r>
              <a:rPr lang="en-US" sz="2000" b="1" dirty="0">
                <a:solidFill>
                  <a:srgbClr val="29B5E8"/>
                </a:solidFill>
                <a:latin typeface="Arial" pitchFamily="34" charset="0"/>
                <a:ea typeface="Arial" pitchFamily="34" charset="-122"/>
                <a:cs typeface="Arial" pitchFamily="34" charset="-120"/>
              </a:rPr>
              <a:t>2</a:t>
            </a:r>
            <a:endParaRPr lang="en-US" sz="2000" dirty="0"/>
          </a:p>
        </p:txBody>
      </p:sp>
      <p:sp>
        <p:nvSpPr>
          <p:cNvPr id="11" name="Text 9"/>
          <p:cNvSpPr txBox="1"/>
          <p:nvPr/>
        </p:nvSpPr>
        <p:spPr>
          <a:xfrm>
            <a:off x="1463040" y="2660904"/>
            <a:ext cx="2103120" cy="658368"/>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Relationships</a:t>
            </a:r>
            <a:endParaRPr lang="en-US" sz="2000" dirty="0"/>
          </a:p>
        </p:txBody>
      </p:sp>
      <p:sp>
        <p:nvSpPr>
          <p:cNvPr id="12" name="Text 10"/>
          <p:cNvSpPr txBox="1"/>
          <p:nvPr/>
        </p:nvSpPr>
        <p:spPr>
          <a:xfrm>
            <a:off x="3566160" y="2660904"/>
            <a:ext cx="3108960" cy="658368"/>
          </a:xfrm>
          <a:prstGeom prst="rect">
            <a:avLst/>
          </a:prstGeom>
          <a:noFill/>
          <a:ln/>
        </p:spPr>
        <p:txBody>
          <a:bodyPr wrap="square" lIns="0" tIns="0" rIns="0" bIns="0" rtlCol="0" anchor="ctr"/>
          <a:lstStyle/>
          <a:p>
            <a:pPr indent="0" marL="0">
              <a:buNone/>
            </a:pPr>
            <a:r>
              <a:rPr lang="en-US" sz="1500" dirty="0">
                <a:solidFill>
                  <a:srgbClr val="A1A1A6"/>
                </a:solidFill>
                <a:latin typeface="Arial" pitchFamily="34" charset="0"/>
                <a:ea typeface="Arial" pitchFamily="34" charset="-122"/>
                <a:cs typeface="Arial" pitchFamily="34" charset="-120"/>
              </a:rPr>
              <a:t>How they join</a:t>
            </a:r>
            <a:endParaRPr lang="en-US" sz="1500" dirty="0"/>
          </a:p>
        </p:txBody>
      </p:sp>
      <p:sp>
        <p:nvSpPr>
          <p:cNvPr id="13" name="Text 11"/>
          <p:cNvSpPr txBox="1"/>
          <p:nvPr/>
        </p:nvSpPr>
        <p:spPr>
          <a:xfrm>
            <a:off x="6675120" y="2660904"/>
            <a:ext cx="4572000" cy="658368"/>
          </a:xfrm>
          <a:prstGeom prst="rect">
            <a:avLst/>
          </a:prstGeom>
          <a:noFill/>
          <a:ln/>
        </p:spPr>
        <p:txBody>
          <a:bodyPr wrap="square" lIns="0" tIns="0" rIns="0" bIns="0" rtlCol="0" anchor="ctr"/>
          <a:lstStyle/>
          <a:p>
            <a:pPr indent="0" marL="0">
              <a:buNone/>
            </a:pPr>
            <a:r>
              <a:rPr lang="en-US" sz="1300" dirty="0">
                <a:solidFill>
                  <a:srgbClr val="F5F5F7"/>
                </a:solidFill>
                <a:latin typeface="Courier New" pitchFamily="34" charset="0"/>
                <a:ea typeface="Courier New" pitchFamily="34" charset="-122"/>
                <a:cs typeface="Courier New" pitchFamily="34" charset="-120"/>
              </a:rPr>
              <a:t>fact.customer_key → DIM_CUSTOMER</a:t>
            </a:r>
            <a:endParaRPr lang="en-US" sz="1300" dirty="0"/>
          </a:p>
        </p:txBody>
      </p:sp>
      <p:sp>
        <p:nvSpPr>
          <p:cNvPr id="14" name="Shape 12"/>
          <p:cNvSpPr/>
          <p:nvPr/>
        </p:nvSpPr>
        <p:spPr>
          <a:xfrm>
            <a:off x="822960" y="3447288"/>
            <a:ext cx="10515600" cy="658368"/>
          </a:xfrm>
          <a:prstGeom prst="roundRect">
            <a:avLst>
              <a:gd name="adj" fmla="val 16667"/>
            </a:avLst>
          </a:prstGeom>
          <a:solidFill>
            <a:srgbClr val="1D1D1F"/>
          </a:solidFill>
          <a:ln w="12700">
            <a:solidFill>
              <a:srgbClr val="3A3A3C"/>
            </a:solidFill>
            <a:prstDash val="solid"/>
          </a:ln>
        </p:spPr>
      </p:sp>
      <p:sp>
        <p:nvSpPr>
          <p:cNvPr id="15" name="Text 13"/>
          <p:cNvSpPr txBox="1"/>
          <p:nvPr/>
        </p:nvSpPr>
        <p:spPr>
          <a:xfrm>
            <a:off x="1005840" y="3447288"/>
            <a:ext cx="365760" cy="658368"/>
          </a:xfrm>
          <a:prstGeom prst="rect">
            <a:avLst/>
          </a:prstGeom>
          <a:noFill/>
          <a:ln/>
        </p:spPr>
        <p:txBody>
          <a:bodyPr wrap="square" lIns="0" tIns="0" rIns="0" bIns="0" rtlCol="0" anchor="ctr"/>
          <a:lstStyle/>
          <a:p>
            <a:pPr indent="0" marL="0">
              <a:buNone/>
            </a:pPr>
            <a:r>
              <a:rPr lang="en-US" sz="2000" b="1" dirty="0">
                <a:solidFill>
                  <a:srgbClr val="29B5E8"/>
                </a:solidFill>
                <a:latin typeface="Arial" pitchFamily="34" charset="0"/>
                <a:ea typeface="Arial" pitchFamily="34" charset="-122"/>
                <a:cs typeface="Arial" pitchFamily="34" charset="-120"/>
              </a:rPr>
              <a:t>3</a:t>
            </a:r>
            <a:endParaRPr lang="en-US" sz="2000" dirty="0"/>
          </a:p>
        </p:txBody>
      </p:sp>
      <p:sp>
        <p:nvSpPr>
          <p:cNvPr id="16" name="Text 14"/>
          <p:cNvSpPr txBox="1"/>
          <p:nvPr/>
        </p:nvSpPr>
        <p:spPr>
          <a:xfrm>
            <a:off x="1463040" y="3447288"/>
            <a:ext cx="2103120" cy="658368"/>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Facts</a:t>
            </a:r>
            <a:endParaRPr lang="en-US" sz="2000" dirty="0"/>
          </a:p>
        </p:txBody>
      </p:sp>
      <p:sp>
        <p:nvSpPr>
          <p:cNvPr id="17" name="Text 15"/>
          <p:cNvSpPr txBox="1"/>
          <p:nvPr/>
        </p:nvSpPr>
        <p:spPr>
          <a:xfrm>
            <a:off x="3566160" y="3447288"/>
            <a:ext cx="3108960" cy="658368"/>
          </a:xfrm>
          <a:prstGeom prst="rect">
            <a:avLst/>
          </a:prstGeom>
          <a:noFill/>
          <a:ln/>
        </p:spPr>
        <p:txBody>
          <a:bodyPr wrap="square" lIns="0" tIns="0" rIns="0" bIns="0" rtlCol="0" anchor="ctr"/>
          <a:lstStyle/>
          <a:p>
            <a:pPr indent="0" marL="0">
              <a:buNone/>
            </a:pPr>
            <a:r>
              <a:rPr lang="en-US" sz="1500" dirty="0">
                <a:solidFill>
                  <a:srgbClr val="A1A1A6"/>
                </a:solidFill>
                <a:latin typeface="Arial" pitchFamily="34" charset="0"/>
                <a:ea typeface="Arial" pitchFamily="34" charset="-122"/>
                <a:cs typeface="Arial" pitchFamily="34" charset="-120"/>
              </a:rPr>
              <a:t>Row-level numbers</a:t>
            </a:r>
            <a:endParaRPr lang="en-US" sz="1500" dirty="0"/>
          </a:p>
        </p:txBody>
      </p:sp>
      <p:sp>
        <p:nvSpPr>
          <p:cNvPr id="18" name="Text 16"/>
          <p:cNvSpPr txBox="1"/>
          <p:nvPr/>
        </p:nvSpPr>
        <p:spPr>
          <a:xfrm>
            <a:off x="6675120" y="3447288"/>
            <a:ext cx="4572000" cy="658368"/>
          </a:xfrm>
          <a:prstGeom prst="rect">
            <a:avLst/>
          </a:prstGeom>
          <a:noFill/>
          <a:ln/>
        </p:spPr>
        <p:txBody>
          <a:bodyPr wrap="square" lIns="0" tIns="0" rIns="0" bIns="0" rtlCol="0" anchor="ctr"/>
          <a:lstStyle/>
          <a:p>
            <a:pPr indent="0" marL="0">
              <a:buNone/>
            </a:pPr>
            <a:r>
              <a:rPr lang="en-US" sz="1300" dirty="0">
                <a:solidFill>
                  <a:srgbClr val="F5F5F7"/>
                </a:solidFill>
                <a:latin typeface="Courier New" pitchFamily="34" charset="0"/>
                <a:ea typeface="Courier New" pitchFamily="34" charset="-122"/>
                <a:cs typeface="Courier New" pitchFamily="34" charset="-120"/>
              </a:rPr>
              <a:t>quantity, unit_price, line_revenue</a:t>
            </a:r>
            <a:endParaRPr lang="en-US" sz="1300" dirty="0"/>
          </a:p>
        </p:txBody>
      </p:sp>
      <p:sp>
        <p:nvSpPr>
          <p:cNvPr id="19" name="Shape 17"/>
          <p:cNvSpPr/>
          <p:nvPr/>
        </p:nvSpPr>
        <p:spPr>
          <a:xfrm>
            <a:off x="822960" y="4233672"/>
            <a:ext cx="10515600" cy="658368"/>
          </a:xfrm>
          <a:prstGeom prst="roundRect">
            <a:avLst>
              <a:gd name="adj" fmla="val 16667"/>
            </a:avLst>
          </a:prstGeom>
          <a:solidFill>
            <a:srgbClr val="1D1D1F"/>
          </a:solidFill>
          <a:ln w="12700">
            <a:solidFill>
              <a:srgbClr val="3A3A3C"/>
            </a:solidFill>
            <a:prstDash val="solid"/>
          </a:ln>
        </p:spPr>
      </p:sp>
      <p:sp>
        <p:nvSpPr>
          <p:cNvPr id="20" name="Text 18"/>
          <p:cNvSpPr txBox="1"/>
          <p:nvPr/>
        </p:nvSpPr>
        <p:spPr>
          <a:xfrm>
            <a:off x="1005840" y="4233672"/>
            <a:ext cx="365760" cy="658368"/>
          </a:xfrm>
          <a:prstGeom prst="rect">
            <a:avLst/>
          </a:prstGeom>
          <a:noFill/>
          <a:ln/>
        </p:spPr>
        <p:txBody>
          <a:bodyPr wrap="square" lIns="0" tIns="0" rIns="0" bIns="0" rtlCol="0" anchor="ctr"/>
          <a:lstStyle/>
          <a:p>
            <a:pPr indent="0" marL="0">
              <a:buNone/>
            </a:pPr>
            <a:r>
              <a:rPr lang="en-US" sz="2000" b="1" dirty="0">
                <a:solidFill>
                  <a:srgbClr val="29B5E8"/>
                </a:solidFill>
                <a:latin typeface="Arial" pitchFamily="34" charset="0"/>
                <a:ea typeface="Arial" pitchFamily="34" charset="-122"/>
                <a:cs typeface="Arial" pitchFamily="34" charset="-120"/>
              </a:rPr>
              <a:t>4</a:t>
            </a:r>
            <a:endParaRPr lang="en-US" sz="2000" dirty="0"/>
          </a:p>
        </p:txBody>
      </p:sp>
      <p:sp>
        <p:nvSpPr>
          <p:cNvPr id="21" name="Text 19"/>
          <p:cNvSpPr txBox="1"/>
          <p:nvPr/>
        </p:nvSpPr>
        <p:spPr>
          <a:xfrm>
            <a:off x="1463040" y="4233672"/>
            <a:ext cx="2103120" cy="658368"/>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Dimensions</a:t>
            </a:r>
            <a:endParaRPr lang="en-US" sz="2000" dirty="0"/>
          </a:p>
        </p:txBody>
      </p:sp>
      <p:sp>
        <p:nvSpPr>
          <p:cNvPr id="22" name="Text 20"/>
          <p:cNvSpPr txBox="1"/>
          <p:nvPr/>
        </p:nvSpPr>
        <p:spPr>
          <a:xfrm>
            <a:off x="3566160" y="4233672"/>
            <a:ext cx="3108960" cy="658368"/>
          </a:xfrm>
          <a:prstGeom prst="rect">
            <a:avLst/>
          </a:prstGeom>
          <a:noFill/>
          <a:ln/>
        </p:spPr>
        <p:txBody>
          <a:bodyPr wrap="square" lIns="0" tIns="0" rIns="0" bIns="0" rtlCol="0" anchor="ctr"/>
          <a:lstStyle/>
          <a:p>
            <a:pPr indent="0" marL="0">
              <a:buNone/>
            </a:pPr>
            <a:r>
              <a:rPr lang="en-US" sz="1500" dirty="0">
                <a:solidFill>
                  <a:srgbClr val="A1A1A6"/>
                </a:solidFill>
                <a:latin typeface="Arial" pitchFamily="34" charset="0"/>
                <a:ea typeface="Arial" pitchFamily="34" charset="-122"/>
                <a:cs typeface="Arial" pitchFamily="34" charset="-120"/>
              </a:rPr>
              <a:t>What you group by</a:t>
            </a:r>
            <a:endParaRPr lang="en-US" sz="1500" dirty="0"/>
          </a:p>
        </p:txBody>
      </p:sp>
      <p:sp>
        <p:nvSpPr>
          <p:cNvPr id="23" name="Text 21"/>
          <p:cNvSpPr txBox="1"/>
          <p:nvPr/>
        </p:nvSpPr>
        <p:spPr>
          <a:xfrm>
            <a:off x="6675120" y="4233672"/>
            <a:ext cx="4572000" cy="658368"/>
          </a:xfrm>
          <a:prstGeom prst="rect">
            <a:avLst/>
          </a:prstGeom>
          <a:noFill/>
          <a:ln/>
        </p:spPr>
        <p:txBody>
          <a:bodyPr wrap="square" lIns="0" tIns="0" rIns="0" bIns="0" rtlCol="0" anchor="ctr"/>
          <a:lstStyle/>
          <a:p>
            <a:pPr indent="0" marL="0">
              <a:buNone/>
            </a:pPr>
            <a:r>
              <a:rPr lang="en-US" sz="1300" dirty="0">
                <a:solidFill>
                  <a:srgbClr val="F5F5F7"/>
                </a:solidFill>
                <a:latin typeface="Courier New" pitchFamily="34" charset="0"/>
                <a:ea typeface="Courier New" pitchFamily="34" charset="-122"/>
                <a:cs typeface="Courier New" pitchFamily="34" charset="-120"/>
              </a:rPr>
              <a:t>city, category, month, channel</a:t>
            </a:r>
            <a:endParaRPr lang="en-US" sz="1300" dirty="0"/>
          </a:p>
        </p:txBody>
      </p:sp>
      <p:sp>
        <p:nvSpPr>
          <p:cNvPr id="24" name="Shape 22"/>
          <p:cNvSpPr/>
          <p:nvPr/>
        </p:nvSpPr>
        <p:spPr>
          <a:xfrm>
            <a:off x="822960" y="5020056"/>
            <a:ext cx="10515600" cy="658368"/>
          </a:xfrm>
          <a:prstGeom prst="roundRect">
            <a:avLst>
              <a:gd name="adj" fmla="val 16667"/>
            </a:avLst>
          </a:prstGeom>
          <a:solidFill>
            <a:srgbClr val="1D1D1F"/>
          </a:solidFill>
          <a:ln w="12700">
            <a:solidFill>
              <a:srgbClr val="29B5E8"/>
            </a:solidFill>
            <a:prstDash val="solid"/>
          </a:ln>
        </p:spPr>
      </p:sp>
      <p:sp>
        <p:nvSpPr>
          <p:cNvPr id="25" name="Text 23"/>
          <p:cNvSpPr txBox="1"/>
          <p:nvPr/>
        </p:nvSpPr>
        <p:spPr>
          <a:xfrm>
            <a:off x="1005840" y="5020056"/>
            <a:ext cx="365760" cy="658368"/>
          </a:xfrm>
          <a:prstGeom prst="rect">
            <a:avLst/>
          </a:prstGeom>
          <a:noFill/>
          <a:ln/>
        </p:spPr>
        <p:txBody>
          <a:bodyPr wrap="square" lIns="0" tIns="0" rIns="0" bIns="0" rtlCol="0" anchor="ctr"/>
          <a:lstStyle/>
          <a:p>
            <a:pPr indent="0" marL="0">
              <a:buNone/>
            </a:pPr>
            <a:r>
              <a:rPr lang="en-US" sz="2000" b="1" dirty="0">
                <a:solidFill>
                  <a:srgbClr val="29B5E8"/>
                </a:solidFill>
                <a:latin typeface="Arial" pitchFamily="34" charset="0"/>
                <a:ea typeface="Arial" pitchFamily="34" charset="-122"/>
                <a:cs typeface="Arial" pitchFamily="34" charset="-120"/>
              </a:rPr>
              <a:t>5</a:t>
            </a:r>
            <a:endParaRPr lang="en-US" sz="2000" dirty="0"/>
          </a:p>
        </p:txBody>
      </p:sp>
      <p:sp>
        <p:nvSpPr>
          <p:cNvPr id="26" name="Text 24"/>
          <p:cNvSpPr txBox="1"/>
          <p:nvPr/>
        </p:nvSpPr>
        <p:spPr>
          <a:xfrm>
            <a:off x="1463040" y="5020056"/>
            <a:ext cx="2103120" cy="658368"/>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Metrics</a:t>
            </a:r>
            <a:endParaRPr lang="en-US" sz="2000" dirty="0"/>
          </a:p>
        </p:txBody>
      </p:sp>
      <p:sp>
        <p:nvSpPr>
          <p:cNvPr id="27" name="Text 25"/>
          <p:cNvSpPr txBox="1"/>
          <p:nvPr/>
        </p:nvSpPr>
        <p:spPr>
          <a:xfrm>
            <a:off x="3566160" y="5020056"/>
            <a:ext cx="3108960" cy="658368"/>
          </a:xfrm>
          <a:prstGeom prst="rect">
            <a:avLst/>
          </a:prstGeom>
          <a:noFill/>
          <a:ln/>
        </p:spPr>
        <p:txBody>
          <a:bodyPr wrap="square" lIns="0" tIns="0" rIns="0" bIns="0" rtlCol="0" anchor="ctr"/>
          <a:lstStyle/>
          <a:p>
            <a:pPr indent="0" marL="0">
              <a:buNone/>
            </a:pPr>
            <a:r>
              <a:rPr lang="en-US" sz="1500" dirty="0">
                <a:solidFill>
                  <a:srgbClr val="A1A1A6"/>
                </a:solidFill>
                <a:latin typeface="Arial" pitchFamily="34" charset="0"/>
                <a:ea typeface="Arial" pitchFamily="34" charset="-122"/>
                <a:cs typeface="Arial" pitchFamily="34" charset="-120"/>
              </a:rPr>
              <a:t>What you calculate, with the rule</a:t>
            </a:r>
            <a:endParaRPr lang="en-US" sz="1500" dirty="0"/>
          </a:p>
        </p:txBody>
      </p:sp>
      <p:sp>
        <p:nvSpPr>
          <p:cNvPr id="28" name="Text 26"/>
          <p:cNvSpPr txBox="1"/>
          <p:nvPr/>
        </p:nvSpPr>
        <p:spPr>
          <a:xfrm>
            <a:off x="6675120" y="5020056"/>
            <a:ext cx="4572000" cy="658368"/>
          </a:xfrm>
          <a:prstGeom prst="rect">
            <a:avLst/>
          </a:prstGeom>
          <a:noFill/>
          <a:ln/>
        </p:spPr>
        <p:txBody>
          <a:bodyPr wrap="square" lIns="0" tIns="0" rIns="0" bIns="0" rtlCol="0" anchor="ctr"/>
          <a:lstStyle/>
          <a:p>
            <a:pPr indent="0" marL="0">
              <a:buNone/>
            </a:pPr>
            <a:r>
              <a:rPr lang="en-US" sz="1300" dirty="0">
                <a:solidFill>
                  <a:srgbClr val="F5F5F7"/>
                </a:solidFill>
                <a:latin typeface="Courier New" pitchFamily="34" charset="0"/>
                <a:ea typeface="Courier New" pitchFamily="34" charset="-122"/>
                <a:cs typeface="Courier New" pitchFamily="34" charset="-120"/>
              </a:rPr>
              <a:t>total_revenue, order_count, return_rate</a:t>
            </a:r>
            <a:endParaRPr lang="en-US" sz="1300" dirty="0"/>
          </a:p>
        </p:txBody>
      </p:sp>
      <p:sp>
        <p:nvSpPr>
          <p:cNvPr id="29" name="Text 27"/>
          <p:cNvSpPr txBox="1"/>
          <p:nvPr/>
        </p:nvSpPr>
        <p:spPr>
          <a:xfrm>
            <a:off x="822960" y="598932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Metrics are where the business rules live. That’s the part the AI can’t guess.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4  ·  THE PROOF</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600" b="1" dirty="0">
                <a:solidFill>
                  <a:srgbClr val="F5F5F7"/>
                </a:solidFill>
                <a:latin typeface="Arial" pitchFamily="34" charset="0"/>
                <a:ea typeface="Arial" pitchFamily="34" charset="-122"/>
                <a:cs typeface="Arial" pitchFamily="34" charset="-120"/>
              </a:rPr>
              <a:t>Adding meaning makes AI more accurate.</a:t>
            </a:r>
            <a:endParaRPr lang="en-US" sz="3600" dirty="0"/>
          </a:p>
        </p:txBody>
      </p:sp>
      <p:graphicFrame>
        <p:nvGraphicFramePr>
          <p:cNvPr id="4" name="Chart 0" descr=""/>
          <p:cNvGraphicFramePr/>
          <p:nvPr/>
        </p:nvGraphicFramePr>
        <p:xfrm>
          <a:off x="822960" y="182880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46720" y="1828800"/>
            <a:ext cx="3291840" cy="1188720"/>
          </a:xfrm>
          <a:prstGeom prst="roundRect">
            <a:avLst>
              <a:gd name="adj" fmla="val 9231"/>
            </a:avLst>
          </a:prstGeom>
          <a:solidFill>
            <a:srgbClr val="1D1D1F"/>
          </a:solidFill>
          <a:ln w="12700">
            <a:solidFill>
              <a:srgbClr val="3A3A3C"/>
            </a:solidFill>
            <a:prstDash val="solid"/>
          </a:ln>
        </p:spPr>
      </p:sp>
      <p:sp>
        <p:nvSpPr>
          <p:cNvPr id="6" name="Text 3"/>
          <p:cNvSpPr txBox="1"/>
          <p:nvPr/>
        </p:nvSpPr>
        <p:spPr>
          <a:xfrm>
            <a:off x="8275320" y="1920240"/>
            <a:ext cx="2926080" cy="548640"/>
          </a:xfrm>
          <a:prstGeom prst="rect">
            <a:avLst/>
          </a:prstGeom>
          <a:noFill/>
          <a:ln/>
        </p:spPr>
        <p:txBody>
          <a:bodyPr wrap="square" lIns="0" tIns="0" rIns="0" bIns="0" rtlCol="0" anchor="ctr"/>
          <a:lstStyle/>
          <a:p>
            <a:pPr indent="0" marL="0">
              <a:buNone/>
            </a:pPr>
            <a:r>
              <a:rPr lang="en-US" sz="3200" b="1" dirty="0">
                <a:solidFill>
                  <a:srgbClr val="29B5E8"/>
                </a:solidFill>
                <a:latin typeface="Arial" pitchFamily="34" charset="0"/>
                <a:ea typeface="Arial" pitchFamily="34" charset="-122"/>
                <a:cs typeface="Arial" pitchFamily="34" charset="-120"/>
              </a:rPr>
              <a:t>~2×</a:t>
            </a:r>
            <a:endParaRPr lang="en-US" sz="3200" dirty="0"/>
          </a:p>
        </p:txBody>
      </p:sp>
      <p:sp>
        <p:nvSpPr>
          <p:cNvPr id="7" name="Text 4"/>
          <p:cNvSpPr txBox="1"/>
          <p:nvPr/>
        </p:nvSpPr>
        <p:spPr>
          <a:xfrm>
            <a:off x="8275320" y="2468880"/>
            <a:ext cx="2926080" cy="457200"/>
          </a:xfrm>
          <a:prstGeom prst="rect">
            <a:avLst/>
          </a:prstGeom>
          <a:noFill/>
          <a:ln/>
        </p:spPr>
        <p:txBody>
          <a:bodyPr wrap="square" lIns="0" tIns="0" rIns="0" bIns="0" rtlCol="0" anchor="ctr"/>
          <a:lstStyle/>
          <a:p>
            <a:pPr indent="0" marL="0">
              <a:buNone/>
            </a:pPr>
            <a:r>
              <a:rPr lang="en-US" sz="1200" dirty="0">
                <a:solidFill>
                  <a:srgbClr val="A1A1A6"/>
                </a:solidFill>
                <a:latin typeface="Arial" pitchFamily="34" charset="0"/>
                <a:ea typeface="Arial" pitchFamily="34" charset="-122"/>
                <a:cs typeface="Arial" pitchFamily="34" charset="-120"/>
              </a:rPr>
              <a:t>Cortex Analyst vs single-prompt GPT-4o (Snowflake, 2024)</a:t>
            </a:r>
            <a:endParaRPr lang="en-US" sz="1200" dirty="0"/>
          </a:p>
        </p:txBody>
      </p:sp>
      <p:sp>
        <p:nvSpPr>
          <p:cNvPr id="8" name="Shape 5"/>
          <p:cNvSpPr/>
          <p:nvPr/>
        </p:nvSpPr>
        <p:spPr>
          <a:xfrm>
            <a:off x="8046720" y="3200400"/>
            <a:ext cx="3291840" cy="1188720"/>
          </a:xfrm>
          <a:prstGeom prst="roundRect">
            <a:avLst>
              <a:gd name="adj" fmla="val 9231"/>
            </a:avLst>
          </a:prstGeom>
          <a:solidFill>
            <a:srgbClr val="1D1D1F"/>
          </a:solidFill>
          <a:ln w="12700">
            <a:solidFill>
              <a:srgbClr val="3A3A3C"/>
            </a:solidFill>
            <a:prstDash val="solid"/>
          </a:ln>
        </p:spPr>
      </p:sp>
      <p:sp>
        <p:nvSpPr>
          <p:cNvPr id="9" name="Text 6"/>
          <p:cNvSpPr txBox="1"/>
          <p:nvPr/>
        </p:nvSpPr>
        <p:spPr>
          <a:xfrm>
            <a:off x="8275320" y="3291840"/>
            <a:ext cx="2926080" cy="548640"/>
          </a:xfrm>
          <a:prstGeom prst="rect">
            <a:avLst/>
          </a:prstGeom>
          <a:noFill/>
          <a:ln/>
        </p:spPr>
        <p:txBody>
          <a:bodyPr wrap="square" lIns="0" tIns="0" rIns="0" bIns="0" rtlCol="0" anchor="ctr"/>
          <a:lstStyle/>
          <a:p>
            <a:pPr indent="0" marL="0">
              <a:buNone/>
            </a:pPr>
            <a:r>
              <a:rPr lang="en-US" sz="3200" b="1" dirty="0">
                <a:solidFill>
                  <a:srgbClr val="29B5E8"/>
                </a:solidFill>
                <a:latin typeface="Arial" pitchFamily="34" charset="0"/>
                <a:ea typeface="Arial" pitchFamily="34" charset="-122"/>
                <a:cs typeface="Arial" pitchFamily="34" charset="-120"/>
              </a:rPr>
              <a:t>+20%</a:t>
            </a:r>
            <a:endParaRPr lang="en-US" sz="3200" dirty="0"/>
          </a:p>
        </p:txBody>
      </p:sp>
      <p:sp>
        <p:nvSpPr>
          <p:cNvPr id="10" name="Text 7"/>
          <p:cNvSpPr txBox="1"/>
          <p:nvPr/>
        </p:nvSpPr>
        <p:spPr>
          <a:xfrm>
            <a:off x="8275320" y="3840480"/>
            <a:ext cx="2926080" cy="457200"/>
          </a:xfrm>
          <a:prstGeom prst="rect">
            <a:avLst/>
          </a:prstGeom>
          <a:noFill/>
          <a:ln/>
        </p:spPr>
        <p:txBody>
          <a:bodyPr wrap="square" lIns="0" tIns="0" rIns="0" bIns="0" rtlCol="0" anchor="ctr"/>
          <a:lstStyle/>
          <a:p>
            <a:pPr indent="0" marL="0">
              <a:buNone/>
            </a:pPr>
            <a:r>
              <a:rPr lang="en-US" sz="1200" dirty="0">
                <a:solidFill>
                  <a:srgbClr val="A1A1A6"/>
                </a:solidFill>
                <a:latin typeface="Arial" pitchFamily="34" charset="0"/>
                <a:ea typeface="Arial" pitchFamily="34" charset="-122"/>
                <a:cs typeface="Arial" pitchFamily="34" charset="-120"/>
              </a:rPr>
              <a:t>avg. gain from improving the semantic model (Snowflake, 2025)</a:t>
            </a:r>
            <a:endParaRPr lang="en-US" sz="1200" dirty="0"/>
          </a:p>
        </p:txBody>
      </p:sp>
      <p:sp>
        <p:nvSpPr>
          <p:cNvPr id="11" name="Shape 8"/>
          <p:cNvSpPr/>
          <p:nvPr/>
        </p:nvSpPr>
        <p:spPr>
          <a:xfrm>
            <a:off x="8046720" y="4572000"/>
            <a:ext cx="3291840" cy="1188720"/>
          </a:xfrm>
          <a:prstGeom prst="roundRect">
            <a:avLst>
              <a:gd name="adj" fmla="val 9231"/>
            </a:avLst>
          </a:prstGeom>
          <a:solidFill>
            <a:srgbClr val="1D1D1F"/>
          </a:solidFill>
          <a:ln w="12700">
            <a:solidFill>
              <a:srgbClr val="3A3A3C"/>
            </a:solidFill>
            <a:prstDash val="solid"/>
          </a:ln>
        </p:spPr>
      </p:sp>
      <p:sp>
        <p:nvSpPr>
          <p:cNvPr id="12" name="Text 9"/>
          <p:cNvSpPr txBox="1"/>
          <p:nvPr/>
        </p:nvSpPr>
        <p:spPr>
          <a:xfrm>
            <a:off x="8275320" y="4663440"/>
            <a:ext cx="2926080" cy="548640"/>
          </a:xfrm>
          <a:prstGeom prst="rect">
            <a:avLst/>
          </a:prstGeom>
          <a:noFill/>
          <a:ln/>
        </p:spPr>
        <p:txBody>
          <a:bodyPr wrap="square" lIns="0" tIns="0" rIns="0" bIns="0" rtlCol="0" anchor="ctr"/>
          <a:lstStyle/>
          <a:p>
            <a:pPr indent="0" marL="0">
              <a:buNone/>
            </a:pPr>
            <a:r>
              <a:rPr lang="en-US" sz="3200" b="1" dirty="0">
                <a:solidFill>
                  <a:srgbClr val="FF6B6B"/>
                </a:solidFill>
                <a:latin typeface="Arial" pitchFamily="34" charset="0"/>
                <a:ea typeface="Arial" pitchFamily="34" charset="-122"/>
                <a:cs typeface="Arial" pitchFamily="34" charset="-120"/>
              </a:rPr>
              <a:t>21%</a:t>
            </a:r>
            <a:endParaRPr lang="en-US" sz="3200" dirty="0"/>
          </a:p>
        </p:txBody>
      </p:sp>
      <p:sp>
        <p:nvSpPr>
          <p:cNvPr id="13" name="Text 10"/>
          <p:cNvSpPr txBox="1"/>
          <p:nvPr/>
        </p:nvSpPr>
        <p:spPr>
          <a:xfrm>
            <a:off x="8275320" y="5212080"/>
            <a:ext cx="2926080" cy="457200"/>
          </a:xfrm>
          <a:prstGeom prst="rect">
            <a:avLst/>
          </a:prstGeom>
          <a:noFill/>
          <a:ln/>
        </p:spPr>
        <p:txBody>
          <a:bodyPr wrap="square" lIns="0" tIns="0" rIns="0" bIns="0" rtlCol="0" anchor="ctr"/>
          <a:lstStyle/>
          <a:p>
            <a:pPr indent="0" marL="0">
              <a:buNone/>
            </a:pPr>
            <a:r>
              <a:rPr lang="en-US" sz="1200" dirty="0">
                <a:solidFill>
                  <a:srgbClr val="A1A1A6"/>
                </a:solidFill>
                <a:latin typeface="Arial" pitchFamily="34" charset="0"/>
                <a:ea typeface="Arial" pitchFamily="34" charset="-122"/>
                <a:cs typeface="Arial" pitchFamily="34" charset="-120"/>
              </a:rPr>
              <a:t>tasks solved by an o1 agent on real enterprise SQL (Spider 2.0)</a:t>
            </a:r>
            <a:endParaRPr lang="en-US" sz="1200" dirty="0"/>
          </a:p>
        </p:txBody>
      </p:sp>
      <p:sp>
        <p:nvSpPr>
          <p:cNvPr id="14" name="Text 11"/>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000" dirty="0">
                <a:solidFill>
                  <a:srgbClr val="A1A1A6"/>
                </a:solidFill>
                <a:latin typeface="Arial" pitchFamily="34" charset="0"/>
                <a:ea typeface="Arial" pitchFamily="34" charset="-122"/>
                <a:cs typeface="Arial" pitchFamily="34" charset="-120"/>
              </a:rPr>
              <a:t>Sources: Sequeda et al. 2023 (arXiv 2311.07509); dbt Labs benchmark, Apr 2026; Snowflake Engineering blog; Lei et al., Spider 2.0, ICLR 2025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5  ·  NEWEST FINDING (2026)</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600" b="1" dirty="0">
                <a:solidFill>
                  <a:srgbClr val="F5F5F7"/>
                </a:solidFill>
                <a:latin typeface="Arial" pitchFamily="34" charset="0"/>
                <a:ea typeface="Arial" pitchFamily="34" charset="-122"/>
                <a:cs typeface="Arial" pitchFamily="34" charset="-120"/>
              </a:rPr>
              <a:t>Context mattered more than the model.</a:t>
            </a:r>
            <a:endParaRPr lang="en-US" sz="3600" dirty="0"/>
          </a:p>
        </p:txBody>
      </p:sp>
      <p:graphicFrame>
        <p:nvGraphicFramePr>
          <p:cNvPr id="4" name="Chart 0" descr=""/>
          <p:cNvGraphicFramePr/>
          <p:nvPr/>
        </p:nvGraphicFramePr>
        <p:xfrm>
          <a:off x="822960" y="182880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46720" y="1828800"/>
            <a:ext cx="3291840" cy="1188720"/>
          </a:xfrm>
          <a:prstGeom prst="roundRect">
            <a:avLst>
              <a:gd name="adj" fmla="val 9231"/>
            </a:avLst>
          </a:prstGeom>
          <a:solidFill>
            <a:srgbClr val="1D1D1F"/>
          </a:solidFill>
          <a:ln w="12700">
            <a:solidFill>
              <a:srgbClr val="3A3A3C"/>
            </a:solidFill>
            <a:prstDash val="solid"/>
          </a:ln>
        </p:spPr>
      </p:sp>
      <p:sp>
        <p:nvSpPr>
          <p:cNvPr id="6" name="Text 3"/>
          <p:cNvSpPr txBox="1"/>
          <p:nvPr/>
        </p:nvSpPr>
        <p:spPr>
          <a:xfrm>
            <a:off x="8275320" y="1920240"/>
            <a:ext cx="2926080" cy="548640"/>
          </a:xfrm>
          <a:prstGeom prst="rect">
            <a:avLst/>
          </a:prstGeom>
          <a:noFill/>
          <a:ln/>
        </p:spPr>
        <p:txBody>
          <a:bodyPr wrap="square" lIns="0" tIns="0" rIns="0" bIns="0" rtlCol="0" anchor="ctr"/>
          <a:lstStyle/>
          <a:p>
            <a:pPr indent="0" marL="0">
              <a:buNone/>
            </a:pPr>
            <a:r>
              <a:rPr lang="en-US" sz="2800" b="1" dirty="0">
                <a:solidFill>
                  <a:srgbClr val="29B5E8"/>
                </a:solidFill>
                <a:latin typeface="Arial" pitchFamily="34" charset="0"/>
                <a:ea typeface="Arial" pitchFamily="34" charset="-122"/>
                <a:cs typeface="Arial" pitchFamily="34" charset="-120"/>
              </a:rPr>
              <a:t>+17 to +23</a:t>
            </a:r>
            <a:endParaRPr lang="en-US" sz="2800" dirty="0"/>
          </a:p>
        </p:txBody>
      </p:sp>
      <p:sp>
        <p:nvSpPr>
          <p:cNvPr id="7" name="Text 4"/>
          <p:cNvSpPr txBox="1"/>
          <p:nvPr/>
        </p:nvSpPr>
        <p:spPr>
          <a:xfrm>
            <a:off x="8275320" y="2468880"/>
            <a:ext cx="2926080" cy="457200"/>
          </a:xfrm>
          <a:prstGeom prst="rect">
            <a:avLst/>
          </a:prstGeom>
          <a:noFill/>
          <a:ln/>
        </p:spPr>
        <p:txBody>
          <a:bodyPr wrap="square" lIns="0" tIns="0" rIns="0" bIns="0" rtlCol="0" anchor="ctr"/>
          <a:lstStyle/>
          <a:p>
            <a:pPr indent="0" marL="0">
              <a:buNone/>
            </a:pPr>
            <a:r>
              <a:rPr lang="en-US" sz="1200" dirty="0">
                <a:solidFill>
                  <a:srgbClr val="A1A1A6"/>
                </a:solidFill>
                <a:latin typeface="Arial" pitchFamily="34" charset="0"/>
                <a:ea typeface="Arial" pitchFamily="34" charset="-122"/>
                <a:cs typeface="Arial" pitchFamily="34" charset="-120"/>
              </a:rPr>
              <a:t>points gained by every model, just from one markdown file</a:t>
            </a:r>
            <a:endParaRPr lang="en-US" sz="1200" dirty="0"/>
          </a:p>
        </p:txBody>
      </p:sp>
      <p:sp>
        <p:nvSpPr>
          <p:cNvPr id="8" name="Shape 5"/>
          <p:cNvSpPr/>
          <p:nvPr/>
        </p:nvSpPr>
        <p:spPr>
          <a:xfrm>
            <a:off x="8046720" y="3200400"/>
            <a:ext cx="3291840" cy="1188720"/>
          </a:xfrm>
          <a:prstGeom prst="roundRect">
            <a:avLst>
              <a:gd name="adj" fmla="val 9231"/>
            </a:avLst>
          </a:prstGeom>
          <a:solidFill>
            <a:srgbClr val="1D1D1F"/>
          </a:solidFill>
          <a:ln w="12700">
            <a:solidFill>
              <a:srgbClr val="3A3A3C"/>
            </a:solidFill>
            <a:prstDash val="solid"/>
          </a:ln>
        </p:spPr>
      </p:sp>
      <p:sp>
        <p:nvSpPr>
          <p:cNvPr id="9" name="Text 6"/>
          <p:cNvSpPr txBox="1"/>
          <p:nvPr/>
        </p:nvSpPr>
        <p:spPr>
          <a:xfrm>
            <a:off x="8275320" y="3291840"/>
            <a:ext cx="2926080" cy="548640"/>
          </a:xfrm>
          <a:prstGeom prst="rect">
            <a:avLst/>
          </a:prstGeom>
          <a:noFill/>
          <a:ln/>
        </p:spPr>
        <p:txBody>
          <a:bodyPr wrap="square" lIns="0" tIns="0" rIns="0" bIns="0" rtlCol="0" anchor="ctr"/>
          <a:lstStyle/>
          <a:p>
            <a:pPr indent="0" marL="0">
              <a:buNone/>
            </a:pPr>
            <a:r>
              <a:rPr lang="en-US" sz="2800" b="1" dirty="0">
                <a:solidFill>
                  <a:srgbClr val="29B5E8"/>
                </a:solidFill>
                <a:latin typeface="Arial" pitchFamily="34" charset="0"/>
                <a:ea typeface="Arial" pitchFamily="34" charset="-122"/>
                <a:cs typeface="Arial" pitchFamily="34" charset="-120"/>
              </a:rPr>
              <a:t>~5 pts</a:t>
            </a:r>
            <a:endParaRPr lang="en-US" sz="2800" dirty="0"/>
          </a:p>
        </p:txBody>
      </p:sp>
      <p:sp>
        <p:nvSpPr>
          <p:cNvPr id="10" name="Text 7"/>
          <p:cNvSpPr txBox="1"/>
          <p:nvPr/>
        </p:nvSpPr>
        <p:spPr>
          <a:xfrm>
            <a:off x="8275320" y="3840480"/>
            <a:ext cx="2926080" cy="457200"/>
          </a:xfrm>
          <a:prstGeom prst="rect">
            <a:avLst/>
          </a:prstGeom>
          <a:noFill/>
          <a:ln/>
        </p:spPr>
        <p:txBody>
          <a:bodyPr wrap="square" lIns="0" tIns="0" rIns="0" bIns="0" rtlCol="0" anchor="ctr"/>
          <a:lstStyle/>
          <a:p>
            <a:pPr indent="0" marL="0">
              <a:buNone/>
            </a:pPr>
            <a:r>
              <a:rPr lang="en-US" sz="1200" dirty="0">
                <a:solidFill>
                  <a:srgbClr val="A1A1A6"/>
                </a:solidFill>
                <a:latin typeface="Arial" pitchFamily="34" charset="0"/>
                <a:ea typeface="Arial" pitchFamily="34" charset="-122"/>
                <a:cs typeface="Arial" pitchFamily="34" charset="-120"/>
              </a:rPr>
              <a:t>spread between models. Statistically no winner.</a:t>
            </a:r>
            <a:endParaRPr lang="en-US" sz="1200" dirty="0"/>
          </a:p>
        </p:txBody>
      </p:sp>
      <p:sp>
        <p:nvSpPr>
          <p:cNvPr id="11" name="Shape 8"/>
          <p:cNvSpPr/>
          <p:nvPr/>
        </p:nvSpPr>
        <p:spPr>
          <a:xfrm>
            <a:off x="8046720" y="4572000"/>
            <a:ext cx="3291840" cy="1188720"/>
          </a:xfrm>
          <a:prstGeom prst="roundRect">
            <a:avLst>
              <a:gd name="adj" fmla="val 9231"/>
            </a:avLst>
          </a:prstGeom>
          <a:solidFill>
            <a:srgbClr val="1D1D1F"/>
          </a:solidFill>
          <a:ln w="12700">
            <a:solidFill>
              <a:srgbClr val="29B5E8"/>
            </a:solidFill>
            <a:prstDash val="solid"/>
          </a:ln>
        </p:spPr>
      </p:sp>
      <p:sp>
        <p:nvSpPr>
          <p:cNvPr id="12" name="Text 9"/>
          <p:cNvSpPr txBox="1"/>
          <p:nvPr/>
        </p:nvSpPr>
        <p:spPr>
          <a:xfrm>
            <a:off x="8275320" y="4663440"/>
            <a:ext cx="2926080" cy="1005840"/>
          </a:xfrm>
          <a:prstGeom prst="rect">
            <a:avLst/>
          </a:prstGeom>
          <a:noFill/>
          <a:ln/>
        </p:spPr>
        <p:txBody>
          <a:bodyPr wrap="square" lIns="0" tIns="0" rIns="0" bIns="0" rtlCol="0" anchor="ctr"/>
          <a:lstStyle/>
          <a:p>
            <a:pPr indent="0" marL="0">
              <a:buNone/>
            </a:pPr>
            <a:r>
              <a:rPr lang="en-US" sz="1500" b="1" dirty="0">
                <a:solidFill>
                  <a:srgbClr val="F5F5F7"/>
                </a:solidFill>
                <a:latin typeface="Arial" pitchFamily="34" charset="0"/>
                <a:ea typeface="Arial" pitchFamily="34" charset="-122"/>
                <a:cs typeface="Arial" pitchFamily="34" charset="-120"/>
              </a:rPr>
              <a:t>Smaller model + context beats bigger model without it.</a:t>
            </a:r>
            <a:endParaRPr lang="en-US" sz="1500" dirty="0"/>
          </a:p>
        </p:txBody>
      </p:sp>
      <p:sp>
        <p:nvSpPr>
          <p:cNvPr id="13" name="Text 10"/>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000" dirty="0">
                <a:solidFill>
                  <a:srgbClr val="A1A1A6"/>
                </a:solidFill>
                <a:latin typeface="Arial" pitchFamily="34" charset="0"/>
                <a:ea typeface="Arial" pitchFamily="34" charset="-122"/>
                <a:cs typeface="Arial" pitchFamily="34" charset="-120"/>
              </a:rPr>
              <a:t>Source: Rumiantsau &amp; Fokeev (Cube), “Semantic Layers for Reliable LLM-Powered Data Analytics”, arXiv 2604.25149,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6  ·  WHAT GOES WRONG WITHOUT IT</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600" b="1" dirty="0">
                <a:solidFill>
                  <a:srgbClr val="F5F5F7"/>
                </a:solidFill>
                <a:latin typeface="Arial" pitchFamily="34" charset="0"/>
                <a:ea typeface="Arial" pitchFamily="34" charset="-122"/>
                <a:cs typeface="Arial" pitchFamily="34" charset="-120"/>
              </a:rPr>
              <a:t>The SQL runs. The answer is still wrong.</a:t>
            </a:r>
            <a:endParaRPr lang="en-US" sz="3600" dirty="0"/>
          </a:p>
        </p:txBody>
      </p:sp>
      <p:sp>
        <p:nvSpPr>
          <p:cNvPr id="4" name="Shape 2"/>
          <p:cNvSpPr/>
          <p:nvPr/>
        </p:nvSpPr>
        <p:spPr>
          <a:xfrm>
            <a:off x="822960" y="1874520"/>
            <a:ext cx="5120640" cy="1600200"/>
          </a:xfrm>
          <a:prstGeom prst="roundRect">
            <a:avLst>
              <a:gd name="adj" fmla="val 6857"/>
            </a:avLst>
          </a:prstGeom>
          <a:solidFill>
            <a:srgbClr val="1D1D1F"/>
          </a:solidFill>
          <a:ln w="12700">
            <a:solidFill>
              <a:srgbClr val="3A3A3C"/>
            </a:solidFill>
            <a:prstDash val="solid"/>
          </a:ln>
        </p:spPr>
      </p:sp>
      <p:sp>
        <p:nvSpPr>
          <p:cNvPr id="5" name="Text 3"/>
          <p:cNvSpPr txBox="1"/>
          <p:nvPr/>
        </p:nvSpPr>
        <p:spPr>
          <a:xfrm>
            <a:off x="1097280" y="2057400"/>
            <a:ext cx="4572000" cy="411480"/>
          </a:xfrm>
          <a:prstGeom prst="rect">
            <a:avLst/>
          </a:prstGeom>
          <a:noFill/>
          <a:ln/>
        </p:spPr>
        <p:txBody>
          <a:bodyPr wrap="square" lIns="0" tIns="0" rIns="0" bIns="0" rtlCol="0" anchor="ctr"/>
          <a:lstStyle/>
          <a:p>
            <a:pPr indent="0" marL="0">
              <a:buNone/>
            </a:pPr>
            <a:r>
              <a:rPr lang="en-US" sz="2000" b="1" dirty="0">
                <a:solidFill>
                  <a:srgbClr val="29B5E8"/>
                </a:solidFill>
                <a:latin typeface="Arial" pitchFamily="34" charset="0"/>
                <a:ea typeface="Arial" pitchFamily="34" charset="-122"/>
                <a:cs typeface="Arial" pitchFamily="34" charset="-120"/>
              </a:rPr>
              <a:t>Wrong definition</a:t>
            </a:r>
            <a:endParaRPr lang="en-US" sz="2000" dirty="0"/>
          </a:p>
        </p:txBody>
      </p:sp>
      <p:sp>
        <p:nvSpPr>
          <p:cNvPr id="6" name="Text 4"/>
          <p:cNvSpPr txBox="1"/>
          <p:nvPr/>
        </p:nvSpPr>
        <p:spPr>
          <a:xfrm>
            <a:off x="1097280" y="2514600"/>
            <a:ext cx="4572000" cy="365760"/>
          </a:xfrm>
          <a:prstGeom prst="rect">
            <a:avLst/>
          </a:prstGeom>
          <a:noFill/>
          <a:ln/>
        </p:spPr>
        <p:txBody>
          <a:bodyPr wrap="square" lIns="0" tIns="0" rIns="0" bIns="0" rtlCol="0" anchor="ctr"/>
          <a:lstStyle/>
          <a:p>
            <a:pPr indent="0" marL="0">
              <a:buNone/>
            </a:pPr>
            <a:r>
              <a:rPr lang="en-US" sz="1500" dirty="0">
                <a:solidFill>
                  <a:srgbClr val="F5F5F7"/>
                </a:solidFill>
                <a:latin typeface="Arial" pitchFamily="34" charset="0"/>
                <a:ea typeface="Arial" pitchFamily="34" charset="-122"/>
                <a:cs typeface="Arial" pitchFamily="34" charset="-120"/>
              </a:rPr>
              <a:t>“Sales” resolved to the wrong table or rule.</a:t>
            </a:r>
            <a:endParaRPr lang="en-US" sz="1500" dirty="0"/>
          </a:p>
        </p:txBody>
      </p:sp>
      <p:sp>
        <p:nvSpPr>
          <p:cNvPr id="7" name="Text 5"/>
          <p:cNvSpPr txBox="1"/>
          <p:nvPr/>
        </p:nvSpPr>
        <p:spPr>
          <a:xfrm>
            <a:off x="1097280" y="2926080"/>
            <a:ext cx="4572000" cy="365760"/>
          </a:xfrm>
          <a:prstGeom prst="rect">
            <a:avLst/>
          </a:prstGeom>
          <a:noFill/>
          <a:ln/>
        </p:spPr>
        <p:txBody>
          <a:bodyPr wrap="square" lIns="0" tIns="0" rIns="0" bIns="0" rtlCol="0" anchor="ctr"/>
          <a:lstStyle/>
          <a:p>
            <a:pPr indent="0" marL="0">
              <a:buNone/>
            </a:pPr>
            <a:r>
              <a:rPr lang="en-US" sz="1400" i="1" dirty="0">
                <a:solidFill>
                  <a:srgbClr val="A1A1A6"/>
                </a:solidFill>
                <a:latin typeface="Arial" pitchFamily="34" charset="0"/>
                <a:ea typeface="Arial" pitchFamily="34" charset="-122"/>
                <a:cs typeface="Arial" pitchFamily="34" charset="-120"/>
              </a:rPr>
              <a:t>OrderIQ: does revenue include cancelled?</a:t>
            </a:r>
            <a:endParaRPr lang="en-US" sz="1400" dirty="0"/>
          </a:p>
        </p:txBody>
      </p:sp>
      <p:sp>
        <p:nvSpPr>
          <p:cNvPr id="8" name="Shape 6"/>
          <p:cNvSpPr/>
          <p:nvPr/>
        </p:nvSpPr>
        <p:spPr>
          <a:xfrm>
            <a:off x="6217920" y="1874520"/>
            <a:ext cx="5120640" cy="1600200"/>
          </a:xfrm>
          <a:prstGeom prst="roundRect">
            <a:avLst>
              <a:gd name="adj" fmla="val 6857"/>
            </a:avLst>
          </a:prstGeom>
          <a:solidFill>
            <a:srgbClr val="1D1D1F"/>
          </a:solidFill>
          <a:ln w="12700">
            <a:solidFill>
              <a:srgbClr val="3A3A3C"/>
            </a:solidFill>
            <a:prstDash val="solid"/>
          </a:ln>
        </p:spPr>
      </p:sp>
      <p:sp>
        <p:nvSpPr>
          <p:cNvPr id="9" name="Text 7"/>
          <p:cNvSpPr txBox="1"/>
          <p:nvPr/>
        </p:nvSpPr>
        <p:spPr>
          <a:xfrm>
            <a:off x="6492240" y="2057400"/>
            <a:ext cx="4572000" cy="411480"/>
          </a:xfrm>
          <a:prstGeom prst="rect">
            <a:avLst/>
          </a:prstGeom>
          <a:noFill/>
          <a:ln/>
        </p:spPr>
        <p:txBody>
          <a:bodyPr wrap="square" lIns="0" tIns="0" rIns="0" bIns="0" rtlCol="0" anchor="ctr"/>
          <a:lstStyle/>
          <a:p>
            <a:pPr indent="0" marL="0">
              <a:buNone/>
            </a:pPr>
            <a:r>
              <a:rPr lang="en-US" sz="2000" b="1" dirty="0">
                <a:solidFill>
                  <a:srgbClr val="29B5E8"/>
                </a:solidFill>
                <a:latin typeface="Arial" pitchFamily="34" charset="0"/>
                <a:ea typeface="Arial" pitchFamily="34" charset="-122"/>
                <a:cs typeface="Arial" pitchFamily="34" charset="-120"/>
              </a:rPr>
              <a:t>Invented formulas</a:t>
            </a:r>
            <a:endParaRPr lang="en-US" sz="2000" dirty="0"/>
          </a:p>
        </p:txBody>
      </p:sp>
      <p:sp>
        <p:nvSpPr>
          <p:cNvPr id="10" name="Text 8"/>
          <p:cNvSpPr txBox="1"/>
          <p:nvPr/>
        </p:nvSpPr>
        <p:spPr>
          <a:xfrm>
            <a:off x="6492240" y="2514600"/>
            <a:ext cx="4572000" cy="365760"/>
          </a:xfrm>
          <a:prstGeom prst="rect">
            <a:avLst/>
          </a:prstGeom>
          <a:noFill/>
          <a:ln/>
        </p:spPr>
        <p:txBody>
          <a:bodyPr wrap="square" lIns="0" tIns="0" rIns="0" bIns="0" rtlCol="0" anchor="ctr"/>
          <a:lstStyle/>
          <a:p>
            <a:pPr indent="0" marL="0">
              <a:buNone/>
            </a:pPr>
            <a:r>
              <a:rPr lang="en-US" sz="1500" dirty="0">
                <a:solidFill>
                  <a:srgbClr val="F5F5F7"/>
                </a:solidFill>
                <a:latin typeface="Arial" pitchFamily="34" charset="0"/>
                <a:ea typeface="Arial" pitchFamily="34" charset="-122"/>
                <a:cs typeface="Arial" pitchFamily="34" charset="-120"/>
              </a:rPr>
              <a:t>Return rate, margin, AOV built as look-alikes.</a:t>
            </a:r>
            <a:endParaRPr lang="en-US" sz="1500" dirty="0"/>
          </a:p>
        </p:txBody>
      </p:sp>
      <p:sp>
        <p:nvSpPr>
          <p:cNvPr id="11" name="Text 9"/>
          <p:cNvSpPr txBox="1"/>
          <p:nvPr/>
        </p:nvSpPr>
        <p:spPr>
          <a:xfrm>
            <a:off x="6492240" y="2926080"/>
            <a:ext cx="4572000" cy="365760"/>
          </a:xfrm>
          <a:prstGeom prst="rect">
            <a:avLst/>
          </a:prstGeom>
          <a:noFill/>
          <a:ln/>
        </p:spPr>
        <p:txBody>
          <a:bodyPr wrap="square" lIns="0" tIns="0" rIns="0" bIns="0" rtlCol="0" anchor="ctr"/>
          <a:lstStyle/>
          <a:p>
            <a:pPr indent="0" marL="0">
              <a:buNone/>
            </a:pPr>
            <a:r>
              <a:rPr lang="en-US" sz="1400" i="1" dirty="0">
                <a:solidFill>
                  <a:srgbClr val="A1A1A6"/>
                </a:solidFill>
                <a:latin typeface="Arial" pitchFamily="34" charset="0"/>
                <a:ea typeface="Arial" pitchFamily="34" charset="-122"/>
                <a:cs typeface="Arial" pitchFamily="34" charset="-120"/>
              </a:rPr>
              <a:t>OrderIQ: return rate by rows or by value?</a:t>
            </a:r>
            <a:endParaRPr lang="en-US" sz="1400" dirty="0"/>
          </a:p>
        </p:txBody>
      </p:sp>
      <p:sp>
        <p:nvSpPr>
          <p:cNvPr id="12" name="Shape 10"/>
          <p:cNvSpPr/>
          <p:nvPr/>
        </p:nvSpPr>
        <p:spPr>
          <a:xfrm>
            <a:off x="822960" y="3703320"/>
            <a:ext cx="5120640" cy="1600200"/>
          </a:xfrm>
          <a:prstGeom prst="roundRect">
            <a:avLst>
              <a:gd name="adj" fmla="val 6857"/>
            </a:avLst>
          </a:prstGeom>
          <a:solidFill>
            <a:srgbClr val="1D1D1F"/>
          </a:solidFill>
          <a:ln w="12700">
            <a:solidFill>
              <a:srgbClr val="3A3A3C"/>
            </a:solidFill>
            <a:prstDash val="solid"/>
          </a:ln>
        </p:spPr>
      </p:sp>
      <p:sp>
        <p:nvSpPr>
          <p:cNvPr id="13" name="Text 11"/>
          <p:cNvSpPr txBox="1"/>
          <p:nvPr/>
        </p:nvSpPr>
        <p:spPr>
          <a:xfrm>
            <a:off x="1097280" y="3886200"/>
            <a:ext cx="4572000" cy="411480"/>
          </a:xfrm>
          <a:prstGeom prst="rect">
            <a:avLst/>
          </a:prstGeom>
          <a:noFill/>
          <a:ln/>
        </p:spPr>
        <p:txBody>
          <a:bodyPr wrap="square" lIns="0" tIns="0" rIns="0" bIns="0" rtlCol="0" anchor="ctr"/>
          <a:lstStyle/>
          <a:p>
            <a:pPr indent="0" marL="0">
              <a:buNone/>
            </a:pPr>
            <a:r>
              <a:rPr lang="en-US" sz="2000" b="1" dirty="0">
                <a:solidFill>
                  <a:srgbClr val="29B5E8"/>
                </a:solidFill>
                <a:latin typeface="Arial" pitchFamily="34" charset="0"/>
                <a:ea typeface="Arial" pitchFamily="34" charset="-122"/>
                <a:cs typeface="Arial" pitchFamily="34" charset="-120"/>
              </a:rPr>
              <a:t>Hidden conventions</a:t>
            </a:r>
            <a:endParaRPr lang="en-US" sz="2000" dirty="0"/>
          </a:p>
        </p:txBody>
      </p:sp>
      <p:sp>
        <p:nvSpPr>
          <p:cNvPr id="14" name="Text 12"/>
          <p:cNvSpPr txBox="1"/>
          <p:nvPr/>
        </p:nvSpPr>
        <p:spPr>
          <a:xfrm>
            <a:off x="1097280" y="4343400"/>
            <a:ext cx="4572000" cy="365760"/>
          </a:xfrm>
          <a:prstGeom prst="rect">
            <a:avLst/>
          </a:prstGeom>
          <a:noFill/>
          <a:ln/>
        </p:spPr>
        <p:txBody>
          <a:bodyPr wrap="square" lIns="0" tIns="0" rIns="0" bIns="0" rtlCol="0" anchor="ctr"/>
          <a:lstStyle/>
          <a:p>
            <a:pPr indent="0" marL="0">
              <a:buNone/>
            </a:pPr>
            <a:r>
              <a:rPr lang="en-US" sz="1500" dirty="0">
                <a:solidFill>
                  <a:srgbClr val="F5F5F7"/>
                </a:solidFill>
                <a:latin typeface="Arial" pitchFamily="34" charset="0"/>
                <a:ea typeface="Arial" pitchFamily="34" charset="-122"/>
                <a:cs typeface="Arial" pitchFamily="34" charset="-120"/>
              </a:rPr>
              <a:t>Codes and flags the schema doesn’t explain.</a:t>
            </a:r>
            <a:endParaRPr lang="en-US" sz="1500" dirty="0"/>
          </a:p>
        </p:txBody>
      </p:sp>
      <p:sp>
        <p:nvSpPr>
          <p:cNvPr id="15" name="Text 13"/>
          <p:cNvSpPr txBox="1"/>
          <p:nvPr/>
        </p:nvSpPr>
        <p:spPr>
          <a:xfrm>
            <a:off x="1097280" y="4754880"/>
            <a:ext cx="4572000" cy="365760"/>
          </a:xfrm>
          <a:prstGeom prst="rect">
            <a:avLst/>
          </a:prstGeom>
          <a:noFill/>
          <a:ln/>
        </p:spPr>
        <p:txBody>
          <a:bodyPr wrap="square" lIns="0" tIns="0" rIns="0" bIns="0" rtlCol="0" anchor="ctr"/>
          <a:lstStyle/>
          <a:p>
            <a:pPr indent="0" marL="0">
              <a:buNone/>
            </a:pPr>
            <a:r>
              <a:rPr lang="en-US" sz="1400" i="1" dirty="0">
                <a:solidFill>
                  <a:srgbClr val="A1A1A6"/>
                </a:solidFill>
                <a:latin typeface="Arial" pitchFamily="34" charset="0"/>
                <a:ea typeface="Arial" pitchFamily="34" charset="-122"/>
                <a:cs typeface="Arial" pitchFamily="34" charset="-120"/>
              </a:rPr>
              <a:t>OrderIQ: STATUS vs negative quantity</a:t>
            </a:r>
            <a:endParaRPr lang="en-US" sz="1400" dirty="0"/>
          </a:p>
        </p:txBody>
      </p:sp>
      <p:sp>
        <p:nvSpPr>
          <p:cNvPr id="16" name="Shape 14"/>
          <p:cNvSpPr/>
          <p:nvPr/>
        </p:nvSpPr>
        <p:spPr>
          <a:xfrm>
            <a:off x="6217920" y="3703320"/>
            <a:ext cx="5120640" cy="1600200"/>
          </a:xfrm>
          <a:prstGeom prst="roundRect">
            <a:avLst>
              <a:gd name="adj" fmla="val 6857"/>
            </a:avLst>
          </a:prstGeom>
          <a:solidFill>
            <a:srgbClr val="1D1D1F"/>
          </a:solidFill>
          <a:ln w="12700">
            <a:solidFill>
              <a:srgbClr val="3A3A3C"/>
            </a:solidFill>
            <a:prstDash val="solid"/>
          </a:ln>
        </p:spPr>
      </p:sp>
      <p:sp>
        <p:nvSpPr>
          <p:cNvPr id="17" name="Text 15"/>
          <p:cNvSpPr txBox="1"/>
          <p:nvPr/>
        </p:nvSpPr>
        <p:spPr>
          <a:xfrm>
            <a:off x="6492240" y="3886200"/>
            <a:ext cx="4572000" cy="411480"/>
          </a:xfrm>
          <a:prstGeom prst="rect">
            <a:avLst/>
          </a:prstGeom>
          <a:noFill/>
          <a:ln/>
        </p:spPr>
        <p:txBody>
          <a:bodyPr wrap="square" lIns="0" tIns="0" rIns="0" bIns="0" rtlCol="0" anchor="ctr"/>
          <a:lstStyle/>
          <a:p>
            <a:pPr indent="0" marL="0">
              <a:buNone/>
            </a:pPr>
            <a:r>
              <a:rPr lang="en-US" sz="2000" b="1" dirty="0">
                <a:solidFill>
                  <a:srgbClr val="29B5E8"/>
                </a:solidFill>
                <a:latin typeface="Arial" pitchFamily="34" charset="0"/>
                <a:ea typeface="Arial" pitchFamily="34" charset="-122"/>
                <a:cs typeface="Arial" pitchFamily="34" charset="-120"/>
              </a:rPr>
              <a:t>Wrong time anchor</a:t>
            </a:r>
            <a:endParaRPr lang="en-US" sz="2000" dirty="0"/>
          </a:p>
        </p:txBody>
      </p:sp>
      <p:sp>
        <p:nvSpPr>
          <p:cNvPr id="18" name="Text 16"/>
          <p:cNvSpPr txBox="1"/>
          <p:nvPr/>
        </p:nvSpPr>
        <p:spPr>
          <a:xfrm>
            <a:off x="6492240" y="4343400"/>
            <a:ext cx="4572000" cy="365760"/>
          </a:xfrm>
          <a:prstGeom prst="rect">
            <a:avLst/>
          </a:prstGeom>
          <a:noFill/>
          <a:ln/>
        </p:spPr>
        <p:txBody>
          <a:bodyPr wrap="square" lIns="0" tIns="0" rIns="0" bIns="0" rtlCol="0" anchor="ctr"/>
          <a:lstStyle/>
          <a:p>
            <a:pPr indent="0" marL="0">
              <a:buNone/>
            </a:pPr>
            <a:r>
              <a:rPr lang="en-US" sz="1500" dirty="0">
                <a:solidFill>
                  <a:srgbClr val="F5F5F7"/>
                </a:solidFill>
                <a:latin typeface="Arial" pitchFamily="34" charset="0"/>
                <a:ea typeface="Arial" pitchFamily="34" charset="-122"/>
                <a:cs typeface="Arial" pitchFamily="34" charset="-120"/>
              </a:rPr>
              <a:t>“Last quarter” measured from today.</a:t>
            </a:r>
            <a:endParaRPr lang="en-US" sz="1500" dirty="0"/>
          </a:p>
        </p:txBody>
      </p:sp>
      <p:sp>
        <p:nvSpPr>
          <p:cNvPr id="19" name="Text 17"/>
          <p:cNvSpPr txBox="1"/>
          <p:nvPr/>
        </p:nvSpPr>
        <p:spPr>
          <a:xfrm>
            <a:off x="6492240" y="4754880"/>
            <a:ext cx="4572000" cy="365760"/>
          </a:xfrm>
          <a:prstGeom prst="rect">
            <a:avLst/>
          </a:prstGeom>
          <a:noFill/>
          <a:ln/>
        </p:spPr>
        <p:txBody>
          <a:bodyPr wrap="square" lIns="0" tIns="0" rIns="0" bIns="0" rtlCol="0" anchor="ctr"/>
          <a:lstStyle/>
          <a:p>
            <a:pPr indent="0" marL="0">
              <a:buNone/>
            </a:pPr>
            <a:r>
              <a:rPr lang="en-US" sz="1400" i="1" dirty="0">
                <a:solidFill>
                  <a:srgbClr val="A1A1A6"/>
                </a:solidFill>
                <a:latin typeface="Arial" pitchFamily="34" charset="0"/>
                <a:ea typeface="Arial" pitchFamily="34" charset="-122"/>
                <a:cs typeface="Arial" pitchFamily="34" charset="-120"/>
              </a:rPr>
              <a:t>OrderIQ: our data ends Dec 2025 → empty result</a:t>
            </a:r>
            <a:endParaRPr lang="en-US" sz="1400" dirty="0"/>
          </a:p>
        </p:txBody>
      </p:sp>
      <p:sp>
        <p:nvSpPr>
          <p:cNvPr id="20" name="Text 18"/>
          <p:cNvSpPr txBox="1"/>
          <p:nvPr/>
        </p:nvSpPr>
        <p:spPr>
          <a:xfrm>
            <a:off x="822960" y="576072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None of these throw an error. That’s what makes them dangerous.</a:t>
            </a:r>
            <a:endParaRPr lang="en-US" sz="1600" dirty="0"/>
          </a:p>
        </p:txBody>
      </p:sp>
      <p:sp>
        <p:nvSpPr>
          <p:cNvPr id="21" name="Text 19"/>
          <p:cNvSpPr txBox="1"/>
          <p:nvPr/>
        </p:nvSpPr>
        <p:spPr>
          <a:xfrm>
            <a:off x="822960" y="6217920"/>
            <a:ext cx="10515600" cy="274320"/>
          </a:xfrm>
          <a:prstGeom prst="rect">
            <a:avLst/>
          </a:prstGeom>
          <a:noFill/>
          <a:ln/>
        </p:spPr>
        <p:txBody>
          <a:bodyPr wrap="square" lIns="0" tIns="0" rIns="0" bIns="0" rtlCol="0" anchor="ctr"/>
          <a:lstStyle/>
          <a:p>
            <a:pPr indent="0" marL="0">
              <a:buNone/>
            </a:pPr>
            <a:r>
              <a:rPr lang="en-US" sz="1000" dirty="0">
                <a:solidFill>
                  <a:srgbClr val="A1A1A6"/>
                </a:solidFill>
                <a:latin typeface="Arial" pitchFamily="34" charset="0"/>
                <a:ea typeface="Arial" pitchFamily="34" charset="-122"/>
                <a:cs typeface="Arial" pitchFamily="34" charset="-120"/>
              </a:rPr>
              <a:t>Error types from the 2026 Cube benchmark error analysis; OrderIQ examples are ours.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7  ·  THE MOST IMPORTANT FINDING</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600" b="1" dirty="0">
                <a:solidFill>
                  <a:srgbClr val="F5F5F7"/>
                </a:solidFill>
                <a:latin typeface="Arial" pitchFamily="34" charset="0"/>
                <a:ea typeface="Arial" pitchFamily="34" charset="-122"/>
                <a:cs typeface="Arial" pitchFamily="34" charset="-120"/>
              </a:rPr>
              <a:t>It changes how the AI fails.</a:t>
            </a:r>
            <a:endParaRPr lang="en-US" sz="3600" dirty="0"/>
          </a:p>
        </p:txBody>
      </p:sp>
      <p:sp>
        <p:nvSpPr>
          <p:cNvPr id="4" name="Shape 2"/>
          <p:cNvSpPr/>
          <p:nvPr/>
        </p:nvSpPr>
        <p:spPr>
          <a:xfrm>
            <a:off x="822960" y="1920240"/>
            <a:ext cx="5029200" cy="2651760"/>
          </a:xfrm>
          <a:prstGeom prst="roundRect">
            <a:avLst>
              <a:gd name="adj" fmla="val 4138"/>
            </a:avLst>
          </a:prstGeom>
          <a:solidFill>
            <a:srgbClr val="1D1D1F"/>
          </a:solidFill>
          <a:ln w="12700">
            <a:solidFill>
              <a:srgbClr val="FF6B6B"/>
            </a:solidFill>
            <a:prstDash val="solid"/>
          </a:ln>
        </p:spPr>
      </p:sp>
      <p:sp>
        <p:nvSpPr>
          <p:cNvPr id="5" name="Text 3"/>
          <p:cNvSpPr txBox="1"/>
          <p:nvPr/>
        </p:nvSpPr>
        <p:spPr>
          <a:xfrm>
            <a:off x="1097280" y="2103120"/>
            <a:ext cx="4572000" cy="365760"/>
          </a:xfrm>
          <a:prstGeom prst="rect">
            <a:avLst/>
          </a:prstGeom>
          <a:noFill/>
          <a:ln/>
        </p:spPr>
        <p:txBody>
          <a:bodyPr wrap="square" lIns="0" tIns="0" rIns="0" bIns="0" rtlCol="0" anchor="ctr"/>
          <a:lstStyle/>
          <a:p>
            <a:pPr indent="0" marL="0">
              <a:buNone/>
            </a:pPr>
            <a:r>
              <a:rPr lang="en-US" sz="1600" b="1" dirty="0">
                <a:solidFill>
                  <a:srgbClr val="FF6B6B"/>
                </a:solidFill>
                <a:latin typeface="Arial" pitchFamily="34" charset="0"/>
                <a:ea typeface="Arial" pitchFamily="34" charset="-122"/>
                <a:cs typeface="Arial" pitchFamily="34" charset="-120"/>
              </a:rPr>
              <a:t>Without a semantic layer</a:t>
            </a:r>
            <a:endParaRPr lang="en-US" sz="1600" dirty="0"/>
          </a:p>
        </p:txBody>
      </p:sp>
      <p:sp>
        <p:nvSpPr>
          <p:cNvPr id="6" name="Text 4"/>
          <p:cNvSpPr txBox="1"/>
          <p:nvPr/>
        </p:nvSpPr>
        <p:spPr>
          <a:xfrm>
            <a:off x="1097280" y="2606040"/>
            <a:ext cx="4572000" cy="914400"/>
          </a:xfrm>
          <a:prstGeom prst="rect">
            <a:avLst/>
          </a:prstGeom>
          <a:noFill/>
          <a:ln/>
        </p:spPr>
        <p:txBody>
          <a:bodyPr wrap="square" lIns="0" tIns="0" rIns="0" bIns="0" rtlCol="0" anchor="ctr"/>
          <a:lstStyle/>
          <a:p>
            <a:pPr indent="0" marL="0">
              <a:buNone/>
            </a:pPr>
            <a:r>
              <a:rPr lang="en-US" sz="2400" b="1" dirty="0">
                <a:solidFill>
                  <a:srgbClr val="F5F5F7"/>
                </a:solidFill>
                <a:latin typeface="Arial" pitchFamily="34" charset="0"/>
                <a:ea typeface="Arial" pitchFamily="34" charset="-122"/>
                <a:cs typeface="Arial" pitchFamily="34" charset="-120"/>
              </a:rPr>
              <a:t>A confident, plausible, wrong number.</a:t>
            </a:r>
            <a:endParaRPr lang="en-US" sz="2400" dirty="0"/>
          </a:p>
        </p:txBody>
      </p:sp>
      <p:sp>
        <p:nvSpPr>
          <p:cNvPr id="7" name="Text 5"/>
          <p:cNvSpPr txBox="1"/>
          <p:nvPr/>
        </p:nvSpPr>
        <p:spPr>
          <a:xfrm>
            <a:off x="1097280" y="3657600"/>
            <a:ext cx="4572000" cy="731520"/>
          </a:xfrm>
          <a:prstGeom prst="rect">
            <a:avLst/>
          </a:prstGeom>
          <a:noFill/>
          <a:ln/>
        </p:spPr>
        <p:txBody>
          <a:bodyPr wrap="square" lIns="0" tIns="0" rIns="0" bIns="0" rtlCol="0" anchor="ctr"/>
          <a:lstStyle/>
          <a:p>
            <a:pPr indent="0" marL="0">
              <a:buNone/>
            </a:pPr>
            <a:r>
              <a:rPr lang="en-US" sz="1600" dirty="0">
                <a:solidFill>
                  <a:srgbClr val="A1A1A6"/>
                </a:solidFill>
                <a:latin typeface="Arial" pitchFamily="34" charset="0"/>
                <a:ea typeface="Arial" pitchFamily="34" charset="-122"/>
                <a:cs typeface="Arial" pitchFamily="34" charset="-120"/>
              </a:rPr>
              <a:t>Nobody notices. It ends up in a board deck.</a:t>
            </a:r>
            <a:endParaRPr lang="en-US" sz="1600" dirty="0"/>
          </a:p>
        </p:txBody>
      </p:sp>
      <p:sp>
        <p:nvSpPr>
          <p:cNvPr id="8" name="Shape 6"/>
          <p:cNvSpPr/>
          <p:nvPr/>
        </p:nvSpPr>
        <p:spPr>
          <a:xfrm>
            <a:off x="6309360" y="1920240"/>
            <a:ext cx="5029200" cy="2651760"/>
          </a:xfrm>
          <a:prstGeom prst="roundRect">
            <a:avLst>
              <a:gd name="adj" fmla="val 4138"/>
            </a:avLst>
          </a:prstGeom>
          <a:solidFill>
            <a:srgbClr val="1D1D1F"/>
          </a:solidFill>
          <a:ln w="12700">
            <a:solidFill>
              <a:srgbClr val="34C759"/>
            </a:solidFill>
            <a:prstDash val="solid"/>
          </a:ln>
        </p:spPr>
      </p:sp>
      <p:sp>
        <p:nvSpPr>
          <p:cNvPr id="9" name="Text 7"/>
          <p:cNvSpPr txBox="1"/>
          <p:nvPr/>
        </p:nvSpPr>
        <p:spPr>
          <a:xfrm>
            <a:off x="6583680" y="2103120"/>
            <a:ext cx="4572000" cy="365760"/>
          </a:xfrm>
          <a:prstGeom prst="rect">
            <a:avLst/>
          </a:prstGeom>
          <a:noFill/>
          <a:ln/>
        </p:spPr>
        <p:txBody>
          <a:bodyPr wrap="square" lIns="0" tIns="0" rIns="0" bIns="0" rtlCol="0" anchor="ctr"/>
          <a:lstStyle/>
          <a:p>
            <a:pPr indent="0" marL="0">
              <a:buNone/>
            </a:pPr>
            <a:r>
              <a:rPr lang="en-US" sz="1600" b="1" dirty="0">
                <a:solidFill>
                  <a:srgbClr val="34C759"/>
                </a:solidFill>
                <a:latin typeface="Arial" pitchFamily="34" charset="0"/>
                <a:ea typeface="Arial" pitchFamily="34" charset="-122"/>
                <a:cs typeface="Arial" pitchFamily="34" charset="-120"/>
              </a:rPr>
              <a:t>With a semantic layer</a:t>
            </a:r>
            <a:endParaRPr lang="en-US" sz="1600" dirty="0"/>
          </a:p>
        </p:txBody>
      </p:sp>
      <p:sp>
        <p:nvSpPr>
          <p:cNvPr id="10" name="Text 8"/>
          <p:cNvSpPr txBox="1"/>
          <p:nvPr/>
        </p:nvSpPr>
        <p:spPr>
          <a:xfrm>
            <a:off x="6583680" y="2606040"/>
            <a:ext cx="4572000" cy="914400"/>
          </a:xfrm>
          <a:prstGeom prst="rect">
            <a:avLst/>
          </a:prstGeom>
          <a:noFill/>
          <a:ln/>
        </p:spPr>
        <p:txBody>
          <a:bodyPr wrap="square" lIns="0" tIns="0" rIns="0" bIns="0" rtlCol="0" anchor="ctr"/>
          <a:lstStyle/>
          <a:p>
            <a:pPr indent="0" marL="0">
              <a:buNone/>
            </a:pPr>
            <a:r>
              <a:rPr lang="en-US" sz="2400" b="1" dirty="0">
                <a:solidFill>
                  <a:srgbClr val="F5F5F7"/>
                </a:solidFill>
                <a:latin typeface="Arial" pitchFamily="34" charset="0"/>
                <a:ea typeface="Arial" pitchFamily="34" charset="-122"/>
                <a:cs typeface="Arial" pitchFamily="34" charset="-120"/>
              </a:rPr>
              <a:t>“I can’t answer that.”</a:t>
            </a:r>
            <a:endParaRPr lang="en-US" sz="2400" dirty="0"/>
          </a:p>
        </p:txBody>
      </p:sp>
      <p:sp>
        <p:nvSpPr>
          <p:cNvPr id="11" name="Text 9"/>
          <p:cNvSpPr txBox="1"/>
          <p:nvPr/>
        </p:nvSpPr>
        <p:spPr>
          <a:xfrm>
            <a:off x="6583680" y="3657600"/>
            <a:ext cx="4572000" cy="731520"/>
          </a:xfrm>
          <a:prstGeom prst="rect">
            <a:avLst/>
          </a:prstGeom>
          <a:noFill/>
          <a:ln/>
        </p:spPr>
        <p:txBody>
          <a:bodyPr wrap="square" lIns="0" tIns="0" rIns="0" bIns="0" rtlCol="0" anchor="ctr"/>
          <a:lstStyle/>
          <a:p>
            <a:pPr indent="0" marL="0">
              <a:buNone/>
            </a:pPr>
            <a:r>
              <a:rPr lang="en-US" sz="1600" dirty="0">
                <a:solidFill>
                  <a:srgbClr val="A1A1A6"/>
                </a:solidFill>
                <a:latin typeface="Arial" pitchFamily="34" charset="0"/>
                <a:ea typeface="Arial" pitchFamily="34" charset="-122"/>
                <a:cs typeface="Arial" pitchFamily="34" charset="-120"/>
              </a:rPr>
              <a:t>A visible error. You fix the definition once.</a:t>
            </a:r>
            <a:endParaRPr lang="en-US" sz="1600" dirty="0"/>
          </a:p>
        </p:txBody>
      </p:sp>
      <p:sp>
        <p:nvSpPr>
          <p:cNvPr id="12" name="Text 10"/>
          <p:cNvSpPr txBox="1"/>
          <p:nvPr/>
        </p:nvSpPr>
        <p:spPr>
          <a:xfrm>
            <a:off x="822960" y="4846320"/>
            <a:ext cx="10515600" cy="64008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Our own proof: </a:t>
            </a:r>
            <a:pPr indent="0" marL="0">
              <a:buNone/>
            </a:pPr>
            <a:r>
              <a:rPr lang="en-US" sz="1600" dirty="0">
                <a:solidFill>
                  <a:srgbClr val="F5F5F7"/>
                </a:solidFill>
                <a:latin typeface="Arial" pitchFamily="34" charset="0"/>
                <a:ea typeface="Arial" pitchFamily="34" charset="-122"/>
                <a:cs typeface="Arial" pitchFamily="34" charset="-120"/>
              </a:rPr>
              <a:t>in Lectures 18–19 the SQL was fine. The revenue rule was guessed, and the guess was wrong. A semantic view makes that rule explicit.</a:t>
            </a:r>
            <a:endParaRPr lang="en-US" sz="1600" dirty="0"/>
          </a:p>
        </p:txBody>
      </p:sp>
      <p:sp>
        <p:nvSpPr>
          <p:cNvPr id="13" name="Text 11"/>
          <p:cNvSpPr txBox="1"/>
          <p:nvPr/>
        </p:nvSpPr>
        <p:spPr>
          <a:xfrm>
            <a:off x="822960" y="580644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A wrong number you can’t see is worse than an error you can.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8  ·  SNOWFLAKE IN 2026</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600" b="1" dirty="0">
                <a:solidFill>
                  <a:srgbClr val="F5F5F7"/>
                </a:solidFill>
                <a:latin typeface="Arial" pitchFamily="34" charset="0"/>
                <a:ea typeface="Arial" pitchFamily="34" charset="-122"/>
                <a:cs typeface="Arial" pitchFamily="34" charset="-120"/>
              </a:rPr>
              <a:t>What Snowflake gives us for this.</a:t>
            </a:r>
            <a:endParaRPr lang="en-US" sz="3600" dirty="0"/>
          </a:p>
        </p:txBody>
      </p:sp>
      <p:sp>
        <p:nvSpPr>
          <p:cNvPr id="4" name="Shape 2"/>
          <p:cNvSpPr/>
          <p:nvPr/>
        </p:nvSpPr>
        <p:spPr>
          <a:xfrm>
            <a:off x="822960" y="1984248"/>
            <a:ext cx="548640" cy="548640"/>
          </a:xfrm>
          <a:prstGeom prst="ellipse">
            <a:avLst/>
          </a:prstGeom>
          <a:solidFill>
            <a:srgbClr val="29B5E8"/>
          </a:solidFill>
          <a:ln/>
        </p:spPr>
      </p:sp>
      <p:sp>
        <p:nvSpPr>
          <p:cNvPr id="5" name="Text 3"/>
          <p:cNvSpPr txBox="1"/>
          <p:nvPr/>
        </p:nvSpPr>
        <p:spPr>
          <a:xfrm>
            <a:off x="822960" y="1984248"/>
            <a:ext cx="548640" cy="54864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600200" y="1874520"/>
            <a:ext cx="2743200" cy="777240"/>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Semantic views</a:t>
            </a:r>
            <a:endParaRPr lang="en-US" sz="2000" dirty="0"/>
          </a:p>
        </p:txBody>
      </p:sp>
      <p:sp>
        <p:nvSpPr>
          <p:cNvPr id="7" name="Text 5"/>
          <p:cNvSpPr txBox="1"/>
          <p:nvPr/>
        </p:nvSpPr>
        <p:spPr>
          <a:xfrm>
            <a:off x="4389120" y="1874520"/>
            <a:ext cx="6949440" cy="777240"/>
          </a:xfrm>
          <a:prstGeom prst="rect">
            <a:avLst/>
          </a:prstGeom>
          <a:noFill/>
          <a:ln/>
        </p:spPr>
        <p:txBody>
          <a:bodyPr wrap="square" lIns="0" tIns="0" rIns="0" bIns="0" rtlCol="0" anchor="ctr"/>
          <a:lstStyle/>
          <a:p>
            <a:pPr indent="0" marL="0">
              <a:buNone/>
            </a:pPr>
            <a:r>
              <a:rPr lang="en-US" sz="1500" dirty="0">
                <a:solidFill>
                  <a:srgbClr val="A1A1A6"/>
                </a:solidFill>
                <a:latin typeface="Arial" pitchFamily="34" charset="0"/>
                <a:ea typeface="Arial" pitchFamily="34" charset="-122"/>
                <a:cs typeface="Arial" pitchFamily="34" charset="-120"/>
              </a:rPr>
              <a:t>A real database object: tables, relationships, facts, dimensions, metrics. Queryable with standard SQL (GA March 2026).</a:t>
            </a:r>
            <a:endParaRPr lang="en-US" sz="1500" dirty="0"/>
          </a:p>
        </p:txBody>
      </p:sp>
      <p:sp>
        <p:nvSpPr>
          <p:cNvPr id="8" name="Shape 6"/>
          <p:cNvSpPr/>
          <p:nvPr/>
        </p:nvSpPr>
        <p:spPr>
          <a:xfrm>
            <a:off x="822960" y="2898648"/>
            <a:ext cx="548640" cy="548640"/>
          </a:xfrm>
          <a:prstGeom prst="ellipse">
            <a:avLst/>
          </a:prstGeom>
          <a:solidFill>
            <a:srgbClr val="29B5E8"/>
          </a:solidFill>
          <a:ln/>
        </p:spPr>
      </p:sp>
      <p:sp>
        <p:nvSpPr>
          <p:cNvPr id="9" name="Text 7"/>
          <p:cNvSpPr txBox="1"/>
          <p:nvPr/>
        </p:nvSpPr>
        <p:spPr>
          <a:xfrm>
            <a:off x="822960" y="2898648"/>
            <a:ext cx="548640" cy="54864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2</a:t>
            </a:r>
            <a:endParaRPr lang="en-US" sz="1800" dirty="0"/>
          </a:p>
        </p:txBody>
      </p:sp>
      <p:sp>
        <p:nvSpPr>
          <p:cNvPr id="10" name="Text 8"/>
          <p:cNvSpPr txBox="1"/>
          <p:nvPr/>
        </p:nvSpPr>
        <p:spPr>
          <a:xfrm>
            <a:off x="1600200" y="2788920"/>
            <a:ext cx="2743200" cy="777240"/>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Verified queries</a:t>
            </a:r>
            <a:endParaRPr lang="en-US" sz="2000" dirty="0"/>
          </a:p>
        </p:txBody>
      </p:sp>
      <p:sp>
        <p:nvSpPr>
          <p:cNvPr id="11" name="Text 9"/>
          <p:cNvSpPr txBox="1"/>
          <p:nvPr/>
        </p:nvSpPr>
        <p:spPr>
          <a:xfrm>
            <a:off x="4389120" y="2788920"/>
            <a:ext cx="6949440" cy="777240"/>
          </a:xfrm>
          <a:prstGeom prst="rect">
            <a:avLst/>
          </a:prstGeom>
          <a:noFill/>
          <a:ln/>
        </p:spPr>
        <p:txBody>
          <a:bodyPr wrap="square" lIns="0" tIns="0" rIns="0" bIns="0" rtlCol="0" anchor="ctr"/>
          <a:lstStyle/>
          <a:p>
            <a:pPr indent="0" marL="0">
              <a:buNone/>
            </a:pPr>
            <a:r>
              <a:rPr lang="en-US" sz="1500" dirty="0">
                <a:solidFill>
                  <a:srgbClr val="A1A1A6"/>
                </a:solidFill>
                <a:latin typeface="Arial" pitchFamily="34" charset="0"/>
                <a:ea typeface="Arial" pitchFamily="34" charset="-122"/>
                <a:cs typeface="Arial" pitchFamily="34" charset="-120"/>
              </a:rPr>
              <a:t>Question + correct SQL pairs that anchor the AI and test the view.</a:t>
            </a:r>
            <a:endParaRPr lang="en-US" sz="1500" dirty="0"/>
          </a:p>
        </p:txBody>
      </p:sp>
      <p:sp>
        <p:nvSpPr>
          <p:cNvPr id="12" name="Shape 10"/>
          <p:cNvSpPr/>
          <p:nvPr/>
        </p:nvSpPr>
        <p:spPr>
          <a:xfrm>
            <a:off x="822960" y="3813048"/>
            <a:ext cx="548640" cy="548640"/>
          </a:xfrm>
          <a:prstGeom prst="ellipse">
            <a:avLst/>
          </a:prstGeom>
          <a:solidFill>
            <a:srgbClr val="29B5E8"/>
          </a:solidFill>
          <a:ln/>
        </p:spPr>
      </p:sp>
      <p:sp>
        <p:nvSpPr>
          <p:cNvPr id="13" name="Text 11"/>
          <p:cNvSpPr txBox="1"/>
          <p:nvPr/>
        </p:nvSpPr>
        <p:spPr>
          <a:xfrm>
            <a:off x="822960" y="3813048"/>
            <a:ext cx="548640" cy="54864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3</a:t>
            </a:r>
            <a:endParaRPr lang="en-US" sz="1800" dirty="0"/>
          </a:p>
        </p:txBody>
      </p:sp>
      <p:sp>
        <p:nvSpPr>
          <p:cNvPr id="14" name="Text 12"/>
          <p:cNvSpPr txBox="1"/>
          <p:nvPr/>
        </p:nvSpPr>
        <p:spPr>
          <a:xfrm>
            <a:off x="1600200" y="3703320"/>
            <a:ext cx="2743200" cy="777240"/>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Autopilot</a:t>
            </a:r>
            <a:endParaRPr lang="en-US" sz="2000" dirty="0"/>
          </a:p>
        </p:txBody>
      </p:sp>
      <p:sp>
        <p:nvSpPr>
          <p:cNvPr id="15" name="Text 13"/>
          <p:cNvSpPr txBox="1"/>
          <p:nvPr/>
        </p:nvSpPr>
        <p:spPr>
          <a:xfrm>
            <a:off x="4389120" y="3703320"/>
            <a:ext cx="6949440" cy="777240"/>
          </a:xfrm>
          <a:prstGeom prst="rect">
            <a:avLst/>
          </a:prstGeom>
          <a:noFill/>
          <a:ln/>
        </p:spPr>
        <p:txBody>
          <a:bodyPr wrap="square" lIns="0" tIns="0" rIns="0" bIns="0" rtlCol="0" anchor="ctr"/>
          <a:lstStyle/>
          <a:p>
            <a:pPr indent="0" marL="0">
              <a:buNone/>
            </a:pPr>
            <a:r>
              <a:rPr lang="en-US" sz="1500" dirty="0">
                <a:solidFill>
                  <a:srgbClr val="A1A1A6"/>
                </a:solidFill>
                <a:latin typeface="Arial" pitchFamily="34" charset="0"/>
                <a:ea typeface="Arial" pitchFamily="34" charset="-122"/>
                <a:cs typeface="Arial" pitchFamily="34" charset="-120"/>
              </a:rPr>
              <a:t>Drafts the semantic view from existing query history and BI sources, so you start from something.</a:t>
            </a:r>
            <a:endParaRPr lang="en-US" sz="1500" dirty="0"/>
          </a:p>
        </p:txBody>
      </p:sp>
      <p:sp>
        <p:nvSpPr>
          <p:cNvPr id="16" name="Shape 14"/>
          <p:cNvSpPr/>
          <p:nvPr/>
        </p:nvSpPr>
        <p:spPr>
          <a:xfrm>
            <a:off x="822960" y="4727448"/>
            <a:ext cx="548640" cy="548640"/>
          </a:xfrm>
          <a:prstGeom prst="ellipse">
            <a:avLst/>
          </a:prstGeom>
          <a:solidFill>
            <a:srgbClr val="29B5E8"/>
          </a:solidFill>
          <a:ln/>
        </p:spPr>
      </p:sp>
      <p:sp>
        <p:nvSpPr>
          <p:cNvPr id="17" name="Text 15"/>
          <p:cNvSpPr txBox="1"/>
          <p:nvPr/>
        </p:nvSpPr>
        <p:spPr>
          <a:xfrm>
            <a:off x="822960" y="4727448"/>
            <a:ext cx="548640" cy="54864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4</a:t>
            </a:r>
            <a:endParaRPr lang="en-US" sz="1800" dirty="0"/>
          </a:p>
        </p:txBody>
      </p:sp>
      <p:sp>
        <p:nvSpPr>
          <p:cNvPr id="18" name="Text 16"/>
          <p:cNvSpPr txBox="1"/>
          <p:nvPr/>
        </p:nvSpPr>
        <p:spPr>
          <a:xfrm>
            <a:off x="1600200" y="4617720"/>
            <a:ext cx="2743200" cy="777240"/>
          </a:xfrm>
          <a:prstGeom prst="rect">
            <a:avLst/>
          </a:prstGeom>
          <a:noFill/>
          <a:ln/>
        </p:spPr>
        <p:txBody>
          <a:bodyPr wrap="square" lIns="0" tIns="0" rIns="0" bIns="0" rtlCol="0" anchor="ctr"/>
          <a:lstStyle/>
          <a:p>
            <a:pPr indent="0" marL="0">
              <a:buNone/>
            </a:pPr>
            <a:r>
              <a:rPr lang="en-US" sz="2000" b="1" dirty="0">
                <a:solidFill>
                  <a:srgbClr val="F5F5F7"/>
                </a:solidFill>
                <a:latin typeface="Arial" pitchFamily="34" charset="0"/>
                <a:ea typeface="Arial" pitchFamily="34" charset="-122"/>
                <a:cs typeface="Arial" pitchFamily="34" charset="-120"/>
              </a:rPr>
              <a:t>Cortex Code skills</a:t>
            </a:r>
            <a:endParaRPr lang="en-US" sz="2000" dirty="0"/>
          </a:p>
        </p:txBody>
      </p:sp>
      <p:sp>
        <p:nvSpPr>
          <p:cNvPr id="19" name="Text 17"/>
          <p:cNvSpPr txBox="1"/>
          <p:nvPr/>
        </p:nvSpPr>
        <p:spPr>
          <a:xfrm>
            <a:off x="4389120" y="4617720"/>
            <a:ext cx="6949440" cy="777240"/>
          </a:xfrm>
          <a:prstGeom prst="rect">
            <a:avLst/>
          </a:prstGeom>
          <a:noFill/>
          <a:ln/>
        </p:spPr>
        <p:txBody>
          <a:bodyPr wrap="square" lIns="0" tIns="0" rIns="0" bIns="0" rtlCol="0" anchor="ctr"/>
          <a:lstStyle/>
          <a:p>
            <a:pPr indent="0" marL="0">
              <a:buNone/>
            </a:pPr>
            <a:r>
              <a:rPr lang="en-US" sz="1500" dirty="0">
                <a:solidFill>
                  <a:srgbClr val="A1A1A6"/>
                </a:solidFill>
                <a:latin typeface="Arial" pitchFamily="34" charset="0"/>
                <a:ea typeface="Arial" pitchFamily="34" charset="-122"/>
                <a:cs typeface="Arial" pitchFamily="34" charset="-120"/>
              </a:rPr>
              <a:t>An agent that creates, audits and optimises semantic views with you.</a:t>
            </a:r>
            <a:endParaRPr lang="en-US" sz="1500" dirty="0"/>
          </a:p>
        </p:txBody>
      </p:sp>
      <p:sp>
        <p:nvSpPr>
          <p:cNvPr id="20" name="Shape 18"/>
          <p:cNvSpPr/>
          <p:nvPr/>
        </p:nvSpPr>
        <p:spPr>
          <a:xfrm>
            <a:off x="822960" y="5577840"/>
            <a:ext cx="10515600" cy="685800"/>
          </a:xfrm>
          <a:prstGeom prst="roundRect">
            <a:avLst>
              <a:gd name="adj" fmla="val 16000"/>
            </a:avLst>
          </a:prstGeom>
          <a:solidFill>
            <a:srgbClr val="1D1D1F"/>
          </a:solidFill>
          <a:ln w="12700">
            <a:solidFill>
              <a:srgbClr val="29B5E8"/>
            </a:solidFill>
            <a:prstDash val="solid"/>
          </a:ln>
        </p:spPr>
      </p:sp>
      <p:sp>
        <p:nvSpPr>
          <p:cNvPr id="21" name="Text 19"/>
          <p:cNvSpPr txBox="1"/>
          <p:nvPr/>
        </p:nvSpPr>
        <p:spPr>
          <a:xfrm>
            <a:off x="1097280" y="5577840"/>
            <a:ext cx="10058400" cy="685800"/>
          </a:xfrm>
          <a:prstGeom prst="rect">
            <a:avLst/>
          </a:prstGeom>
          <a:noFill/>
          <a:ln/>
        </p:spPr>
        <p:txBody>
          <a:bodyPr wrap="square" lIns="0" tIns="0" rIns="0" bIns="0" rtlCol="0" anchor="ctr"/>
          <a:lstStyle/>
          <a:p>
            <a:pPr indent="0" marL="0">
              <a:buNone/>
            </a:pPr>
            <a:r>
              <a:rPr lang="en-US" sz="1500" b="1" dirty="0">
                <a:solidFill>
                  <a:srgbClr val="29B5E8"/>
                </a:solidFill>
                <a:latin typeface="Arial" pitchFamily="34" charset="0"/>
                <a:ea typeface="Arial" pitchFamily="34" charset="-122"/>
                <a:cs typeface="Arial" pitchFamily="34" charset="-120"/>
              </a:rPr>
              <a:t>Best practice: </a:t>
            </a:r>
            <a:pPr indent="0" marL="0">
              <a:buNone/>
            </a:pPr>
            <a:r>
              <a:rPr lang="en-US" sz="1500" dirty="0">
                <a:solidFill>
                  <a:srgbClr val="F5F5F7"/>
                </a:solidFill>
                <a:latin typeface="Arial" pitchFamily="34" charset="0"/>
                <a:ea typeface="Arial" pitchFamily="34" charset="-122"/>
                <a:cs typeface="Arial" pitchFamily="34" charset="-120"/>
              </a:rPr>
              <a:t>start small. Every column you add is sent to the AI, and many similar columns increase hallucinations.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9  ·  WHERE IT FITS IN ORDERIQ</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200" b="1" dirty="0">
                <a:solidFill>
                  <a:srgbClr val="F5F5F7"/>
                </a:solidFill>
                <a:latin typeface="Arial" pitchFamily="34" charset="0"/>
                <a:ea typeface="Arial" pitchFamily="34" charset="-122"/>
                <a:cs typeface="Arial" pitchFamily="34" charset="-120"/>
              </a:rPr>
              <a:t>Good modelling is half of it. Meaning is the other half.</a:t>
            </a:r>
            <a:endParaRPr lang="en-US" sz="3200" dirty="0"/>
          </a:p>
        </p:txBody>
      </p:sp>
      <p:sp>
        <p:nvSpPr>
          <p:cNvPr id="4" name="Shape 2"/>
          <p:cNvSpPr/>
          <p:nvPr/>
        </p:nvSpPr>
        <p:spPr>
          <a:xfrm>
            <a:off x="822960" y="2103120"/>
            <a:ext cx="1828800" cy="1188720"/>
          </a:xfrm>
          <a:prstGeom prst="roundRect">
            <a:avLst>
              <a:gd name="adj" fmla="val 9231"/>
            </a:avLst>
          </a:prstGeom>
          <a:solidFill>
            <a:srgbClr val="1D1D1F"/>
          </a:solidFill>
          <a:ln w="12700">
            <a:solidFill>
              <a:srgbClr val="3A3A3C"/>
            </a:solidFill>
            <a:prstDash val="solid"/>
          </a:ln>
        </p:spPr>
      </p:sp>
      <p:sp>
        <p:nvSpPr>
          <p:cNvPr id="5" name="Text 3"/>
          <p:cNvSpPr txBox="1"/>
          <p:nvPr/>
        </p:nvSpPr>
        <p:spPr>
          <a:xfrm>
            <a:off x="914400" y="2240280"/>
            <a:ext cx="1645920" cy="548640"/>
          </a:xfrm>
          <a:prstGeom prst="rect">
            <a:avLst/>
          </a:prstGeom>
          <a:noFill/>
          <a:ln/>
        </p:spPr>
        <p:txBody>
          <a:bodyPr wrap="square" lIns="0" tIns="0" rIns="0" bIns="0" rtlCol="0" anchor="ctr"/>
          <a:lstStyle/>
          <a:p>
            <a:pPr algn="ctr" indent="0" marL="0">
              <a:buNone/>
            </a:pPr>
            <a:r>
              <a:rPr lang="en-US" sz="1700" b="1" dirty="0">
                <a:solidFill>
                  <a:srgbClr val="F5F5F7"/>
                </a:solidFill>
                <a:latin typeface="Arial" pitchFamily="34" charset="0"/>
                <a:ea typeface="Arial" pitchFamily="34" charset="-122"/>
                <a:cs typeface="Arial" pitchFamily="34" charset="-120"/>
              </a:rPr>
              <a:t>RAW</a:t>
            </a:r>
            <a:endParaRPr lang="en-US" sz="1700" dirty="0"/>
          </a:p>
        </p:txBody>
      </p:sp>
      <p:sp>
        <p:nvSpPr>
          <p:cNvPr id="6" name="Text 4"/>
          <p:cNvSpPr txBox="1"/>
          <p:nvPr/>
        </p:nvSpPr>
        <p:spPr>
          <a:xfrm>
            <a:off x="914400" y="2788920"/>
            <a:ext cx="1645920" cy="365760"/>
          </a:xfrm>
          <a:prstGeom prst="rect">
            <a:avLst/>
          </a:prstGeom>
          <a:noFill/>
          <a:ln/>
        </p:spPr>
        <p:txBody>
          <a:bodyPr wrap="square" lIns="0" tIns="0" rIns="0" bIns="0" rtlCol="0" anchor="ctr"/>
          <a:lstStyle/>
          <a:p>
            <a:pPr algn="ctr" indent="0" marL="0">
              <a:buNone/>
            </a:pPr>
            <a:r>
              <a:rPr lang="en-US" sz="1200" dirty="0">
                <a:solidFill>
                  <a:srgbClr val="A1A1A6"/>
                </a:solidFill>
                <a:latin typeface="Arial" pitchFamily="34" charset="0"/>
                <a:ea typeface="Arial" pitchFamily="34" charset="-122"/>
                <a:cs typeface="Arial" pitchFamily="34" charset="-120"/>
              </a:rPr>
              <a:t>L06–10</a:t>
            </a:r>
            <a:endParaRPr lang="en-US" sz="1200" dirty="0"/>
          </a:p>
        </p:txBody>
      </p:sp>
      <p:sp>
        <p:nvSpPr>
          <p:cNvPr id="7" name="Text 5"/>
          <p:cNvSpPr txBox="1"/>
          <p:nvPr/>
        </p:nvSpPr>
        <p:spPr>
          <a:xfrm>
            <a:off x="2651760" y="2423160"/>
            <a:ext cx="320040" cy="548640"/>
          </a:xfrm>
          <a:prstGeom prst="rect">
            <a:avLst/>
          </a:prstGeom>
          <a:noFill/>
          <a:ln/>
        </p:spPr>
        <p:txBody>
          <a:bodyPr wrap="square" lIns="0" tIns="0" rIns="0" bIns="0" rtlCol="0" anchor="ctr"/>
          <a:lstStyle/>
          <a:p>
            <a:pPr algn="ctr" indent="0" marL="0">
              <a:buNone/>
            </a:pPr>
            <a:r>
              <a:rPr lang="en-US" sz="2200" dirty="0">
                <a:solidFill>
                  <a:srgbClr val="29B5E8"/>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2971800" y="2103120"/>
            <a:ext cx="1828800" cy="1188720"/>
          </a:xfrm>
          <a:prstGeom prst="roundRect">
            <a:avLst>
              <a:gd name="adj" fmla="val 9231"/>
            </a:avLst>
          </a:prstGeom>
          <a:solidFill>
            <a:srgbClr val="1D1D1F"/>
          </a:solidFill>
          <a:ln w="12700">
            <a:solidFill>
              <a:srgbClr val="3A3A3C"/>
            </a:solidFill>
            <a:prstDash val="solid"/>
          </a:ln>
        </p:spPr>
      </p:sp>
      <p:sp>
        <p:nvSpPr>
          <p:cNvPr id="9" name="Text 7"/>
          <p:cNvSpPr txBox="1"/>
          <p:nvPr/>
        </p:nvSpPr>
        <p:spPr>
          <a:xfrm>
            <a:off x="3063240" y="2240280"/>
            <a:ext cx="1645920" cy="548640"/>
          </a:xfrm>
          <a:prstGeom prst="rect">
            <a:avLst/>
          </a:prstGeom>
          <a:noFill/>
          <a:ln/>
        </p:spPr>
        <p:txBody>
          <a:bodyPr wrap="square" lIns="0" tIns="0" rIns="0" bIns="0" rtlCol="0" anchor="ctr"/>
          <a:lstStyle/>
          <a:p>
            <a:pPr algn="ctr" indent="0" marL="0">
              <a:buNone/>
            </a:pPr>
            <a:r>
              <a:rPr lang="en-US" sz="1700" b="1" dirty="0">
                <a:solidFill>
                  <a:srgbClr val="F5F5F7"/>
                </a:solidFill>
                <a:latin typeface="Arial" pitchFamily="34" charset="0"/>
                <a:ea typeface="Arial" pitchFamily="34" charset="-122"/>
                <a:cs typeface="Arial" pitchFamily="34" charset="-120"/>
              </a:rPr>
              <a:t>STAGING</a:t>
            </a:r>
            <a:endParaRPr lang="en-US" sz="1700" dirty="0"/>
          </a:p>
        </p:txBody>
      </p:sp>
      <p:sp>
        <p:nvSpPr>
          <p:cNvPr id="10" name="Text 8"/>
          <p:cNvSpPr txBox="1"/>
          <p:nvPr/>
        </p:nvSpPr>
        <p:spPr>
          <a:xfrm>
            <a:off x="3063240" y="2788920"/>
            <a:ext cx="1645920" cy="365760"/>
          </a:xfrm>
          <a:prstGeom prst="rect">
            <a:avLst/>
          </a:prstGeom>
          <a:noFill/>
          <a:ln/>
        </p:spPr>
        <p:txBody>
          <a:bodyPr wrap="square" lIns="0" tIns="0" rIns="0" bIns="0" rtlCol="0" anchor="ctr"/>
          <a:lstStyle/>
          <a:p>
            <a:pPr algn="ctr" indent="0" marL="0">
              <a:buNone/>
            </a:pPr>
            <a:r>
              <a:rPr lang="en-US" sz="1200" dirty="0">
                <a:solidFill>
                  <a:srgbClr val="A1A1A6"/>
                </a:solidFill>
                <a:latin typeface="Arial" pitchFamily="34" charset="0"/>
                <a:ea typeface="Arial" pitchFamily="34" charset="-122"/>
                <a:cs typeface="Arial" pitchFamily="34" charset="-120"/>
              </a:rPr>
              <a:t>L13–15</a:t>
            </a:r>
            <a:endParaRPr lang="en-US" sz="1200" dirty="0"/>
          </a:p>
        </p:txBody>
      </p:sp>
      <p:sp>
        <p:nvSpPr>
          <p:cNvPr id="11" name="Text 9"/>
          <p:cNvSpPr txBox="1"/>
          <p:nvPr/>
        </p:nvSpPr>
        <p:spPr>
          <a:xfrm>
            <a:off x="4800600" y="2423160"/>
            <a:ext cx="320040" cy="548640"/>
          </a:xfrm>
          <a:prstGeom prst="rect">
            <a:avLst/>
          </a:prstGeom>
          <a:noFill/>
          <a:ln/>
        </p:spPr>
        <p:txBody>
          <a:bodyPr wrap="square" lIns="0" tIns="0" rIns="0" bIns="0" rtlCol="0" anchor="ctr"/>
          <a:lstStyle/>
          <a:p>
            <a:pPr algn="ctr" indent="0" marL="0">
              <a:buNone/>
            </a:pPr>
            <a:r>
              <a:rPr lang="en-US" sz="2200" dirty="0">
                <a:solidFill>
                  <a:srgbClr val="29B5E8"/>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5120640" y="2103120"/>
            <a:ext cx="1828800" cy="1188720"/>
          </a:xfrm>
          <a:prstGeom prst="roundRect">
            <a:avLst>
              <a:gd name="adj" fmla="val 9231"/>
            </a:avLst>
          </a:prstGeom>
          <a:solidFill>
            <a:srgbClr val="1D1D1F"/>
          </a:solidFill>
          <a:ln w="12700">
            <a:solidFill>
              <a:srgbClr val="3A3A3C"/>
            </a:solidFill>
            <a:prstDash val="solid"/>
          </a:ln>
        </p:spPr>
      </p:sp>
      <p:sp>
        <p:nvSpPr>
          <p:cNvPr id="13" name="Text 11"/>
          <p:cNvSpPr txBox="1"/>
          <p:nvPr/>
        </p:nvSpPr>
        <p:spPr>
          <a:xfrm>
            <a:off x="5212080" y="2240280"/>
            <a:ext cx="1645920" cy="548640"/>
          </a:xfrm>
          <a:prstGeom prst="rect">
            <a:avLst/>
          </a:prstGeom>
          <a:noFill/>
          <a:ln/>
        </p:spPr>
        <p:txBody>
          <a:bodyPr wrap="square" lIns="0" tIns="0" rIns="0" bIns="0" rtlCol="0" anchor="ctr"/>
          <a:lstStyle/>
          <a:p>
            <a:pPr algn="ctr" indent="0" marL="0">
              <a:buNone/>
            </a:pPr>
            <a:r>
              <a:rPr lang="en-US" sz="1700" b="1" dirty="0">
                <a:solidFill>
                  <a:srgbClr val="F5F5F7"/>
                </a:solidFill>
                <a:latin typeface="Arial" pitchFamily="34" charset="0"/>
                <a:ea typeface="Arial" pitchFamily="34" charset="-122"/>
                <a:cs typeface="Arial" pitchFamily="34" charset="-120"/>
              </a:rPr>
              <a:t>ANALYTICS</a:t>
            </a:r>
            <a:endParaRPr lang="en-US" sz="1700" dirty="0"/>
          </a:p>
        </p:txBody>
      </p:sp>
      <p:sp>
        <p:nvSpPr>
          <p:cNvPr id="14" name="Text 12"/>
          <p:cNvSpPr txBox="1"/>
          <p:nvPr/>
        </p:nvSpPr>
        <p:spPr>
          <a:xfrm>
            <a:off x="5212080" y="2788920"/>
            <a:ext cx="1645920" cy="365760"/>
          </a:xfrm>
          <a:prstGeom prst="rect">
            <a:avLst/>
          </a:prstGeom>
          <a:noFill/>
          <a:ln/>
        </p:spPr>
        <p:txBody>
          <a:bodyPr wrap="square" lIns="0" tIns="0" rIns="0" bIns="0" rtlCol="0" anchor="ctr"/>
          <a:lstStyle/>
          <a:p>
            <a:pPr algn="ctr" indent="0" marL="0">
              <a:buNone/>
            </a:pPr>
            <a:r>
              <a:rPr lang="en-US" sz="1200" dirty="0">
                <a:solidFill>
                  <a:srgbClr val="A1A1A6"/>
                </a:solidFill>
                <a:latin typeface="Arial" pitchFamily="34" charset="0"/>
                <a:ea typeface="Arial" pitchFamily="34" charset="-122"/>
                <a:cs typeface="Arial" pitchFamily="34" charset="-120"/>
              </a:rPr>
              <a:t>L17 star</a:t>
            </a:r>
            <a:endParaRPr lang="en-US" sz="1200" dirty="0"/>
          </a:p>
        </p:txBody>
      </p:sp>
      <p:sp>
        <p:nvSpPr>
          <p:cNvPr id="15" name="Text 13"/>
          <p:cNvSpPr txBox="1"/>
          <p:nvPr/>
        </p:nvSpPr>
        <p:spPr>
          <a:xfrm>
            <a:off x="6949440" y="2423160"/>
            <a:ext cx="320040" cy="548640"/>
          </a:xfrm>
          <a:prstGeom prst="rect">
            <a:avLst/>
          </a:prstGeom>
          <a:noFill/>
          <a:ln/>
        </p:spPr>
        <p:txBody>
          <a:bodyPr wrap="square" lIns="0" tIns="0" rIns="0" bIns="0" rtlCol="0" anchor="ctr"/>
          <a:lstStyle/>
          <a:p>
            <a:pPr algn="ctr" indent="0" marL="0">
              <a:buNone/>
            </a:pPr>
            <a:r>
              <a:rPr lang="en-US" sz="2200" dirty="0">
                <a:solidFill>
                  <a:srgbClr val="29B5E8"/>
                </a:solidFill>
                <a:latin typeface="Arial" pitchFamily="34" charset="0"/>
                <a:ea typeface="Arial" pitchFamily="34" charset="-122"/>
                <a:cs typeface="Arial" pitchFamily="34" charset="-120"/>
              </a:rPr>
              <a:t>→</a:t>
            </a:r>
            <a:endParaRPr lang="en-US" sz="2200" dirty="0"/>
          </a:p>
        </p:txBody>
      </p:sp>
      <p:sp>
        <p:nvSpPr>
          <p:cNvPr id="16" name="Shape 14"/>
          <p:cNvSpPr/>
          <p:nvPr/>
        </p:nvSpPr>
        <p:spPr>
          <a:xfrm>
            <a:off x="7269480" y="2103120"/>
            <a:ext cx="1828800" cy="1188720"/>
          </a:xfrm>
          <a:prstGeom prst="roundRect">
            <a:avLst>
              <a:gd name="adj" fmla="val 9231"/>
            </a:avLst>
          </a:prstGeom>
          <a:solidFill>
            <a:srgbClr val="29B5E8"/>
          </a:solidFill>
          <a:ln w="12700">
            <a:solidFill>
              <a:srgbClr val="29B5E8"/>
            </a:solidFill>
            <a:prstDash val="solid"/>
          </a:ln>
        </p:spPr>
      </p:sp>
      <p:sp>
        <p:nvSpPr>
          <p:cNvPr id="17" name="Text 15"/>
          <p:cNvSpPr txBox="1"/>
          <p:nvPr/>
        </p:nvSpPr>
        <p:spPr>
          <a:xfrm>
            <a:off x="7360920" y="2240280"/>
            <a:ext cx="1645920" cy="548640"/>
          </a:xfrm>
          <a:prstGeom prst="rect">
            <a:avLst/>
          </a:prstGeom>
          <a:noFill/>
          <a:ln/>
        </p:spPr>
        <p:txBody>
          <a:bodyPr wrap="square" lIns="0" tIns="0" rIns="0" bIns="0" rtlCol="0" anchor="ctr"/>
          <a:lstStyle/>
          <a:p>
            <a:pPr algn="ctr" indent="0" marL="0">
              <a:buNone/>
            </a:pPr>
            <a:r>
              <a:rPr lang="en-US" sz="1500" b="1" dirty="0">
                <a:solidFill>
                  <a:srgbClr val="000000"/>
                </a:solidFill>
                <a:latin typeface="Arial" pitchFamily="34" charset="0"/>
                <a:ea typeface="Arial" pitchFamily="34" charset="-122"/>
                <a:cs typeface="Arial" pitchFamily="34" charset="-120"/>
              </a:rPr>
              <a:t>SEMANTIC VIEW</a:t>
            </a:r>
            <a:endParaRPr lang="en-US" sz="1500" dirty="0"/>
          </a:p>
        </p:txBody>
      </p:sp>
      <p:sp>
        <p:nvSpPr>
          <p:cNvPr id="18" name="Text 16"/>
          <p:cNvSpPr txBox="1"/>
          <p:nvPr/>
        </p:nvSpPr>
        <p:spPr>
          <a:xfrm>
            <a:off x="7360920" y="2788920"/>
            <a:ext cx="1645920" cy="365760"/>
          </a:xfrm>
          <a:prstGeom prst="rect">
            <a:avLst/>
          </a:prstGeom>
          <a:noFill/>
          <a:ln/>
        </p:spPr>
        <p:txBody>
          <a:bodyPr wrap="square" lIns="0" tIns="0" rIns="0" bIns="0" rtlCol="0" anchor="ctr"/>
          <a:lstStyle/>
          <a:p>
            <a:pPr algn="ctr" indent="0" marL="0">
              <a:buNone/>
            </a:pPr>
            <a:r>
              <a:rPr lang="en-US" sz="1200" dirty="0">
                <a:solidFill>
                  <a:srgbClr val="000000"/>
                </a:solidFill>
                <a:latin typeface="Arial" pitchFamily="34" charset="0"/>
                <a:ea typeface="Arial" pitchFamily="34" charset="-122"/>
                <a:cs typeface="Arial" pitchFamily="34" charset="-120"/>
              </a:rPr>
              <a:t>next</a:t>
            </a:r>
            <a:endParaRPr lang="en-US" sz="1200" dirty="0"/>
          </a:p>
        </p:txBody>
      </p:sp>
      <p:sp>
        <p:nvSpPr>
          <p:cNvPr id="19" name="Text 17"/>
          <p:cNvSpPr txBox="1"/>
          <p:nvPr/>
        </p:nvSpPr>
        <p:spPr>
          <a:xfrm>
            <a:off x="9098280" y="2423160"/>
            <a:ext cx="320040" cy="548640"/>
          </a:xfrm>
          <a:prstGeom prst="rect">
            <a:avLst/>
          </a:prstGeom>
          <a:noFill/>
          <a:ln/>
        </p:spPr>
        <p:txBody>
          <a:bodyPr wrap="square" lIns="0" tIns="0" rIns="0" bIns="0" rtlCol="0" anchor="ctr"/>
          <a:lstStyle/>
          <a:p>
            <a:pPr algn="ctr" indent="0" marL="0">
              <a:buNone/>
            </a:pPr>
            <a:r>
              <a:rPr lang="en-US" sz="2200" dirty="0">
                <a:solidFill>
                  <a:srgbClr val="29B5E8"/>
                </a:solidFill>
                <a:latin typeface="Arial" pitchFamily="34" charset="0"/>
                <a:ea typeface="Arial" pitchFamily="34" charset="-122"/>
                <a:cs typeface="Arial" pitchFamily="34" charset="-120"/>
              </a:rPr>
              <a:t>→</a:t>
            </a:r>
            <a:endParaRPr lang="en-US" sz="2200" dirty="0"/>
          </a:p>
        </p:txBody>
      </p:sp>
      <p:sp>
        <p:nvSpPr>
          <p:cNvPr id="20" name="Shape 18"/>
          <p:cNvSpPr/>
          <p:nvPr/>
        </p:nvSpPr>
        <p:spPr>
          <a:xfrm>
            <a:off x="9418320" y="2103120"/>
            <a:ext cx="1828800" cy="1188720"/>
          </a:xfrm>
          <a:prstGeom prst="roundRect">
            <a:avLst>
              <a:gd name="adj" fmla="val 9231"/>
            </a:avLst>
          </a:prstGeom>
          <a:solidFill>
            <a:srgbClr val="1D1D1F"/>
          </a:solidFill>
          <a:ln w="12700">
            <a:solidFill>
              <a:srgbClr val="3A3A3C"/>
            </a:solidFill>
            <a:prstDash val="solid"/>
          </a:ln>
        </p:spPr>
      </p:sp>
      <p:sp>
        <p:nvSpPr>
          <p:cNvPr id="21" name="Text 19"/>
          <p:cNvSpPr txBox="1"/>
          <p:nvPr/>
        </p:nvSpPr>
        <p:spPr>
          <a:xfrm>
            <a:off x="9509760" y="2240280"/>
            <a:ext cx="1645920" cy="548640"/>
          </a:xfrm>
          <a:prstGeom prst="rect">
            <a:avLst/>
          </a:prstGeom>
          <a:noFill/>
          <a:ln/>
        </p:spPr>
        <p:txBody>
          <a:bodyPr wrap="square" lIns="0" tIns="0" rIns="0" bIns="0" rtlCol="0" anchor="ctr"/>
          <a:lstStyle/>
          <a:p>
            <a:pPr algn="ctr" indent="0" marL="0">
              <a:buNone/>
            </a:pPr>
            <a:r>
              <a:rPr lang="en-US" sz="1700" b="1" dirty="0">
                <a:solidFill>
                  <a:srgbClr val="F5F5F7"/>
                </a:solidFill>
                <a:latin typeface="Arial" pitchFamily="34" charset="0"/>
                <a:ea typeface="Arial" pitchFamily="34" charset="-122"/>
                <a:cs typeface="Arial" pitchFamily="34" charset="-120"/>
              </a:rPr>
              <a:t>AI</a:t>
            </a:r>
            <a:endParaRPr lang="en-US" sz="1700" dirty="0"/>
          </a:p>
        </p:txBody>
      </p:sp>
      <p:sp>
        <p:nvSpPr>
          <p:cNvPr id="22" name="Text 20"/>
          <p:cNvSpPr txBox="1"/>
          <p:nvPr/>
        </p:nvSpPr>
        <p:spPr>
          <a:xfrm>
            <a:off x="9509760" y="2788920"/>
            <a:ext cx="1645920" cy="365760"/>
          </a:xfrm>
          <a:prstGeom prst="rect">
            <a:avLst/>
          </a:prstGeom>
          <a:noFill/>
          <a:ln/>
        </p:spPr>
        <p:txBody>
          <a:bodyPr wrap="square" lIns="0" tIns="0" rIns="0" bIns="0" rtlCol="0" anchor="ctr"/>
          <a:lstStyle/>
          <a:p>
            <a:pPr algn="ctr" indent="0" marL="0">
              <a:buNone/>
            </a:pPr>
            <a:r>
              <a:rPr lang="en-US" sz="1200" dirty="0">
                <a:solidFill>
                  <a:srgbClr val="A1A1A6"/>
                </a:solidFill>
                <a:latin typeface="Arial" pitchFamily="34" charset="0"/>
                <a:ea typeface="Arial" pitchFamily="34" charset="-122"/>
                <a:cs typeface="Arial" pitchFamily="34" charset="-120"/>
              </a:rPr>
              <a:t>Analyst, agents</a:t>
            </a:r>
            <a:endParaRPr lang="en-US" sz="1200" dirty="0"/>
          </a:p>
        </p:txBody>
      </p:sp>
      <p:sp>
        <p:nvSpPr>
          <p:cNvPr id="23" name="Shape 21"/>
          <p:cNvSpPr/>
          <p:nvPr/>
        </p:nvSpPr>
        <p:spPr>
          <a:xfrm>
            <a:off x="822960" y="3749040"/>
            <a:ext cx="10515600" cy="1737360"/>
          </a:xfrm>
          <a:prstGeom prst="roundRect">
            <a:avLst>
              <a:gd name="adj" fmla="val 6316"/>
            </a:avLst>
          </a:prstGeom>
          <a:solidFill>
            <a:srgbClr val="1D1D1F"/>
          </a:solidFill>
          <a:ln w="12700">
            <a:solidFill>
              <a:srgbClr val="3A3A3C"/>
            </a:solidFill>
            <a:prstDash val="solid"/>
          </a:ln>
        </p:spPr>
      </p:sp>
      <p:sp>
        <p:nvSpPr>
          <p:cNvPr id="24" name="Text 22"/>
          <p:cNvSpPr txBox="1"/>
          <p:nvPr/>
        </p:nvSpPr>
        <p:spPr>
          <a:xfrm>
            <a:off x="1097280" y="3886200"/>
            <a:ext cx="10058400" cy="36576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Honest nuance</a:t>
            </a:r>
            <a:endParaRPr lang="en-US" sz="1600" dirty="0"/>
          </a:p>
        </p:txBody>
      </p:sp>
      <p:sp>
        <p:nvSpPr>
          <p:cNvPr id="25" name="Text 23"/>
          <p:cNvSpPr txBox="1"/>
          <p:nvPr/>
        </p:nvSpPr>
        <p:spPr>
          <a:xfrm>
            <a:off x="1097280" y="4297680"/>
            <a:ext cx="10058400" cy="1097280"/>
          </a:xfrm>
          <a:prstGeom prst="rect">
            <a:avLst/>
          </a:prstGeom>
          <a:noFill/>
          <a:ln/>
        </p:spPr>
        <p:txBody>
          <a:bodyPr wrap="square" lIns="0" tIns="0" rIns="0" bIns="0" rtlCol="0" anchor="t"/>
          <a:lstStyle/>
          <a:p>
            <a:pPr indent="0" marL="0">
              <a:spcAft>
                <a:spcPts val="600"/>
              </a:spcAft>
              <a:buNone/>
            </a:pPr>
            <a:r>
              <a:rPr lang="en-US" sz="1500" dirty="0">
                <a:solidFill>
                  <a:srgbClr val="F5F5F7"/>
                </a:solidFill>
                <a:latin typeface="Arial" pitchFamily="34" charset="0"/>
                <a:ea typeface="Arial" pitchFamily="34" charset="-122"/>
                <a:cs typeface="Arial" pitchFamily="34" charset="-120"/>
              </a:rPr>
              <a:t>Models are getting better on raw schemas too: dbt measured plain text-to-SQL rising from about 33% (2023) to 65% (2026). And clean, well-named tables already help a lot. </a:t>
            </a:r>
            <a:endParaRPr lang="en-US" sz="1500" dirty="0"/>
          </a:p>
          <a:p>
            <a:pPr indent="0" marL="0">
              <a:spcAft>
                <a:spcPts val="600"/>
              </a:spcAft>
              <a:buNone/>
            </a:pPr>
            <a:r>
              <a:rPr lang="en-US" sz="1500" dirty="0">
                <a:solidFill>
                  <a:srgbClr val="A1A1A6"/>
                </a:solidFill>
                <a:latin typeface="Arial" pitchFamily="34" charset="0"/>
                <a:ea typeface="Arial" pitchFamily="34" charset="-122"/>
                <a:cs typeface="Arial" pitchFamily="34" charset="-120"/>
              </a:rPr>
              <a:t>That’s why we built the star schema first. The semantic view is the last step that closes the gap on business rules.</a:t>
            </a:r>
            <a:endParaRPr lang="en-US" sz="1500" dirty="0"/>
          </a:p>
        </p:txBody>
      </p:sp>
      <p:sp>
        <p:nvSpPr>
          <p:cNvPr id="26" name="Text 24"/>
          <p:cNvSpPr txBox="1"/>
          <p:nvPr/>
        </p:nvSpPr>
        <p:spPr>
          <a:xfrm>
            <a:off x="822960" y="585216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Clean data first, then meaning. Now the AI has both.</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2026-09-27T02:37:45Z</dcterms:created>
  <dcterms:modified xsi:type="dcterms:W3CDTF">2026-09-27T02:37:45Z</dcterms:modified>
</cp:coreProperties>
</file>