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ended with an AI agent answering questions about OrderIQ. This section explains how that actually works, from the ground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Probabilities are illustrative. Key point: it generates by repeatedly predicting the next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back: the semantic view was context. Cortex Analyst was a tool. That is how we fixed these in Section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keep going until the task is done: think about the next step, take an action with a tool, look at the result, decide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 ·  GENERATIVE AI  ·  LECTURE 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Generative AI?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LLMs, the tools people use today, and what makes something an agent.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WHAT CHANGED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AI predicts. Generative AI creates.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from options or predicts a number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200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this email spam?  →  Yes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month’s sales?  →  ₹4.2L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Will this customer churn?  →  72%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something new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200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reply to this email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why sales dropped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the SQL for this question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Draw, speak, code, summarise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AI answers “which one?”. Generative AI answers “make me one.”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WHAT AN LLM 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Language Model predicts the next word.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057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capital of India is  </a:t>
            </a:r>
            <a:pPr indent="0" marL="0">
              <a:buNone/>
            </a:pPr>
            <a:r>
              <a:rPr lang="en-US" sz="2600" b="1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651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Delhi  </a:t>
            </a:r>
            <a:pPr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     </a:t>
            </a:r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Mumbai  </a:t>
            </a:r>
            <a:pPr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     </a:t>
            </a:r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3291840" cy="1691640"/>
          </a:xfrm>
          <a:prstGeom prst="roundRect">
            <a:avLst>
              <a:gd name="adj" fmla="val 648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huge amount of text: books, code, websites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34840" y="3611880"/>
            <a:ext cx="3291840" cy="1691640"/>
          </a:xfrm>
          <a:prstGeom prst="roundRect">
            <a:avLst>
              <a:gd name="adj" fmla="val 648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patterns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grammar, facts, reasoning, style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3611880"/>
            <a:ext cx="3291840" cy="1691640"/>
          </a:xfrm>
          <a:prstGeom prst="roundRect">
            <a:avLst>
              <a:gd name="adj" fmla="val 648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piece at a time, each guess feeding the next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autocomplete, trained on most of the internet. Done well enough, it can write, reason and code.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·  WHAT IT CAN’T DO ON ITS OWN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Powerful, but with three blind spots.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291840" cy="3520440"/>
          </a:xfrm>
          <a:prstGeom prst="roundRect">
            <a:avLst>
              <a:gd name="adj" fmla="val 3333"/>
            </a:avLst>
          </a:prstGeom>
          <a:solidFill>
            <a:srgbClr val="1D1D1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knowledge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060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only knows its training data, up to a cutoff date. Today’s news? Your database? It hasn’t seen them.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Give it tools or search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1874520"/>
            <a:ext cx="3291840" cy="3520440"/>
          </a:xfrm>
          <a:prstGeom prst="roundRect">
            <a:avLst>
              <a:gd name="adj" fmla="val 3333"/>
            </a:avLst>
          </a:prstGeom>
          <a:solidFill>
            <a:srgbClr val="1D1D1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Confidently wrong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6060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predicts what sounds right, not what is right. Wrong answers sound just as sure.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Give it context and verify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291840" cy="3520440"/>
          </a:xfrm>
          <a:prstGeom prst="roundRect">
            <a:avLst>
              <a:gd name="adj" fmla="val 3333"/>
            </a:avLst>
          </a:prstGeom>
          <a:solidFill>
            <a:srgbClr val="1D1D1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memory, no hands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6060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chat starts fresh, and by itself it can only produce text.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Give it memory and tools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fix on this slide is what the rest of this section teaches.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·  THE MODELS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families, updated constantly.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29200" cy="2926080"/>
          </a:xfrm>
          <a:prstGeom prst="roundRect">
            <a:avLst>
              <a:gd name="adj" fmla="val 375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models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through an app or API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9260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 ·  Anthropic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 ·  OpenAI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 ·  Google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Grok  ·  xAI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09360" y="1874520"/>
            <a:ext cx="5029200" cy="2926080"/>
          </a:xfrm>
          <a:prstGeom prst="roundRect">
            <a:avLst>
              <a:gd name="adj" fmla="val 375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Open-weight models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and run yourself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9260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 ·  Meta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 ·  Alibaba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983480"/>
            <a:ext cx="10515600" cy="731520"/>
          </a:xfrm>
          <a:prstGeom prst="roundRect">
            <a:avLst>
              <a:gd name="adj" fmla="val 15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983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new models </a:t>
            </a:r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were released in September 2026 alone, from 16 providers.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names change every month. Learn the concepts, not the names.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LLM Gateway release timeline, Sep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·  THE TOOLS PEOPLE USE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people use AI at work today.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apps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ChatGPT, Gemini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Ask, write, analyse, brainstorm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agents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Cursor, Codex, Copilot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Write, fix and ship code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70332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886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data tools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Cortex, Databricks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next to your data — you used this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70332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3886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blocks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APIs, MCP, skills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AI apps and agents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people stop at chat apps. This course takes you to the building blocks.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·  WHAT AN AGENT 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chatbot answers. An agent gets things done.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420624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ask → it replies → done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“How do I find revenue by city?”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explains the SQL you should write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94960" y="1874520"/>
            <a:ext cx="59436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2057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760720" y="2697480"/>
            <a:ext cx="1463040" cy="731520"/>
          </a:xfrm>
          <a:prstGeom prst="roundRect">
            <a:avLst>
              <a:gd name="adj" fmla="val 15000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2697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7889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589520" y="2697480"/>
            <a:ext cx="1463040" cy="731520"/>
          </a:xfrm>
          <a:prstGeom prst="roundRect">
            <a:avLst>
              <a:gd name="adj" fmla="val 15000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0" y="2697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7889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418320" y="2697480"/>
            <a:ext cx="1463040" cy="731520"/>
          </a:xfrm>
          <a:prstGeom prst="roundRect">
            <a:avLst>
              <a:gd name="adj" fmla="val 15000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18320" y="2697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3520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repeat until the goal is done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41148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“What’s revenue by city?”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writes SQL, runs it, checks it, answers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Anthropic’s definition: an LLM that directs its own process and decides which tools to use.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·  WHAT AN AGENT IS MADE OF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parts. That’s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546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what to do next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20440" y="192024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31546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run SQL, send email, edit files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knows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1546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instructions, documents, memory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15400" y="192024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828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31546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going until the goal is met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+ tools + context + a loop. Every agent you’ll ever meet is some mix of these.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·  YOU’VE ALREADY BUILT ONE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FIRST_AGENT, from Lecture 23.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15600" cy="731520"/>
          </a:xfrm>
          <a:prstGeom prst="roundRect">
            <a:avLst>
              <a:gd name="adj" fmla="val 15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74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8745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Snowflake-hosted LLM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10515600" cy="731520"/>
          </a:xfrm>
          <a:prstGeom prst="roundRect">
            <a:avLst>
              <a:gd name="adj" fmla="val 15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743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7432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 Analyst → writes and runs SQL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611880"/>
            <a:ext cx="10515600" cy="731520"/>
          </a:xfrm>
          <a:prstGeom prst="roundRect">
            <a:avLst>
              <a:gd name="adj" fmla="val 15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361188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ORDERIQ_SV: rules, synonyms, verified queries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10515600" cy="731520"/>
          </a:xfrm>
          <a:prstGeom prst="roundRect">
            <a:avLst>
              <a:gd name="adj" fmla="val 15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44805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4480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→ SQL → result → answer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did the hard parts for you. In this section, we build them ourselves.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2026-09-30T02:30:57Z</dcterms:created>
  <dcterms:modified xsi:type="dcterms:W3CDTF">2026-09-30T02:30:57Z</dcterms:modified>
</cp:coreProperties>
</file>