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Exact splits differ by model. The dot marks a leading space, which is part of the token.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real projects use RAG, not fine-tuning. It is cheaper, faster to update, and you can see which document the answer came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misconception: the LLM does not execute tools. It outputs a request; the app executes and sends back the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 ·  GENERATIVE AI  ·  LECTURE 28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1168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Words Every AI Engineer Uses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918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20 terms, in five groups, each with an OrderIQ example.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don’t need the maths. You need the words.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·  HOW MODELS READ AND WRITE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don’t read words. They read tokens.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1271016" cy="822960"/>
          </a:xfrm>
          <a:prstGeom prst="roundRect">
            <a:avLst>
              <a:gd name="adj" fmla="val 11111"/>
            </a:avLst>
          </a:prstGeom>
          <a:solidFill>
            <a:srgbClr val="0E3A4A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1271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03704" y="2011680"/>
            <a:ext cx="1271016" cy="822960"/>
          </a:xfrm>
          <a:prstGeom prst="roundRect">
            <a:avLst>
              <a:gd name="adj" fmla="val 11111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03704" y="2011680"/>
            <a:ext cx="1271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·was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584448" y="2011680"/>
            <a:ext cx="2221992" cy="822960"/>
          </a:xfrm>
          <a:prstGeom prst="roundRect">
            <a:avLst>
              <a:gd name="adj" fmla="val 11111"/>
            </a:avLst>
          </a:prstGeom>
          <a:solidFill>
            <a:srgbClr val="0E3A4A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84448" y="2011680"/>
            <a:ext cx="2221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·revenue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916168" y="2011680"/>
            <a:ext cx="1508760" cy="822960"/>
          </a:xfrm>
          <a:prstGeom prst="roundRect">
            <a:avLst>
              <a:gd name="adj" fmla="val 11111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16168" y="201168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·last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534656" y="2011680"/>
            <a:ext cx="2221992" cy="822960"/>
          </a:xfrm>
          <a:prstGeom prst="roundRect">
            <a:avLst>
              <a:gd name="adj" fmla="val 11111"/>
            </a:avLst>
          </a:prstGeom>
          <a:solidFill>
            <a:srgbClr val="0E3A4A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34656" y="2011680"/>
            <a:ext cx="2221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·quarter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866376" y="2011680"/>
            <a:ext cx="557784" cy="822960"/>
          </a:xfrm>
          <a:prstGeom prst="roundRect">
            <a:avLst>
              <a:gd name="adj" fmla="val 16393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866376" y="2011680"/>
            <a:ext cx="557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28529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6 tokens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3246120"/>
            <a:ext cx="5029200" cy="2194560"/>
          </a:xfrm>
          <a:prstGeom prst="roundRect">
            <a:avLst>
              <a:gd name="adj" fmla="val 500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97280" y="3429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thumb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9319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token ≈ ¾ of an English word.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tokens ≈ 75 words.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 and code often take more tokens per word.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09360" y="3246120"/>
            <a:ext cx="5029200" cy="2194560"/>
          </a:xfrm>
          <a:prstGeom prst="roundRect">
            <a:avLst>
              <a:gd name="adj" fmla="val 500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0" y="3429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you should care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39319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is measured in tokens: what you pay, how much fits, and how long you wait.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are the unit of everything: cost, limits and speed.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·  HOW MODELS READ AND WRITE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Tokens, windows and cutoffs.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1783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plain words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68096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OrderIQ example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10515600" cy="868680"/>
          </a:xfrm>
          <a:prstGeom prst="roundRect">
            <a:avLst>
              <a:gd name="adj" fmla="val 12632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1488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tokens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14884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you send: question, instructions, documents, chat history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21488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+ semantic view context sent to the agent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127248"/>
            <a:ext cx="10515600" cy="868680"/>
          </a:xfrm>
          <a:prstGeom prst="roundRect">
            <a:avLst>
              <a:gd name="adj" fmla="val 12632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312724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tokens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127248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it writes back. Usually priced higher than input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0" y="3127248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SQL and the answer the agent returns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4105656"/>
            <a:ext cx="10515600" cy="868680"/>
          </a:xfrm>
          <a:prstGeom prst="roundRect">
            <a:avLst>
              <a:gd name="adj" fmla="val 12632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97280" y="4105656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window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4105656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tokens a model can see at once. Past it, things get cut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4105656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don’t send all 4 tables’ data to the model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5084064"/>
            <a:ext cx="10515600" cy="868680"/>
          </a:xfrm>
          <a:prstGeom prst="roundRect">
            <a:avLst>
              <a:gd name="adj" fmla="val 12632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97280" y="5084064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cutoff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566160" y="5084064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date its training data ends. It knows nothing after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680960" y="5084064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can’t know OrderIQ unless we give it the data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is what you send, output is what you get, the window is how much fits.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·  TALKING TO A MODEL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ask shapes what you get.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1783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plain words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68096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OrderIQ example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10515600" cy="713232"/>
          </a:xfrm>
          <a:prstGeom prst="roundRect">
            <a:avLst>
              <a:gd name="adj" fmla="val 15385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14884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14884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ask in this message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214884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“Revenue by city in 2025”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2935224"/>
            <a:ext cx="10515600" cy="713232"/>
          </a:xfrm>
          <a:prstGeom prst="roundRect">
            <a:avLst>
              <a:gd name="adj" fmla="val 15385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293522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935224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Standing instructions for every message, set by the builder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0" y="2935224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 are OrderIQ’s analyst. Data ends Dec 2025.”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3721608"/>
            <a:ext cx="10515600" cy="713232"/>
          </a:xfrm>
          <a:prstGeom prst="roundRect">
            <a:avLst>
              <a:gd name="adj" fmla="val 15385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97280" y="372160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3721608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= predictable, high = creative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3721608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for SQL, higher for a marketing email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4507992"/>
            <a:ext cx="10515600" cy="713232"/>
          </a:xfrm>
          <a:prstGeom prst="roundRect">
            <a:avLst>
              <a:gd name="adj" fmla="val 15385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97280" y="4507992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566160" y="4507992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confident answer that’s simply wrong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680960" y="4507992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Inventing a revenue rule nobody gave it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" y="5294376"/>
            <a:ext cx="10515600" cy="713232"/>
          </a:xfrm>
          <a:prstGeom prst="roundRect">
            <a:avLst>
              <a:gd name="adj" fmla="val 15385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97280" y="5294376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3566160" y="5294376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JSON back instead of chat text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680960" y="5294376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 "city": "Delhi", "revenue": 4200000 }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prompt is the job description. The prompt is today’s task.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·  GIVING IT KNOWLEDGE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model learns about your stuff.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1783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plain words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68096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OrderIQ example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10515600" cy="868680"/>
          </a:xfrm>
          <a:prstGeom prst="roundRect">
            <a:avLst>
              <a:gd name="adj" fmla="val 12632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1488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14884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turned into a list of numbers that captures meaning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21488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“late delivery” and “arrived after a week” end up close together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127248"/>
            <a:ext cx="10515600" cy="868680"/>
          </a:xfrm>
          <a:prstGeom prst="roundRect">
            <a:avLst>
              <a:gd name="adj" fmla="val 12632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312724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database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127248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embeddings and finds the closest ones fast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0" y="3127248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10,000 reviews by meaning, not keywords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4105656"/>
            <a:ext cx="10515600" cy="868680"/>
          </a:xfrm>
          <a:prstGeom prst="roundRect">
            <a:avLst>
              <a:gd name="adj" fmla="val 12632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97280" y="4105656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4105656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relevant documents first, then answer using them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4105656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returns policy, then answer “can I return this?”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5084064"/>
            <a:ext cx="10515600" cy="868680"/>
          </a:xfrm>
          <a:prstGeom prst="roundRect">
            <a:avLst>
              <a:gd name="adj" fmla="val 12632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97280" y="5084064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566160" y="5084064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the model further on your own examples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680960" y="5084064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Rarely needed. Try prompts and RAG first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is an open-book exam. Fine-tuning is making the model study for weeks.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·  MAKING IT ACT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answering to doing.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1783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plain words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68096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OrderIQ example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10515600" cy="868680"/>
          </a:xfrm>
          <a:prstGeom prst="roundRect">
            <a:avLst>
              <a:gd name="adj" fmla="val 12632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1488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calling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14884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asks your code to run a function, then uses the result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21488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asks: run_sql(“SELECT …”)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127248"/>
            <a:ext cx="10515600" cy="868680"/>
          </a:xfrm>
          <a:prstGeom prst="roundRect">
            <a:avLst>
              <a:gd name="adj" fmla="val 12632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312724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127248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LLM using tools in a loop until the goal is done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0" y="3127248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FIRST_AGENT: question → SQL → result → answer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4105656"/>
            <a:ext cx="10515600" cy="868680"/>
          </a:xfrm>
          <a:prstGeom prst="roundRect">
            <a:avLst>
              <a:gd name="adj" fmla="val 12632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97280" y="4105656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4105656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standard plug so any AI can use any tool or data source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4105656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talking to Snowflake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5084064"/>
            <a:ext cx="10515600" cy="868680"/>
          </a:xfrm>
          <a:prstGeom prst="roundRect">
            <a:avLst>
              <a:gd name="adj" fmla="val 12632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97280" y="5084064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model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566160" y="5084064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Thinks step by step before answering. Slower, smarter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680960" y="5084064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for “why did Q4 revenue drop?”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never runs anything itself. It asks, your code runs it.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·  RUNNING IT FOR REAL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matters once real people use it.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1783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plain words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68096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OrderIQ example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10515600" cy="713232"/>
          </a:xfrm>
          <a:prstGeom prst="roundRect">
            <a:avLst>
              <a:gd name="adj" fmla="val 15385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14884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14884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long until the answer arrives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214884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sales manager won’t wait 40 seconds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2935224"/>
            <a:ext cx="10515600" cy="713232"/>
          </a:xfrm>
          <a:prstGeom prst="roundRect">
            <a:avLst>
              <a:gd name="adj" fmla="val 15385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293522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/ 1M tokens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935224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providers bill: price per million input and output tokens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0" y="2935224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context = bigger bill on every question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3721608"/>
            <a:ext cx="10515600" cy="713232"/>
          </a:xfrm>
          <a:prstGeom prst="roundRect">
            <a:avLst>
              <a:gd name="adj" fmla="val 15385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97280" y="372160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caching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3721608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Reusing the same repeated input, so it’s cheaper and faster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3721608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semantic view context is the same every time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4507992"/>
            <a:ext cx="10515600" cy="713232"/>
          </a:xfrm>
          <a:prstGeom prst="roundRect">
            <a:avLst>
              <a:gd name="adj" fmla="val 15385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97280" y="4507992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566160" y="4507992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with known answers that measure if the AI is right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680960" y="4507992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queries as the answer key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" y="5294376"/>
            <a:ext cx="10515600" cy="713232"/>
          </a:xfrm>
          <a:prstGeom prst="roundRect">
            <a:avLst>
              <a:gd name="adj" fmla="val 15385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97280" y="5294376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3566160" y="5294376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that block unsafe or wrong outputs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680960" y="5294376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role, “data ends Dec 2025” instruction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demo needs a good model. A product needs these five.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IT TOGETHER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question. Most of these words.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1828800" cy="1280160"/>
          </a:xfrm>
          <a:prstGeom prst="roundRect">
            <a:avLst>
              <a:gd name="adj" fmla="val 8571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prompt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9B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tokens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237744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999232" y="2011680"/>
            <a:ext cx="1828800" cy="1280160"/>
          </a:xfrm>
          <a:prstGeom prst="roundRect">
            <a:avLst>
              <a:gd name="adj" fmla="val 8571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90672" y="20116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picks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tool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999232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9B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calling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28032" y="237744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175504" y="2011680"/>
            <a:ext cx="1828800" cy="1280160"/>
          </a:xfrm>
          <a:prstGeom prst="roundRect">
            <a:avLst>
              <a:gd name="adj" fmla="val 8571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66944" y="20116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the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view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175504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9B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004304" y="237744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351776" y="2011680"/>
            <a:ext cx="1828800" cy="1280160"/>
          </a:xfrm>
          <a:prstGeom prst="roundRect">
            <a:avLst>
              <a:gd name="adj" fmla="val 8571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43216" y="20116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SQL,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it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351776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9B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loop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180576" y="237744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528048" y="2011680"/>
            <a:ext cx="1828800" cy="1280160"/>
          </a:xfrm>
          <a:prstGeom prst="roundRect">
            <a:avLst>
              <a:gd name="adj" fmla="val 8571"/>
            </a:avLst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19488" y="20116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528048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9B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tokens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" y="4069080"/>
            <a:ext cx="10515600" cy="1371600"/>
          </a:xfrm>
          <a:prstGeom prst="roundRect">
            <a:avLst>
              <a:gd name="adj" fmla="val 800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97280" y="40690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Around it: </a:t>
            </a:r>
            <a:pPr indent="0" marL="0">
              <a:buNone/>
            </a:pPr>
            <a:r>
              <a:rPr lang="en-US" sz="17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(how long it took), cost (tokens used), caching (the repeated context), evals (was it right?), guardrails (read-only access).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question you asked FIRST_AGENT used most of today’s vocabulary.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2026-09-30T02:49:24Z</dcterms:created>
  <dcterms:modified xsi:type="dcterms:W3CDTF">2026-09-30T02:49:24Z</dcterms:modified>
</cp:coreProperties>
</file>