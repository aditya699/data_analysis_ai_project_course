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Anthropic: explaining why helps newer models reason about your underlying goal. Capital-letter commands are less effective than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one of the highest-return techniques in 2026. Per Claude docs, worked examples also shape how the model approaches problems in its own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XML-style tags are the recommended way to structure prompts for Claude. They also stop text inside your data from being mistaken for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we prompted Claude Code for the OrderIQ cleaning lectures: one goal, rules, and a verification step, then it ran the whole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 ·  GENERATIVE AI  ·  LECTURE 31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Prompt Models in 2026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models needed tricks.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models need clarity.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WHAT CHANGED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2023 prompting habits are now noise.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habit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way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0515600" cy="621792"/>
          </a:xfrm>
          <a:prstGeom prst="roundRect">
            <a:avLst>
              <a:gd name="adj" fmla="val 1764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14884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“Think step by step.”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214884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1488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thinking. Set the effort level.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10515600" cy="621792"/>
          </a:xfrm>
          <a:prstGeom prst="roundRect">
            <a:avLst>
              <a:gd name="adj" fmla="val 1764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88036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are a world-class expert…”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8803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88036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it like a smart colleague.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611880"/>
            <a:ext cx="10515600" cy="621792"/>
          </a:xfrm>
          <a:prstGeom prst="roundRect">
            <a:avLst>
              <a:gd name="adj" fmla="val 1764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361188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MUST ALWAYS…” in capitals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61188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6118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why the rule matters.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4343400"/>
            <a:ext cx="10515600" cy="621792"/>
          </a:xfrm>
          <a:prstGeom prst="roundRect">
            <a:avLst>
              <a:gd name="adj" fmla="val 1764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434340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“Give the best answer.”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434340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34340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a good answer looks like.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5074920"/>
            <a:ext cx="10515600" cy="621792"/>
          </a:xfrm>
          <a:prstGeom prst="roundRect">
            <a:avLst>
              <a:gd name="adj" fmla="val 1764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507492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giant prompt for everything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507492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507492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simple. Add only what fixes a problem.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models already think. Your job is to say clearly what you want.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Claude prompting best practices docs; OpenAI reasoning model guidance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THE ANATOMY OF A GOOD PROMPT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parts. You’ve used them all course.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642616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6426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6426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needs to know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410712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4107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why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4107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limits, and the reason for each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178808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1788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41788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good looks like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946904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9469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494690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shape of the answer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0" y="1874520"/>
            <a:ext cx="6126480" cy="3749040"/>
          </a:xfrm>
          <a:prstGeom prst="roundRect">
            <a:avLst>
              <a:gd name="adj" fmla="val 292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40680" y="2011680"/>
            <a:ext cx="5760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&lt;task&gt;Find the top 3 cities by revenue in 2025.&lt;/task&gt;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&lt;context&gt;Data is in ORDERIQ_SV. Data ends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2025-12-31.&lt;/context&gt;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&lt;rules&gt;Exclude cancelled and pending orders,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because finance only counts fulfilled sales.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&lt;/rules&gt;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&lt;output&gt;A 3-row table: city, revenue in ₹,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one line on the biggest gap.&lt;/output&gt;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OrderIQ prompt this course followed this shape.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1  ·  BE CLEAR AND SPECIFIC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colleague would be confused, so is the model.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60320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 our sales.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60320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2025 revenue by channel.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which channel grew fastest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2024, and give one likely reason.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it under 100 words.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beats cleverness. Say what, how much, and in what shape.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2  ·  EXPLAIN WHY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 beats a command.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only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60320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include cancelled orders.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+ reason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60320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 cancelled orders, because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 reports revenue only 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fulfilled sales.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Now it can apply the same logic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cases you didn’t list, like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pending orders.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model knows why, it handles the cases you forgot to mention.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3  ·  FEW-SHOT PROMPTING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3 examples. The model copies the pattern.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6309360" cy="3749040"/>
          </a:xfrm>
          <a:prstGeom prst="roundRect">
            <a:avLst>
              <a:gd name="adj" fmla="val 292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11680"/>
            <a:ext cx="5943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 each review with one topic.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&lt;example&gt;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“Arrived after 10 days” → delivery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&lt;/example&gt;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&lt;example&gt;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“Stitching came off in a week” → quality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&lt;/example&gt;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&lt;example&gt;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“Cheaper on another site” → price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&lt;/example&gt;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tag: “The box was crushed”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0" y="1874520"/>
            <a:ext cx="3840480" cy="1115568"/>
          </a:xfrm>
          <a:prstGeom prst="roundRect">
            <a:avLst>
              <a:gd name="adj" fmla="val 983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3500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examples. Fine for simple, common tasks.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0" y="3136392"/>
            <a:ext cx="3840480" cy="1115568"/>
          </a:xfrm>
          <a:prstGeom prst="roundRect">
            <a:avLst>
              <a:gd name="adj" fmla="val 983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2668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3611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2–5 examples. Locks in format, labels and tone.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0" y="4398264"/>
            <a:ext cx="3840480" cy="1115568"/>
          </a:xfrm>
          <a:prstGeom prst="roundRect">
            <a:avLst>
              <a:gd name="adj" fmla="val 983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26680" y="4507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487375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examples varied. Wrap them in &lt;example&gt; tags. Still works with thinking models.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are the fastest way to say “do it like this”.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4  ·  STRUCTURE WITH TAGS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instructions from data.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mixed together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60320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 this and keep it short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focus on complaints here 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text: The delivery was late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the box was damaged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please use bullet points...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Clearly separated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60320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 the main complaints.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3 bullet points.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&lt;/instructions&gt;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&lt;reviews&gt;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delivery was late and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 was damaged...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&lt;/reviews&gt;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tell the model what’s an instruction and what’s just data.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5  ·  DEFINE SUCCESS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goal and a finish line, not a procedure.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60320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query the table.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group by city.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sort descending.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4: take the top 5.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5: format nicely.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+ success criteria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60320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which cities drive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good answer: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uses the semantic view metrics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shows top 5 with ₹ values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flags any city that fell vs 2024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models want goals. Tell them what done looks like.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6  ·  THINKING AND EFFORT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ask it to think. Switch thinking on.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57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effort / thinking off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Classify, extract, rewrite, short answers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cheap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057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effort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everyday tasks: SQL, summaries, drafts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2057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effort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analysis, planning, tricky debugging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Slower, costs more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526280"/>
            <a:ext cx="10515600" cy="960120"/>
          </a:xfrm>
          <a:prstGeom prst="roundRect">
            <a:avLst>
              <a:gd name="adj" fmla="val 11429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52628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Skip: </a:t>
            </a:r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“think step by step” on reasoning models. They already reason internally. Use the API’s thinking or effort setting instead.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effort to the task, like choosing the model in Lecture 30.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7  ·  LONG AGENT TASKS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tasks: brief the agent, then let it work.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73152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874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finished looks like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18745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cleaned STAGING layer, with every table deduplicated”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10515600" cy="73152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limits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743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must know and must not 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7432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“RAW is read-only. Data ends Dec 2025.”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10515600" cy="73152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way to check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proves its own work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611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“Compare row counts before and after each step”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480560"/>
            <a:ext cx="10515600" cy="73152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480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notes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tracks what’s done and what’s next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4480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“Keep a todo list and update it as you go”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split into steps when you need a human check in between, or a fixed pipeline that runs the same way every day.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agents can run for hours. A clear goal and a way to check matter more than splitting the work.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DOING THESE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Tricks that were for older models.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621792"/>
          </a:xfrm>
          <a:prstGeom prst="roundRect">
            <a:avLst>
              <a:gd name="adj" fmla="val 1764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7452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“Think step by step”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87452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reasoning models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624328"/>
            <a:ext cx="10515600" cy="621792"/>
          </a:xfrm>
          <a:prstGeom prst="roundRect">
            <a:avLst>
              <a:gd name="adj" fmla="val 1764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62432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62432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personas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62432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“world-class genius expert”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374136"/>
            <a:ext cx="10515600" cy="621792"/>
          </a:xfrm>
          <a:prstGeom prst="roundRect">
            <a:avLst>
              <a:gd name="adj" fmla="val 1764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37413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7413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primers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374136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“take a deep breath”, “my job depends on it”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123944"/>
            <a:ext cx="10515600" cy="621792"/>
          </a:xfrm>
          <a:prstGeom prst="roundRect">
            <a:avLst>
              <a:gd name="adj" fmla="val 1764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123944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1239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Shouting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412394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CAPS, MUST, NEVER without a reason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4873752"/>
            <a:ext cx="10515600" cy="621792"/>
          </a:xfrm>
          <a:prstGeom prst="roundRect">
            <a:avLst>
              <a:gd name="adj" fmla="val 1764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87375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87375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prompts for simple tasks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873752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cost and latency for nothing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models respond to clarity, not tricks.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CHECKLIST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send an important prompt.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7627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9050">
            <a:solidFill>
              <a:srgbClr val="29B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8745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task clear enough for a new colleague?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217627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905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18745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 give the context it can’t know?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36499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9050">
            <a:solidFill>
              <a:srgbClr val="29B5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45920" y="3063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every rule have a reason?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306324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336499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905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3063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 show an example of a good answer?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25196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455371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9050">
            <a:solidFill>
              <a:srgbClr val="29B5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42519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output format exact?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425196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55371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9050">
            <a:solidFill>
              <a:srgbClr val="29B5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42519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thinking or effort set for how hard this is?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questions. That’s 90% of prompting in 2026.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2026-10-03T02:31:40Z</dcterms:created>
  <dcterms:modified xsi:type="dcterms:W3CDTF">2026-10-03T02:31:40Z</dcterms:modified>
</cp:coreProperties>
</file>