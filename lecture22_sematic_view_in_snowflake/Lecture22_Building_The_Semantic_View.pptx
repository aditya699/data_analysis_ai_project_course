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lecture: why. This lecture: what it actually is in Snowflake, how it gets used, and we build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contrast. A view is a saved SELECT. A semantic view is a saved dictionary: tables, joins, formulas, descriptions. Snowflake docs call it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two rows out loud. Point out the filter is baked into revenue: anyone who uses the word gets the filter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sketch, not runnable. AI_SQL_GENERATION is a plain-English note only Cortex Analyst reads. Ours says: data ends Dec 2025, so last month means Nov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A is deterministic, no LLM. Path B: per Snowflake docs, Cortex Analyst reads the semantic view definition and generates SQL against the physical tables directly. So the semantic view is context for the AI, not something it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slide. Bottom right is the Lecture 18-19 lesson: the rule itself can be wrong, and no AI can fix a wrong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rules. Stress these are our course rules. Then show the prompt and run it. Verification is the point of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LECTURE 22  ·  SEMANTIC VIEW</a:t>
            </a:r>
            <a:endParaRPr lang="en-US" sz="1400" dirty="0"/>
          </a:p>
        </p:txBody>
      </p:sp>
      <p:sp>
        <p:nvSpPr>
          <p:cNvPr id="3" name="Text 1"/>
          <p:cNvSpPr txBox="1"/>
          <p:nvPr/>
        </p:nvSpPr>
        <p:spPr>
          <a:xfrm>
            <a:off x="822960" y="2011680"/>
            <a:ext cx="10515600" cy="1097280"/>
          </a:xfrm>
          <a:prstGeom prst="rect">
            <a:avLst/>
          </a:prstGeom>
          <a:noFill/>
          <a:ln/>
        </p:spPr>
        <p:txBody>
          <a:bodyPr wrap="square" lIns="0" tIns="0" rIns="0" bIns="0" rtlCol="0" anchor="ctr"/>
          <a:lstStyle/>
          <a:p>
            <a:pPr indent="0" marL="0">
              <a:buNone/>
            </a:pPr>
            <a:r>
              <a:rPr lang="en-US" sz="5400" b="1" dirty="0">
                <a:solidFill>
                  <a:srgbClr val="F5F5F7"/>
                </a:solidFill>
                <a:latin typeface="Arial" pitchFamily="34" charset="0"/>
                <a:ea typeface="Arial" pitchFamily="34" charset="-122"/>
                <a:cs typeface="Arial" pitchFamily="34" charset="-120"/>
              </a:rPr>
              <a:t>Building the Semantic View</a:t>
            </a:r>
            <a:endParaRPr lang="en-US" sz="5400" dirty="0"/>
          </a:p>
        </p:txBody>
      </p:sp>
      <p:sp>
        <p:nvSpPr>
          <p:cNvPr id="4" name="Text 2"/>
          <p:cNvSpPr txBox="1"/>
          <p:nvPr/>
        </p:nvSpPr>
        <p:spPr>
          <a:xfrm>
            <a:off x="822960" y="3291840"/>
            <a:ext cx="10515600" cy="1097280"/>
          </a:xfrm>
          <a:prstGeom prst="rect">
            <a:avLst/>
          </a:prstGeom>
          <a:noFill/>
          <a:ln/>
        </p:spPr>
        <p:txBody>
          <a:bodyPr wrap="square" lIns="0" tIns="0" rIns="0" bIns="0" rtlCol="0" anchor="ctr"/>
          <a:lstStyle/>
          <a:p>
            <a:pPr indent="0" marL="0">
              <a:buNone/>
            </a:pPr>
            <a:r>
              <a:rPr lang="en-US" sz="2400" dirty="0">
                <a:solidFill>
                  <a:srgbClr val="A1A1A6"/>
                </a:solidFill>
                <a:latin typeface="Arial" pitchFamily="34" charset="0"/>
                <a:ea typeface="Arial" pitchFamily="34" charset="-122"/>
                <a:cs typeface="Arial" pitchFamily="34" charset="-120"/>
              </a:rPr>
              <a:t>Writing down what OrderIQ’s data means,</a:t>
            </a:r>
            <a:endParaRPr lang="en-US" sz="2400" dirty="0"/>
          </a:p>
          <a:p>
            <a:pPr indent="0" marL="0">
              <a:buNone/>
            </a:pPr>
            <a:r>
              <a:rPr lang="en-US" sz="2400" dirty="0">
                <a:solidFill>
                  <a:srgbClr val="A1A1A6"/>
                </a:solidFill>
                <a:latin typeface="Arial" pitchFamily="34" charset="0"/>
                <a:ea typeface="Arial" pitchFamily="34" charset="-122"/>
                <a:cs typeface="Arial" pitchFamily="34" charset="-120"/>
              </a:rPr>
              <a:t>so every human and every AI uses the same definitions.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1  ·  VIEW VS SEMANTIC VIEW</a:t>
            </a:r>
            <a:endParaRPr lang="en-US" sz="1400" dirty="0"/>
          </a:p>
        </p:txBody>
      </p:sp>
      <p:sp>
        <p:nvSpPr>
          <p:cNvPr id="3" name="Text 1"/>
          <p:cNvSpPr txBox="1"/>
          <p:nvPr/>
        </p:nvSpPr>
        <p:spPr>
          <a:xfrm>
            <a:off x="822960" y="914400"/>
            <a:ext cx="10789920" cy="731520"/>
          </a:xfrm>
          <a:prstGeom prst="rect">
            <a:avLst/>
          </a:prstGeom>
          <a:noFill/>
          <a:ln/>
        </p:spPr>
        <p:txBody>
          <a:bodyPr wrap="square" lIns="0" tIns="0" rIns="0" bIns="0" rtlCol="0" anchor="ctr"/>
          <a:lstStyle/>
          <a:p>
            <a:pPr indent="0" marL="0">
              <a:buNone/>
            </a:pPr>
            <a:r>
              <a:rPr lang="en-US" sz="3000" b="1" dirty="0">
                <a:solidFill>
                  <a:srgbClr val="F5F5F7"/>
                </a:solidFill>
                <a:latin typeface="Arial" pitchFamily="34" charset="0"/>
                <a:ea typeface="Arial" pitchFamily="34" charset="-122"/>
                <a:cs typeface="Arial" pitchFamily="34" charset="-120"/>
              </a:rPr>
              <a:t>A view saves a query. A semantic view saves meaning.</a:t>
            </a:r>
            <a:endParaRPr lang="en-US" sz="3000" dirty="0"/>
          </a:p>
        </p:txBody>
      </p:sp>
      <p:sp>
        <p:nvSpPr>
          <p:cNvPr id="4" name="Shape 2"/>
          <p:cNvSpPr/>
          <p:nvPr/>
        </p:nvSpPr>
        <p:spPr>
          <a:xfrm>
            <a:off x="822960" y="1920240"/>
            <a:ext cx="5029200" cy="3566160"/>
          </a:xfrm>
          <a:prstGeom prst="roundRect">
            <a:avLst>
              <a:gd name="adj" fmla="val 3077"/>
            </a:avLst>
          </a:prstGeom>
          <a:solidFill>
            <a:srgbClr val="1D1D1F"/>
          </a:solidFill>
          <a:ln w="12700">
            <a:solidFill>
              <a:srgbClr val="3A3A3C"/>
            </a:solidFill>
            <a:prstDash val="solid"/>
          </a:ln>
        </p:spPr>
      </p:sp>
      <p:sp>
        <p:nvSpPr>
          <p:cNvPr id="5" name="Text 3"/>
          <p:cNvSpPr txBox="1"/>
          <p:nvPr/>
        </p:nvSpPr>
        <p:spPr>
          <a:xfrm>
            <a:off x="1097280" y="2103120"/>
            <a:ext cx="4572000" cy="457200"/>
          </a:xfrm>
          <a:prstGeom prst="rect">
            <a:avLst/>
          </a:prstGeom>
          <a:noFill/>
          <a:ln/>
        </p:spPr>
        <p:txBody>
          <a:bodyPr wrap="square" lIns="0" tIns="0" rIns="0" bIns="0" rtlCol="0" anchor="ctr"/>
          <a:lstStyle/>
          <a:p>
            <a:pPr indent="0" marL="0">
              <a:buNone/>
            </a:pPr>
            <a:r>
              <a:rPr lang="en-US" sz="2200" b="1" dirty="0">
                <a:solidFill>
                  <a:srgbClr val="F5F5F7"/>
                </a:solidFill>
                <a:latin typeface="Arial" pitchFamily="34" charset="0"/>
                <a:ea typeface="Arial" pitchFamily="34" charset="-122"/>
                <a:cs typeface="Arial" pitchFamily="34" charset="-120"/>
              </a:rPr>
              <a:t>Normal view</a:t>
            </a:r>
            <a:endParaRPr lang="en-US" sz="2200" dirty="0"/>
          </a:p>
        </p:txBody>
      </p:sp>
      <p:sp>
        <p:nvSpPr>
          <p:cNvPr id="6" name="Text 4"/>
          <p:cNvSpPr txBox="1"/>
          <p:nvPr/>
        </p:nvSpPr>
        <p:spPr>
          <a:xfrm>
            <a:off x="1097280" y="2697480"/>
            <a:ext cx="4572000" cy="1005840"/>
          </a:xfrm>
          <a:prstGeom prst="rect">
            <a:avLst/>
          </a:prstGeom>
          <a:noFill/>
          <a:ln/>
        </p:spPr>
        <p:txBody>
          <a:bodyPr wrap="square" lIns="0" tIns="0" rIns="0" bIns="0" rtlCol="0" anchor="ctr"/>
          <a:lstStyle/>
          <a:p>
            <a:pPr indent="0" marL="0">
              <a:buNone/>
            </a:pPr>
            <a:r>
              <a:rPr lang="en-US" sz="1500" dirty="0">
                <a:solidFill>
                  <a:srgbClr val="29B5E8"/>
                </a:solidFill>
                <a:latin typeface="Courier New" pitchFamily="34" charset="0"/>
                <a:ea typeface="Courier New" pitchFamily="34" charset="-122"/>
                <a:cs typeface="Courier New" pitchFamily="34" charset="-120"/>
              </a:rPr>
              <a:t>CREATE VIEW v AS</a:t>
            </a:r>
            <a:endParaRPr lang="en-US" sz="1500" dirty="0"/>
          </a:p>
          <a:p>
            <a:pPr indent="0" marL="0">
              <a:buNone/>
            </a:pPr>
            <a:r>
              <a:rPr lang="en-US" sz="1500" dirty="0">
                <a:solidFill>
                  <a:srgbClr val="29B5E8"/>
                </a:solidFill>
                <a:latin typeface="Courier New" pitchFamily="34" charset="0"/>
                <a:ea typeface="Courier New" pitchFamily="34" charset="-122"/>
                <a:cs typeface="Courier New" pitchFamily="34" charset="-120"/>
              </a:rPr>
              <a:t>  SELECT ... FROM ...</a:t>
            </a:r>
            <a:endParaRPr lang="en-US" sz="1500" dirty="0"/>
          </a:p>
          <a:p>
            <a:pPr indent="0" marL="0">
              <a:buNone/>
            </a:pPr>
            <a:r>
              <a:rPr lang="en-US" sz="1500" dirty="0">
                <a:solidFill>
                  <a:srgbClr val="29B5E8"/>
                </a:solidFill>
                <a:latin typeface="Courier New" pitchFamily="34" charset="0"/>
                <a:ea typeface="Courier New" pitchFamily="34" charset="-122"/>
                <a:cs typeface="Courier New" pitchFamily="34" charset="-120"/>
              </a:rPr>
              <a:t>  JOIN ... WHERE ...</a:t>
            </a:r>
            <a:endParaRPr lang="en-US" sz="1500" dirty="0"/>
          </a:p>
        </p:txBody>
      </p:sp>
      <p:sp>
        <p:nvSpPr>
          <p:cNvPr id="7" name="Text 5"/>
          <p:cNvSpPr txBox="1"/>
          <p:nvPr/>
        </p:nvSpPr>
        <p:spPr>
          <a:xfrm>
            <a:off x="1097280" y="3886200"/>
            <a:ext cx="4572000" cy="1371600"/>
          </a:xfrm>
          <a:prstGeom prst="rect">
            <a:avLst/>
          </a:prstGeom>
          <a:noFill/>
          <a:ln/>
        </p:spPr>
        <p:txBody>
          <a:bodyPr wrap="square" lIns="0" tIns="0" rIns="0" bIns="0" rtlCol="0" anchor="ctr"/>
          <a:lstStyle/>
          <a:p>
            <a:pPr indent="0" marL="0">
              <a:spcAft>
                <a:spcPts val="600"/>
              </a:spcAft>
              <a:buNone/>
            </a:pPr>
            <a:r>
              <a:rPr lang="en-US" sz="1600" dirty="0">
                <a:solidFill>
                  <a:srgbClr val="A1A1A6"/>
                </a:solidFill>
                <a:latin typeface="Arial" pitchFamily="34" charset="0"/>
                <a:ea typeface="Arial" pitchFamily="34" charset="-122"/>
                <a:cs typeface="Arial" pitchFamily="34" charset="-120"/>
              </a:rPr>
              <a:t>Stores ONE fixed query</a:t>
            </a:r>
            <a:endParaRPr lang="en-US" sz="1600" dirty="0"/>
          </a:p>
          <a:p>
            <a:pPr indent="0" marL="0">
              <a:spcAft>
                <a:spcPts val="600"/>
              </a:spcAft>
              <a:buNone/>
            </a:pPr>
            <a:r>
              <a:rPr lang="en-US" sz="1600" dirty="0">
                <a:solidFill>
                  <a:srgbClr val="A1A1A6"/>
                </a:solidFill>
                <a:latin typeface="Arial" pitchFamily="34" charset="0"/>
                <a:ea typeface="Arial" pitchFamily="34" charset="-122"/>
                <a:cs typeface="Arial" pitchFamily="34" charset="-120"/>
              </a:rPr>
              <a:t>Always returns the same shape</a:t>
            </a:r>
            <a:endParaRPr lang="en-US" sz="1600" dirty="0"/>
          </a:p>
          <a:p>
            <a:pPr indent="0" marL="0">
              <a:spcAft>
                <a:spcPts val="600"/>
              </a:spcAft>
              <a:buNone/>
            </a:pPr>
            <a:r>
              <a:rPr lang="en-US" sz="1600" dirty="0">
                <a:solidFill>
                  <a:srgbClr val="A1A1A6"/>
                </a:solidFill>
                <a:latin typeface="Arial" pitchFamily="34" charset="0"/>
                <a:ea typeface="Arial" pitchFamily="34" charset="-122"/>
                <a:cs typeface="Arial" pitchFamily="34" charset="-120"/>
              </a:rPr>
              <a:t>Knows nothing about meaning</a:t>
            </a:r>
            <a:endParaRPr lang="en-US" sz="1600" dirty="0"/>
          </a:p>
        </p:txBody>
      </p:sp>
      <p:sp>
        <p:nvSpPr>
          <p:cNvPr id="8" name="Shape 6"/>
          <p:cNvSpPr/>
          <p:nvPr/>
        </p:nvSpPr>
        <p:spPr>
          <a:xfrm>
            <a:off x="6309360" y="1920240"/>
            <a:ext cx="5029200" cy="3566160"/>
          </a:xfrm>
          <a:prstGeom prst="roundRect">
            <a:avLst>
              <a:gd name="adj" fmla="val 3077"/>
            </a:avLst>
          </a:prstGeom>
          <a:solidFill>
            <a:srgbClr val="1D1D1F"/>
          </a:solidFill>
          <a:ln w="12700">
            <a:solidFill>
              <a:srgbClr val="29B5E8"/>
            </a:solidFill>
            <a:prstDash val="solid"/>
          </a:ln>
        </p:spPr>
      </p:sp>
      <p:sp>
        <p:nvSpPr>
          <p:cNvPr id="9" name="Text 7"/>
          <p:cNvSpPr txBox="1"/>
          <p:nvPr/>
        </p:nvSpPr>
        <p:spPr>
          <a:xfrm>
            <a:off x="6583680" y="2103120"/>
            <a:ext cx="4572000" cy="457200"/>
          </a:xfrm>
          <a:prstGeom prst="rect">
            <a:avLst/>
          </a:prstGeom>
          <a:noFill/>
          <a:ln/>
        </p:spPr>
        <p:txBody>
          <a:bodyPr wrap="square" lIns="0" tIns="0" rIns="0" bIns="0" rtlCol="0" anchor="ctr"/>
          <a:lstStyle/>
          <a:p>
            <a:pPr indent="0" marL="0">
              <a:buNone/>
            </a:pPr>
            <a:r>
              <a:rPr lang="en-US" sz="2200" b="1" dirty="0">
                <a:solidFill>
                  <a:srgbClr val="29B5E8"/>
                </a:solidFill>
                <a:latin typeface="Arial" pitchFamily="34" charset="0"/>
                <a:ea typeface="Arial" pitchFamily="34" charset="-122"/>
                <a:cs typeface="Arial" pitchFamily="34" charset="-120"/>
              </a:rPr>
              <a:t>Semantic view</a:t>
            </a:r>
            <a:endParaRPr lang="en-US" sz="2200" dirty="0"/>
          </a:p>
        </p:txBody>
      </p:sp>
      <p:sp>
        <p:nvSpPr>
          <p:cNvPr id="10" name="Text 8"/>
          <p:cNvSpPr txBox="1"/>
          <p:nvPr/>
        </p:nvSpPr>
        <p:spPr>
          <a:xfrm>
            <a:off x="6583680" y="2697480"/>
            <a:ext cx="4572000" cy="1005840"/>
          </a:xfrm>
          <a:prstGeom prst="rect">
            <a:avLst/>
          </a:prstGeom>
          <a:noFill/>
          <a:ln/>
        </p:spPr>
        <p:txBody>
          <a:bodyPr wrap="square" lIns="0" tIns="0" rIns="0" bIns="0" rtlCol="0" anchor="ctr"/>
          <a:lstStyle/>
          <a:p>
            <a:pPr indent="0" marL="0">
              <a:buNone/>
            </a:pPr>
            <a:r>
              <a:rPr lang="en-US" sz="1500" dirty="0">
                <a:solidFill>
                  <a:srgbClr val="29B5E8"/>
                </a:solidFill>
                <a:latin typeface="Courier New" pitchFamily="34" charset="0"/>
                <a:ea typeface="Courier New" pitchFamily="34" charset="-122"/>
                <a:cs typeface="Courier New" pitchFamily="34" charset="-120"/>
              </a:rPr>
              <a:t>CREATE SEMANTIC VIEW sv</a:t>
            </a:r>
            <a:endParaRPr lang="en-US" sz="1500" dirty="0"/>
          </a:p>
          <a:p>
            <a:pPr indent="0" marL="0">
              <a:buNone/>
            </a:pPr>
            <a:r>
              <a:rPr lang="en-US" sz="1500" dirty="0">
                <a:solidFill>
                  <a:srgbClr val="29B5E8"/>
                </a:solidFill>
                <a:latin typeface="Courier New" pitchFamily="34" charset="0"/>
                <a:ea typeface="Courier New" pitchFamily="34" charset="-122"/>
                <a:cs typeface="Courier New" pitchFamily="34" charset="-120"/>
              </a:rPr>
              <a:t>  TABLES  RELATIONSHIPS</a:t>
            </a:r>
            <a:endParaRPr lang="en-US" sz="1500" dirty="0"/>
          </a:p>
          <a:p>
            <a:pPr indent="0" marL="0">
              <a:buNone/>
            </a:pPr>
            <a:r>
              <a:rPr lang="en-US" sz="1500" dirty="0">
                <a:solidFill>
                  <a:srgbClr val="29B5E8"/>
                </a:solidFill>
                <a:latin typeface="Courier New" pitchFamily="34" charset="0"/>
                <a:ea typeface="Courier New" pitchFamily="34" charset="-122"/>
                <a:cs typeface="Courier New" pitchFamily="34" charset="-120"/>
              </a:rPr>
              <a:t>  FACTS  DIMENSIONS  METRICS</a:t>
            </a:r>
            <a:endParaRPr lang="en-US" sz="1500" dirty="0"/>
          </a:p>
        </p:txBody>
      </p:sp>
      <p:sp>
        <p:nvSpPr>
          <p:cNvPr id="11" name="Text 9"/>
          <p:cNvSpPr txBox="1"/>
          <p:nvPr/>
        </p:nvSpPr>
        <p:spPr>
          <a:xfrm>
            <a:off x="6583680" y="3886200"/>
            <a:ext cx="4572000" cy="1371600"/>
          </a:xfrm>
          <a:prstGeom prst="rect">
            <a:avLst/>
          </a:prstGeom>
          <a:noFill/>
          <a:ln/>
        </p:spPr>
        <p:txBody>
          <a:bodyPr wrap="square" lIns="0" tIns="0" rIns="0" bIns="0" rtlCol="0" anchor="ctr"/>
          <a:lstStyle/>
          <a:p>
            <a:pPr indent="0" marL="0">
              <a:spcAft>
                <a:spcPts val="600"/>
              </a:spcAft>
              <a:buNone/>
            </a:pPr>
            <a:r>
              <a:rPr lang="en-US" sz="1600" dirty="0">
                <a:solidFill>
                  <a:srgbClr val="F5F5F7"/>
                </a:solidFill>
                <a:latin typeface="Arial" pitchFamily="34" charset="0"/>
                <a:ea typeface="Arial" pitchFamily="34" charset="-122"/>
                <a:cs typeface="Arial" pitchFamily="34" charset="-120"/>
              </a:rPr>
              <a:t>Stores DEFINITIONS, not a query</a:t>
            </a:r>
            <a:endParaRPr lang="en-US" sz="1600" dirty="0"/>
          </a:p>
          <a:p>
            <a:pPr indent="0" marL="0">
              <a:spcAft>
                <a:spcPts val="600"/>
              </a:spcAft>
              <a:buNone/>
            </a:pPr>
            <a:r>
              <a:rPr lang="en-US" sz="1600" dirty="0">
                <a:solidFill>
                  <a:srgbClr val="F5F5F7"/>
                </a:solidFill>
                <a:latin typeface="Arial" pitchFamily="34" charset="0"/>
                <a:ea typeface="Arial" pitchFamily="34" charset="-122"/>
                <a:cs typeface="Arial" pitchFamily="34" charset="-120"/>
              </a:rPr>
              <a:t>Holds no data — it’s metadata</a:t>
            </a:r>
            <a:endParaRPr lang="en-US" sz="1600" dirty="0"/>
          </a:p>
          <a:p>
            <a:pPr indent="0" marL="0">
              <a:spcAft>
                <a:spcPts val="600"/>
              </a:spcAft>
              <a:buNone/>
            </a:pPr>
            <a:r>
              <a:rPr lang="en-US" sz="1600" dirty="0">
                <a:solidFill>
                  <a:srgbClr val="F5F5F7"/>
                </a:solidFill>
                <a:latin typeface="Arial" pitchFamily="34" charset="0"/>
                <a:ea typeface="Arial" pitchFamily="34" charset="-122"/>
                <a:cs typeface="Arial" pitchFamily="34" charset="-120"/>
              </a:rPr>
              <a:t>SQL gets built when someone asks</a:t>
            </a:r>
            <a:endParaRPr lang="en-US" sz="1600" dirty="0"/>
          </a:p>
        </p:txBody>
      </p:sp>
      <p:sp>
        <p:nvSpPr>
          <p:cNvPr id="12" name="Text 10"/>
          <p:cNvSpPr txBox="1"/>
          <p:nvPr/>
        </p:nvSpPr>
        <p:spPr>
          <a:xfrm>
            <a:off x="822960" y="585216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No data moves. We’re only writing down what the data means.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2  ·  THINK OF IT AS A DICTIONARY</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Business words, each with its SQL formula.</a:t>
            </a:r>
            <a:endParaRPr lang="en-US" sz="3400" dirty="0"/>
          </a:p>
        </p:txBody>
      </p:sp>
      <p:sp>
        <p:nvSpPr>
          <p:cNvPr id="4" name="Shape 2"/>
          <p:cNvSpPr/>
          <p:nvPr/>
        </p:nvSpPr>
        <p:spPr>
          <a:xfrm>
            <a:off x="822960" y="1874520"/>
            <a:ext cx="10515600" cy="548640"/>
          </a:xfrm>
          <a:prstGeom prst="roundRect">
            <a:avLst>
              <a:gd name="adj" fmla="val 20000"/>
            </a:avLst>
          </a:prstGeom>
          <a:solidFill>
            <a:srgbClr val="1D1D1F"/>
          </a:solidFill>
          <a:ln w="12700">
            <a:solidFill>
              <a:srgbClr val="29B5E8"/>
            </a:solidFill>
            <a:prstDash val="solid"/>
          </a:ln>
        </p:spPr>
      </p:sp>
      <p:sp>
        <p:nvSpPr>
          <p:cNvPr id="5" name="Text 3"/>
          <p:cNvSpPr txBox="1"/>
          <p:nvPr/>
        </p:nvSpPr>
        <p:spPr>
          <a:xfrm>
            <a:off x="1097280" y="1874520"/>
            <a:ext cx="2743200" cy="54864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Business word</a:t>
            </a:r>
            <a:endParaRPr lang="en-US" sz="1600" dirty="0"/>
          </a:p>
        </p:txBody>
      </p:sp>
      <p:sp>
        <p:nvSpPr>
          <p:cNvPr id="6" name="Text 4"/>
          <p:cNvSpPr txBox="1"/>
          <p:nvPr/>
        </p:nvSpPr>
        <p:spPr>
          <a:xfrm>
            <a:off x="4114800" y="1874520"/>
            <a:ext cx="7040880" cy="54864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Saved formula</a:t>
            </a:r>
            <a:endParaRPr lang="en-US" sz="1600" dirty="0"/>
          </a:p>
        </p:txBody>
      </p:sp>
      <p:sp>
        <p:nvSpPr>
          <p:cNvPr id="7" name="Shape 5"/>
          <p:cNvSpPr/>
          <p:nvPr/>
        </p:nvSpPr>
        <p:spPr>
          <a:xfrm>
            <a:off x="822960" y="2560320"/>
            <a:ext cx="10515600" cy="530352"/>
          </a:xfrm>
          <a:prstGeom prst="roundRect">
            <a:avLst>
              <a:gd name="adj" fmla="val 20690"/>
            </a:avLst>
          </a:prstGeom>
          <a:solidFill>
            <a:srgbClr val="1D1D1F"/>
          </a:solidFill>
          <a:ln w="12700">
            <a:solidFill>
              <a:srgbClr val="3A3A3C"/>
            </a:solidFill>
            <a:prstDash val="solid"/>
          </a:ln>
        </p:spPr>
      </p:sp>
      <p:sp>
        <p:nvSpPr>
          <p:cNvPr id="8" name="Text 6"/>
          <p:cNvSpPr txBox="1"/>
          <p:nvPr/>
        </p:nvSpPr>
        <p:spPr>
          <a:xfrm>
            <a:off x="1097280" y="2560320"/>
            <a:ext cx="2743200" cy="530352"/>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revenue</a:t>
            </a:r>
            <a:endParaRPr lang="en-US" sz="1800" dirty="0"/>
          </a:p>
        </p:txBody>
      </p:sp>
      <p:sp>
        <p:nvSpPr>
          <p:cNvPr id="9" name="Text 7"/>
          <p:cNvSpPr txBox="1"/>
          <p:nvPr/>
        </p:nvSpPr>
        <p:spPr>
          <a:xfrm>
            <a:off x="4114800" y="2560320"/>
            <a:ext cx="7040880" cy="530352"/>
          </a:xfrm>
          <a:prstGeom prst="rect">
            <a:avLst/>
          </a:prstGeom>
          <a:noFill/>
          <a:ln/>
        </p:spPr>
        <p:txBody>
          <a:bodyPr wrap="square" lIns="0" tIns="0" rIns="0" bIns="0" rtlCol="0" anchor="ctr"/>
          <a:lstStyle/>
          <a:p>
            <a:pPr indent="0" marL="0">
              <a:buNone/>
            </a:pPr>
            <a:r>
              <a:rPr lang="en-US" sz="1500" dirty="0">
                <a:solidFill>
                  <a:srgbClr val="F5F5F7"/>
                </a:solidFill>
                <a:latin typeface="Courier New" pitchFamily="34" charset="0"/>
                <a:ea typeface="Courier New" pitchFamily="34" charset="-122"/>
                <a:cs typeface="Courier New" pitchFamily="34" charset="-120"/>
              </a:rPr>
              <a:t>SUM(line_revenue)  excl. cancelled + pending</a:t>
            </a:r>
            <a:endParaRPr lang="en-US" sz="1500" dirty="0"/>
          </a:p>
        </p:txBody>
      </p:sp>
      <p:sp>
        <p:nvSpPr>
          <p:cNvPr id="10" name="Shape 8"/>
          <p:cNvSpPr/>
          <p:nvPr/>
        </p:nvSpPr>
        <p:spPr>
          <a:xfrm>
            <a:off x="822960" y="3182112"/>
            <a:ext cx="10515600" cy="530352"/>
          </a:xfrm>
          <a:prstGeom prst="roundRect">
            <a:avLst>
              <a:gd name="adj" fmla="val 20690"/>
            </a:avLst>
          </a:prstGeom>
          <a:solidFill>
            <a:srgbClr val="1D1D1F"/>
          </a:solidFill>
          <a:ln w="12700">
            <a:solidFill>
              <a:srgbClr val="3A3A3C"/>
            </a:solidFill>
            <a:prstDash val="solid"/>
          </a:ln>
        </p:spPr>
      </p:sp>
      <p:sp>
        <p:nvSpPr>
          <p:cNvPr id="11" name="Text 9"/>
          <p:cNvSpPr txBox="1"/>
          <p:nvPr/>
        </p:nvSpPr>
        <p:spPr>
          <a:xfrm>
            <a:off x="1097280" y="3182112"/>
            <a:ext cx="2743200" cy="530352"/>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orders</a:t>
            </a:r>
            <a:endParaRPr lang="en-US" sz="1800" dirty="0"/>
          </a:p>
        </p:txBody>
      </p:sp>
      <p:sp>
        <p:nvSpPr>
          <p:cNvPr id="12" name="Text 10"/>
          <p:cNvSpPr txBox="1"/>
          <p:nvPr/>
        </p:nvSpPr>
        <p:spPr>
          <a:xfrm>
            <a:off x="4114800" y="3182112"/>
            <a:ext cx="7040880" cy="530352"/>
          </a:xfrm>
          <a:prstGeom prst="rect">
            <a:avLst/>
          </a:prstGeom>
          <a:noFill/>
          <a:ln/>
        </p:spPr>
        <p:txBody>
          <a:bodyPr wrap="square" lIns="0" tIns="0" rIns="0" bIns="0" rtlCol="0" anchor="ctr"/>
          <a:lstStyle/>
          <a:p>
            <a:pPr indent="0" marL="0">
              <a:buNone/>
            </a:pPr>
            <a:r>
              <a:rPr lang="en-US" sz="1500" dirty="0">
                <a:solidFill>
                  <a:srgbClr val="F5F5F7"/>
                </a:solidFill>
                <a:latin typeface="Courier New" pitchFamily="34" charset="0"/>
                <a:ea typeface="Courier New" pitchFamily="34" charset="-122"/>
                <a:cs typeface="Courier New" pitchFamily="34" charset="-120"/>
              </a:rPr>
              <a:t>COUNT(DISTINCT order_id)  excl. cancelled + pending</a:t>
            </a:r>
            <a:endParaRPr lang="en-US" sz="1500" dirty="0"/>
          </a:p>
        </p:txBody>
      </p:sp>
      <p:sp>
        <p:nvSpPr>
          <p:cNvPr id="13" name="Shape 11"/>
          <p:cNvSpPr/>
          <p:nvPr/>
        </p:nvSpPr>
        <p:spPr>
          <a:xfrm>
            <a:off x="822960" y="3803904"/>
            <a:ext cx="10515600" cy="530352"/>
          </a:xfrm>
          <a:prstGeom prst="roundRect">
            <a:avLst>
              <a:gd name="adj" fmla="val 20690"/>
            </a:avLst>
          </a:prstGeom>
          <a:solidFill>
            <a:srgbClr val="1D1D1F"/>
          </a:solidFill>
          <a:ln w="12700">
            <a:solidFill>
              <a:srgbClr val="3A3A3C"/>
            </a:solidFill>
            <a:prstDash val="solid"/>
          </a:ln>
        </p:spPr>
      </p:sp>
      <p:sp>
        <p:nvSpPr>
          <p:cNvPr id="14" name="Text 12"/>
          <p:cNvSpPr txBox="1"/>
          <p:nvPr/>
        </p:nvSpPr>
        <p:spPr>
          <a:xfrm>
            <a:off x="1097280" y="3803904"/>
            <a:ext cx="2743200" cy="530352"/>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category</a:t>
            </a:r>
            <a:endParaRPr lang="en-US" sz="1800" dirty="0"/>
          </a:p>
        </p:txBody>
      </p:sp>
      <p:sp>
        <p:nvSpPr>
          <p:cNvPr id="15" name="Text 13"/>
          <p:cNvSpPr txBox="1"/>
          <p:nvPr/>
        </p:nvSpPr>
        <p:spPr>
          <a:xfrm>
            <a:off x="4114800" y="3803904"/>
            <a:ext cx="7040880" cy="530352"/>
          </a:xfrm>
          <a:prstGeom prst="rect">
            <a:avLst/>
          </a:prstGeom>
          <a:noFill/>
          <a:ln/>
        </p:spPr>
        <p:txBody>
          <a:bodyPr wrap="square" lIns="0" tIns="0" rIns="0" bIns="0" rtlCol="0" anchor="ctr"/>
          <a:lstStyle/>
          <a:p>
            <a:pPr indent="0" marL="0">
              <a:buNone/>
            </a:pPr>
            <a:r>
              <a:rPr lang="en-US" sz="1500" dirty="0">
                <a:solidFill>
                  <a:srgbClr val="F5F5F7"/>
                </a:solidFill>
                <a:latin typeface="Courier New" pitchFamily="34" charset="0"/>
                <a:ea typeface="Courier New" pitchFamily="34" charset="-122"/>
                <a:cs typeface="Courier New" pitchFamily="34" charset="-120"/>
              </a:rPr>
              <a:t>DIM_PRODUCT.category</a:t>
            </a:r>
            <a:endParaRPr lang="en-US" sz="1500" dirty="0"/>
          </a:p>
        </p:txBody>
      </p:sp>
      <p:sp>
        <p:nvSpPr>
          <p:cNvPr id="16" name="Shape 14"/>
          <p:cNvSpPr/>
          <p:nvPr/>
        </p:nvSpPr>
        <p:spPr>
          <a:xfrm>
            <a:off x="822960" y="4425696"/>
            <a:ext cx="10515600" cy="530352"/>
          </a:xfrm>
          <a:prstGeom prst="roundRect">
            <a:avLst>
              <a:gd name="adj" fmla="val 20690"/>
            </a:avLst>
          </a:prstGeom>
          <a:solidFill>
            <a:srgbClr val="1D1D1F"/>
          </a:solidFill>
          <a:ln w="12700">
            <a:solidFill>
              <a:srgbClr val="3A3A3C"/>
            </a:solidFill>
            <a:prstDash val="solid"/>
          </a:ln>
        </p:spPr>
      </p:sp>
      <p:sp>
        <p:nvSpPr>
          <p:cNvPr id="17" name="Text 15"/>
          <p:cNvSpPr txBox="1"/>
          <p:nvPr/>
        </p:nvSpPr>
        <p:spPr>
          <a:xfrm>
            <a:off x="1097280" y="4425696"/>
            <a:ext cx="2743200" cy="530352"/>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month</a:t>
            </a:r>
            <a:endParaRPr lang="en-US" sz="1800" dirty="0"/>
          </a:p>
        </p:txBody>
      </p:sp>
      <p:sp>
        <p:nvSpPr>
          <p:cNvPr id="18" name="Text 16"/>
          <p:cNvSpPr txBox="1"/>
          <p:nvPr/>
        </p:nvSpPr>
        <p:spPr>
          <a:xfrm>
            <a:off x="4114800" y="4425696"/>
            <a:ext cx="7040880" cy="530352"/>
          </a:xfrm>
          <a:prstGeom prst="rect">
            <a:avLst/>
          </a:prstGeom>
          <a:noFill/>
          <a:ln/>
        </p:spPr>
        <p:txBody>
          <a:bodyPr wrap="square" lIns="0" tIns="0" rIns="0" bIns="0" rtlCol="0" anchor="ctr"/>
          <a:lstStyle/>
          <a:p>
            <a:pPr indent="0" marL="0">
              <a:buNone/>
            </a:pPr>
            <a:r>
              <a:rPr lang="en-US" sz="1500" dirty="0">
                <a:solidFill>
                  <a:srgbClr val="F5F5F7"/>
                </a:solidFill>
                <a:latin typeface="Courier New" pitchFamily="34" charset="0"/>
                <a:ea typeface="Courier New" pitchFamily="34" charset="-122"/>
                <a:cs typeface="Courier New" pitchFamily="34" charset="-120"/>
              </a:rPr>
              <a:t>DIM_DATE.month</a:t>
            </a:r>
            <a:endParaRPr lang="en-US" sz="1500" dirty="0"/>
          </a:p>
        </p:txBody>
      </p:sp>
      <p:sp>
        <p:nvSpPr>
          <p:cNvPr id="19" name="Shape 17"/>
          <p:cNvSpPr/>
          <p:nvPr/>
        </p:nvSpPr>
        <p:spPr>
          <a:xfrm>
            <a:off x="822960" y="5047488"/>
            <a:ext cx="10515600" cy="530352"/>
          </a:xfrm>
          <a:prstGeom prst="roundRect">
            <a:avLst>
              <a:gd name="adj" fmla="val 20690"/>
            </a:avLst>
          </a:prstGeom>
          <a:solidFill>
            <a:srgbClr val="1D1D1F"/>
          </a:solidFill>
          <a:ln w="12700">
            <a:solidFill>
              <a:srgbClr val="3A3A3C"/>
            </a:solidFill>
            <a:prstDash val="solid"/>
          </a:ln>
        </p:spPr>
      </p:sp>
      <p:sp>
        <p:nvSpPr>
          <p:cNvPr id="20" name="Text 18"/>
          <p:cNvSpPr txBox="1"/>
          <p:nvPr/>
        </p:nvSpPr>
        <p:spPr>
          <a:xfrm>
            <a:off x="1097280" y="5047488"/>
            <a:ext cx="2743200" cy="530352"/>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join rule</a:t>
            </a:r>
            <a:endParaRPr lang="en-US" sz="1800" dirty="0"/>
          </a:p>
        </p:txBody>
      </p:sp>
      <p:sp>
        <p:nvSpPr>
          <p:cNvPr id="21" name="Text 19"/>
          <p:cNvSpPr txBox="1"/>
          <p:nvPr/>
        </p:nvSpPr>
        <p:spPr>
          <a:xfrm>
            <a:off x="4114800" y="5047488"/>
            <a:ext cx="7040880" cy="530352"/>
          </a:xfrm>
          <a:prstGeom prst="rect">
            <a:avLst/>
          </a:prstGeom>
          <a:noFill/>
          <a:ln/>
        </p:spPr>
        <p:txBody>
          <a:bodyPr wrap="square" lIns="0" tIns="0" rIns="0" bIns="0" rtlCol="0" anchor="ctr"/>
          <a:lstStyle/>
          <a:p>
            <a:pPr indent="0" marL="0">
              <a:buNone/>
            </a:pPr>
            <a:r>
              <a:rPr lang="en-US" sz="1500" dirty="0">
                <a:solidFill>
                  <a:srgbClr val="F5F5F7"/>
                </a:solidFill>
                <a:latin typeface="Courier New" pitchFamily="34" charset="0"/>
                <a:ea typeface="Courier New" pitchFamily="34" charset="-122"/>
                <a:cs typeface="Courier New" pitchFamily="34" charset="-120"/>
              </a:rPr>
              <a:t>FACT.product_key → DIM_PRODUCT</a:t>
            </a:r>
            <a:endParaRPr lang="en-US" sz="1500" dirty="0"/>
          </a:p>
        </p:txBody>
      </p:sp>
      <p:sp>
        <p:nvSpPr>
          <p:cNvPr id="22" name="Text 20"/>
          <p:cNvSpPr txBox="1"/>
          <p:nvPr/>
        </p:nvSpPr>
        <p:spPr>
          <a:xfrm>
            <a:off x="822960" y="589788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Define revenue once. Nobody, human or AI, has to guess it again.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3  ·  WHAT THE SQL LOOKS LIKE</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One command, a few blocks.</a:t>
            </a:r>
            <a:endParaRPr lang="en-US" sz="3400" dirty="0"/>
          </a:p>
        </p:txBody>
      </p:sp>
      <p:sp>
        <p:nvSpPr>
          <p:cNvPr id="4" name="Shape 2"/>
          <p:cNvSpPr/>
          <p:nvPr/>
        </p:nvSpPr>
        <p:spPr>
          <a:xfrm>
            <a:off x="822960" y="1828800"/>
            <a:ext cx="6400800" cy="3931920"/>
          </a:xfrm>
          <a:prstGeom prst="roundRect">
            <a:avLst>
              <a:gd name="adj" fmla="val 2791"/>
            </a:avLst>
          </a:prstGeom>
          <a:solidFill>
            <a:srgbClr val="1D1D1F"/>
          </a:solidFill>
          <a:ln w="12700">
            <a:solidFill>
              <a:srgbClr val="3A3A3C"/>
            </a:solidFill>
            <a:prstDash val="solid"/>
          </a:ln>
        </p:spPr>
      </p:sp>
      <p:sp>
        <p:nvSpPr>
          <p:cNvPr id="5" name="Text 3"/>
          <p:cNvSpPr txBox="1"/>
          <p:nvPr/>
        </p:nvSpPr>
        <p:spPr>
          <a:xfrm>
            <a:off x="1097280" y="2011680"/>
            <a:ext cx="5943600" cy="3566160"/>
          </a:xfrm>
          <a:prstGeom prst="rect">
            <a:avLst/>
          </a:prstGeom>
          <a:noFill/>
          <a:ln/>
        </p:spPr>
        <p:txBody>
          <a:bodyPr wrap="square" lIns="0" tIns="0" rIns="0" bIns="0" rtlCol="0" anchor="t"/>
          <a:lstStyle/>
          <a:p>
            <a:pPr indent="0" marL="0">
              <a:buNone/>
            </a:pPr>
            <a:r>
              <a:rPr lang="en-US" sz="1400" dirty="0">
                <a:solidFill>
                  <a:srgbClr val="F5F5F7"/>
                </a:solidFill>
                <a:latin typeface="Courier New" pitchFamily="34" charset="0"/>
                <a:ea typeface="Courier New" pitchFamily="34" charset="-122"/>
                <a:cs typeface="Courier New" pitchFamily="34" charset="-120"/>
              </a:rPr>
              <a:t>CREATE SEMANTIC VIEW ORDERIQ_SV</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  TABLES (fact, customer, product, date)</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  RELATIONSHIPS (</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    fact(product_key) REFERENCES product )</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  FACTS (fact.line_revenue ...)</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  DIMENSIONS (product.category ...)</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  METRICS (</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    fact.total_revenue AS SUM(...) )</a:t>
            </a:r>
            <a:endParaRPr lang="en-US" sz="1400" dirty="0"/>
          </a:p>
          <a:p>
            <a:pPr indent="0" marL="0">
              <a:buNone/>
            </a:pPr>
            <a:r>
              <a:rPr lang="en-US" sz="1400" dirty="0">
                <a:solidFill>
                  <a:srgbClr val="F5F5F7"/>
                </a:solidFill>
                <a:latin typeface="Courier New" pitchFamily="34" charset="0"/>
                <a:ea typeface="Courier New" pitchFamily="34" charset="-122"/>
                <a:cs typeface="Courier New" pitchFamily="34" charset="-120"/>
              </a:rPr>
              <a:t>  AI_SQL_GENERATION 'data ends Dec 2025'</a:t>
            </a:r>
            <a:endParaRPr lang="en-US" sz="1400" dirty="0"/>
          </a:p>
        </p:txBody>
      </p:sp>
      <p:sp>
        <p:nvSpPr>
          <p:cNvPr id="6" name="Text 4"/>
          <p:cNvSpPr txBox="1"/>
          <p:nvPr/>
        </p:nvSpPr>
        <p:spPr>
          <a:xfrm>
            <a:off x="7589520" y="1828800"/>
            <a:ext cx="3749040" cy="320040"/>
          </a:xfrm>
          <a:prstGeom prst="rect">
            <a:avLst/>
          </a:prstGeom>
          <a:noFill/>
          <a:ln/>
        </p:spPr>
        <p:txBody>
          <a:bodyPr wrap="square" lIns="0" tIns="0" rIns="0" bIns="0" rtlCol="0" anchor="ctr"/>
          <a:lstStyle/>
          <a:p>
            <a:pPr indent="0" marL="0">
              <a:buNone/>
            </a:pPr>
            <a:r>
              <a:rPr lang="en-US" sz="1400" b="1" dirty="0">
                <a:solidFill>
                  <a:srgbClr val="29B5E8"/>
                </a:solidFill>
                <a:latin typeface="Courier New" pitchFamily="34" charset="0"/>
                <a:ea typeface="Courier New" pitchFamily="34" charset="-122"/>
                <a:cs typeface="Courier New" pitchFamily="34" charset="-120"/>
              </a:rPr>
              <a:t>TABLES</a:t>
            </a:r>
            <a:endParaRPr lang="en-US" sz="1400" dirty="0"/>
          </a:p>
        </p:txBody>
      </p:sp>
      <p:sp>
        <p:nvSpPr>
          <p:cNvPr id="7" name="Text 5"/>
          <p:cNvSpPr txBox="1"/>
          <p:nvPr/>
        </p:nvSpPr>
        <p:spPr>
          <a:xfrm>
            <a:off x="7589520" y="2130552"/>
            <a:ext cx="3749040" cy="292608"/>
          </a:xfrm>
          <a:prstGeom prst="rect">
            <a:avLst/>
          </a:prstGeom>
          <a:noFill/>
          <a:ln/>
        </p:spPr>
        <p:txBody>
          <a:bodyPr wrap="square" lIns="0" tIns="0" rIns="0" bIns="0" rtlCol="0" anchor="ctr"/>
          <a:lstStyle/>
          <a:p>
            <a:pPr indent="0" marL="0">
              <a:buNone/>
            </a:pPr>
            <a:r>
              <a:rPr lang="en-US" sz="1400" dirty="0">
                <a:solidFill>
                  <a:srgbClr val="A1A1A6"/>
                </a:solidFill>
                <a:latin typeface="Arial" pitchFamily="34" charset="0"/>
                <a:ea typeface="Arial" pitchFamily="34" charset="-122"/>
                <a:cs typeface="Arial" pitchFamily="34" charset="-120"/>
              </a:rPr>
              <a:t>which tables</a:t>
            </a:r>
            <a:endParaRPr lang="en-US" sz="1400" dirty="0"/>
          </a:p>
        </p:txBody>
      </p:sp>
      <p:sp>
        <p:nvSpPr>
          <p:cNvPr id="8" name="Text 6"/>
          <p:cNvSpPr txBox="1"/>
          <p:nvPr/>
        </p:nvSpPr>
        <p:spPr>
          <a:xfrm>
            <a:off x="7589520" y="2487168"/>
            <a:ext cx="3749040" cy="320040"/>
          </a:xfrm>
          <a:prstGeom prst="rect">
            <a:avLst/>
          </a:prstGeom>
          <a:noFill/>
          <a:ln/>
        </p:spPr>
        <p:txBody>
          <a:bodyPr wrap="square" lIns="0" tIns="0" rIns="0" bIns="0" rtlCol="0" anchor="ctr"/>
          <a:lstStyle/>
          <a:p>
            <a:pPr indent="0" marL="0">
              <a:buNone/>
            </a:pPr>
            <a:r>
              <a:rPr lang="en-US" sz="1400" b="1" dirty="0">
                <a:solidFill>
                  <a:srgbClr val="29B5E8"/>
                </a:solidFill>
                <a:latin typeface="Courier New" pitchFamily="34" charset="0"/>
                <a:ea typeface="Courier New" pitchFamily="34" charset="-122"/>
                <a:cs typeface="Courier New" pitchFamily="34" charset="-120"/>
              </a:rPr>
              <a:t>RELATIONSHIPS</a:t>
            </a:r>
            <a:endParaRPr lang="en-US" sz="1400" dirty="0"/>
          </a:p>
        </p:txBody>
      </p:sp>
      <p:sp>
        <p:nvSpPr>
          <p:cNvPr id="9" name="Text 7"/>
          <p:cNvSpPr txBox="1"/>
          <p:nvPr/>
        </p:nvSpPr>
        <p:spPr>
          <a:xfrm>
            <a:off x="7589520" y="2788920"/>
            <a:ext cx="3749040" cy="292608"/>
          </a:xfrm>
          <a:prstGeom prst="rect">
            <a:avLst/>
          </a:prstGeom>
          <a:noFill/>
          <a:ln/>
        </p:spPr>
        <p:txBody>
          <a:bodyPr wrap="square" lIns="0" tIns="0" rIns="0" bIns="0" rtlCol="0" anchor="ctr"/>
          <a:lstStyle/>
          <a:p>
            <a:pPr indent="0" marL="0">
              <a:buNone/>
            </a:pPr>
            <a:r>
              <a:rPr lang="en-US" sz="1400" dirty="0">
                <a:solidFill>
                  <a:srgbClr val="A1A1A6"/>
                </a:solidFill>
                <a:latin typeface="Arial" pitchFamily="34" charset="0"/>
                <a:ea typeface="Arial" pitchFamily="34" charset="-122"/>
                <a:cs typeface="Arial" pitchFamily="34" charset="-120"/>
              </a:rPr>
              <a:t>how they join</a:t>
            </a:r>
            <a:endParaRPr lang="en-US" sz="1400" dirty="0"/>
          </a:p>
        </p:txBody>
      </p:sp>
      <p:sp>
        <p:nvSpPr>
          <p:cNvPr id="10" name="Text 8"/>
          <p:cNvSpPr txBox="1"/>
          <p:nvPr/>
        </p:nvSpPr>
        <p:spPr>
          <a:xfrm>
            <a:off x="7589520" y="3145536"/>
            <a:ext cx="3749040" cy="320040"/>
          </a:xfrm>
          <a:prstGeom prst="rect">
            <a:avLst/>
          </a:prstGeom>
          <a:noFill/>
          <a:ln/>
        </p:spPr>
        <p:txBody>
          <a:bodyPr wrap="square" lIns="0" tIns="0" rIns="0" bIns="0" rtlCol="0" anchor="ctr"/>
          <a:lstStyle/>
          <a:p>
            <a:pPr indent="0" marL="0">
              <a:buNone/>
            </a:pPr>
            <a:r>
              <a:rPr lang="en-US" sz="1400" b="1" dirty="0">
                <a:solidFill>
                  <a:srgbClr val="29B5E8"/>
                </a:solidFill>
                <a:latin typeface="Courier New" pitchFamily="34" charset="0"/>
                <a:ea typeface="Courier New" pitchFamily="34" charset="-122"/>
                <a:cs typeface="Courier New" pitchFamily="34" charset="-120"/>
              </a:rPr>
              <a:t>FACTS</a:t>
            </a:r>
            <a:endParaRPr lang="en-US" sz="1400" dirty="0"/>
          </a:p>
        </p:txBody>
      </p:sp>
      <p:sp>
        <p:nvSpPr>
          <p:cNvPr id="11" name="Text 9"/>
          <p:cNvSpPr txBox="1"/>
          <p:nvPr/>
        </p:nvSpPr>
        <p:spPr>
          <a:xfrm>
            <a:off x="7589520" y="3447288"/>
            <a:ext cx="3749040" cy="292608"/>
          </a:xfrm>
          <a:prstGeom prst="rect">
            <a:avLst/>
          </a:prstGeom>
          <a:noFill/>
          <a:ln/>
        </p:spPr>
        <p:txBody>
          <a:bodyPr wrap="square" lIns="0" tIns="0" rIns="0" bIns="0" rtlCol="0" anchor="ctr"/>
          <a:lstStyle/>
          <a:p>
            <a:pPr indent="0" marL="0">
              <a:buNone/>
            </a:pPr>
            <a:r>
              <a:rPr lang="en-US" sz="1400" dirty="0">
                <a:solidFill>
                  <a:srgbClr val="A1A1A6"/>
                </a:solidFill>
                <a:latin typeface="Arial" pitchFamily="34" charset="0"/>
                <a:ea typeface="Arial" pitchFamily="34" charset="-122"/>
                <a:cs typeface="Arial" pitchFamily="34" charset="-120"/>
              </a:rPr>
              <a:t>row-level numbers</a:t>
            </a:r>
            <a:endParaRPr lang="en-US" sz="1400" dirty="0"/>
          </a:p>
        </p:txBody>
      </p:sp>
      <p:sp>
        <p:nvSpPr>
          <p:cNvPr id="12" name="Text 10"/>
          <p:cNvSpPr txBox="1"/>
          <p:nvPr/>
        </p:nvSpPr>
        <p:spPr>
          <a:xfrm>
            <a:off x="7589520" y="3803904"/>
            <a:ext cx="3749040" cy="320040"/>
          </a:xfrm>
          <a:prstGeom prst="rect">
            <a:avLst/>
          </a:prstGeom>
          <a:noFill/>
          <a:ln/>
        </p:spPr>
        <p:txBody>
          <a:bodyPr wrap="square" lIns="0" tIns="0" rIns="0" bIns="0" rtlCol="0" anchor="ctr"/>
          <a:lstStyle/>
          <a:p>
            <a:pPr indent="0" marL="0">
              <a:buNone/>
            </a:pPr>
            <a:r>
              <a:rPr lang="en-US" sz="1400" b="1" dirty="0">
                <a:solidFill>
                  <a:srgbClr val="29B5E8"/>
                </a:solidFill>
                <a:latin typeface="Courier New" pitchFamily="34" charset="0"/>
                <a:ea typeface="Courier New" pitchFamily="34" charset="-122"/>
                <a:cs typeface="Courier New" pitchFamily="34" charset="-120"/>
              </a:rPr>
              <a:t>DIMENSIONS</a:t>
            </a:r>
            <a:endParaRPr lang="en-US" sz="1400" dirty="0"/>
          </a:p>
        </p:txBody>
      </p:sp>
      <p:sp>
        <p:nvSpPr>
          <p:cNvPr id="13" name="Text 11"/>
          <p:cNvSpPr txBox="1"/>
          <p:nvPr/>
        </p:nvSpPr>
        <p:spPr>
          <a:xfrm>
            <a:off x="7589520" y="4105656"/>
            <a:ext cx="3749040" cy="292608"/>
          </a:xfrm>
          <a:prstGeom prst="rect">
            <a:avLst/>
          </a:prstGeom>
          <a:noFill/>
          <a:ln/>
        </p:spPr>
        <p:txBody>
          <a:bodyPr wrap="square" lIns="0" tIns="0" rIns="0" bIns="0" rtlCol="0" anchor="ctr"/>
          <a:lstStyle/>
          <a:p>
            <a:pPr indent="0" marL="0">
              <a:buNone/>
            </a:pPr>
            <a:r>
              <a:rPr lang="en-US" sz="1400" dirty="0">
                <a:solidFill>
                  <a:srgbClr val="A1A1A6"/>
                </a:solidFill>
                <a:latin typeface="Arial" pitchFamily="34" charset="0"/>
                <a:ea typeface="Arial" pitchFamily="34" charset="-122"/>
                <a:cs typeface="Arial" pitchFamily="34" charset="-120"/>
              </a:rPr>
              <a:t>what you group by</a:t>
            </a:r>
            <a:endParaRPr lang="en-US" sz="1400" dirty="0"/>
          </a:p>
        </p:txBody>
      </p:sp>
      <p:sp>
        <p:nvSpPr>
          <p:cNvPr id="14" name="Text 12"/>
          <p:cNvSpPr txBox="1"/>
          <p:nvPr/>
        </p:nvSpPr>
        <p:spPr>
          <a:xfrm>
            <a:off x="7589520" y="4462272"/>
            <a:ext cx="3749040" cy="320040"/>
          </a:xfrm>
          <a:prstGeom prst="rect">
            <a:avLst/>
          </a:prstGeom>
          <a:noFill/>
          <a:ln/>
        </p:spPr>
        <p:txBody>
          <a:bodyPr wrap="square" lIns="0" tIns="0" rIns="0" bIns="0" rtlCol="0" anchor="ctr"/>
          <a:lstStyle/>
          <a:p>
            <a:pPr indent="0" marL="0">
              <a:buNone/>
            </a:pPr>
            <a:r>
              <a:rPr lang="en-US" sz="1400" b="1" dirty="0">
                <a:solidFill>
                  <a:srgbClr val="29B5E8"/>
                </a:solidFill>
                <a:latin typeface="Courier New" pitchFamily="34" charset="0"/>
                <a:ea typeface="Courier New" pitchFamily="34" charset="-122"/>
                <a:cs typeface="Courier New" pitchFamily="34" charset="-120"/>
              </a:rPr>
              <a:t>METRICS</a:t>
            </a:r>
            <a:endParaRPr lang="en-US" sz="1400" dirty="0"/>
          </a:p>
        </p:txBody>
      </p:sp>
      <p:sp>
        <p:nvSpPr>
          <p:cNvPr id="15" name="Text 13"/>
          <p:cNvSpPr txBox="1"/>
          <p:nvPr/>
        </p:nvSpPr>
        <p:spPr>
          <a:xfrm>
            <a:off x="7589520" y="4764024"/>
            <a:ext cx="3749040" cy="292608"/>
          </a:xfrm>
          <a:prstGeom prst="rect">
            <a:avLst/>
          </a:prstGeom>
          <a:noFill/>
          <a:ln/>
        </p:spPr>
        <p:txBody>
          <a:bodyPr wrap="square" lIns="0" tIns="0" rIns="0" bIns="0" rtlCol="0" anchor="ctr"/>
          <a:lstStyle/>
          <a:p>
            <a:pPr indent="0" marL="0">
              <a:buNone/>
            </a:pPr>
            <a:r>
              <a:rPr lang="en-US" sz="1400" dirty="0">
                <a:solidFill>
                  <a:srgbClr val="A1A1A6"/>
                </a:solidFill>
                <a:latin typeface="Arial" pitchFamily="34" charset="0"/>
                <a:ea typeface="Arial" pitchFamily="34" charset="-122"/>
                <a:cs typeface="Arial" pitchFamily="34" charset="-120"/>
              </a:rPr>
              <a:t>formulas + rules</a:t>
            </a:r>
            <a:endParaRPr lang="en-US" sz="1400" dirty="0"/>
          </a:p>
        </p:txBody>
      </p:sp>
      <p:sp>
        <p:nvSpPr>
          <p:cNvPr id="16" name="Text 14"/>
          <p:cNvSpPr txBox="1"/>
          <p:nvPr/>
        </p:nvSpPr>
        <p:spPr>
          <a:xfrm>
            <a:off x="7589520" y="5120640"/>
            <a:ext cx="3749040" cy="320040"/>
          </a:xfrm>
          <a:prstGeom prst="rect">
            <a:avLst/>
          </a:prstGeom>
          <a:noFill/>
          <a:ln/>
        </p:spPr>
        <p:txBody>
          <a:bodyPr wrap="square" lIns="0" tIns="0" rIns="0" bIns="0" rtlCol="0" anchor="ctr"/>
          <a:lstStyle/>
          <a:p>
            <a:pPr indent="0" marL="0">
              <a:buNone/>
            </a:pPr>
            <a:r>
              <a:rPr lang="en-US" sz="1400" b="1" dirty="0">
                <a:solidFill>
                  <a:srgbClr val="29B5E8"/>
                </a:solidFill>
                <a:latin typeface="Courier New" pitchFamily="34" charset="0"/>
                <a:ea typeface="Courier New" pitchFamily="34" charset="-122"/>
                <a:cs typeface="Courier New" pitchFamily="34" charset="-120"/>
              </a:rPr>
              <a:t>AI_SQL_GENERATION</a:t>
            </a:r>
            <a:endParaRPr lang="en-US" sz="1400" dirty="0"/>
          </a:p>
        </p:txBody>
      </p:sp>
      <p:sp>
        <p:nvSpPr>
          <p:cNvPr id="17" name="Text 15"/>
          <p:cNvSpPr txBox="1"/>
          <p:nvPr/>
        </p:nvSpPr>
        <p:spPr>
          <a:xfrm>
            <a:off x="7589520" y="5422392"/>
            <a:ext cx="3749040" cy="292608"/>
          </a:xfrm>
          <a:prstGeom prst="rect">
            <a:avLst/>
          </a:prstGeom>
          <a:noFill/>
          <a:ln/>
        </p:spPr>
        <p:txBody>
          <a:bodyPr wrap="square" lIns="0" tIns="0" rIns="0" bIns="0" rtlCol="0" anchor="ctr"/>
          <a:lstStyle/>
          <a:p>
            <a:pPr indent="0" marL="0">
              <a:buNone/>
            </a:pPr>
            <a:r>
              <a:rPr lang="en-US" sz="1400" dirty="0">
                <a:solidFill>
                  <a:srgbClr val="A1A1A6"/>
                </a:solidFill>
                <a:latin typeface="Arial" pitchFamily="34" charset="0"/>
                <a:ea typeface="Arial" pitchFamily="34" charset="-122"/>
                <a:cs typeface="Arial" pitchFamily="34" charset="-120"/>
              </a:rPr>
              <a:t>a note for the AI</a:t>
            </a:r>
            <a:endParaRPr lang="en-US" sz="1400" dirty="0"/>
          </a:p>
        </p:txBody>
      </p:sp>
      <p:sp>
        <p:nvSpPr>
          <p:cNvPr id="18" name="Text 16"/>
          <p:cNvSpPr txBox="1"/>
          <p:nvPr/>
        </p:nvSpPr>
        <p:spPr>
          <a:xfrm>
            <a:off x="822960" y="594360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The same five parts from Lecture 21, plus one sticky note for the AI.</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4  ·  HOW IT GETS USED</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Two paths. Same definitions.</a:t>
            </a:r>
            <a:endParaRPr lang="en-US" sz="3400" dirty="0"/>
          </a:p>
        </p:txBody>
      </p:sp>
      <p:sp>
        <p:nvSpPr>
          <p:cNvPr id="4" name="Text 2"/>
          <p:cNvSpPr txBox="1"/>
          <p:nvPr/>
        </p:nvSpPr>
        <p:spPr>
          <a:xfrm>
            <a:off x="822960" y="1783080"/>
            <a:ext cx="10515600" cy="411480"/>
          </a:xfrm>
          <a:prstGeom prst="rect">
            <a:avLst/>
          </a:prstGeom>
          <a:noFill/>
          <a:ln/>
        </p:spPr>
        <p:txBody>
          <a:bodyPr wrap="square" lIns="0" tIns="0" rIns="0" bIns="0" rtlCol="0" anchor="ctr"/>
          <a:lstStyle/>
          <a:p>
            <a:pPr indent="0" marL="0">
              <a:buNone/>
            </a:pPr>
            <a:r>
              <a:rPr lang="en-US" sz="1800" b="1" dirty="0">
                <a:solidFill>
                  <a:srgbClr val="A1A1A6"/>
                </a:solidFill>
                <a:latin typeface="Arial" pitchFamily="34" charset="0"/>
                <a:ea typeface="Arial" pitchFamily="34" charset="-122"/>
                <a:cs typeface="Arial" pitchFamily="34" charset="-120"/>
              </a:rPr>
              <a:t>A.  Human or dashboard  (no AI)</a:t>
            </a:r>
            <a:endParaRPr lang="en-US" sz="1800" dirty="0"/>
          </a:p>
        </p:txBody>
      </p:sp>
      <p:sp>
        <p:nvSpPr>
          <p:cNvPr id="5" name="Shape 3"/>
          <p:cNvSpPr/>
          <p:nvPr/>
        </p:nvSpPr>
        <p:spPr>
          <a:xfrm>
            <a:off x="822960" y="2286000"/>
            <a:ext cx="2377440" cy="1143000"/>
          </a:xfrm>
          <a:prstGeom prst="roundRect">
            <a:avLst>
              <a:gd name="adj" fmla="val 9600"/>
            </a:avLst>
          </a:prstGeom>
          <a:solidFill>
            <a:srgbClr val="1D1D1F"/>
          </a:solidFill>
          <a:ln w="12700">
            <a:solidFill>
              <a:srgbClr val="A1A1A6"/>
            </a:solidFill>
            <a:prstDash val="solid"/>
          </a:ln>
        </p:spPr>
      </p:sp>
      <p:sp>
        <p:nvSpPr>
          <p:cNvPr id="6" name="Text 4"/>
          <p:cNvSpPr txBox="1"/>
          <p:nvPr/>
        </p:nvSpPr>
        <p:spPr>
          <a:xfrm>
            <a:off x="960120" y="2286000"/>
            <a:ext cx="2103120" cy="1143000"/>
          </a:xfrm>
          <a:prstGeom prst="rect">
            <a:avLst/>
          </a:prstGeom>
          <a:noFill/>
          <a:ln/>
        </p:spPr>
        <p:txBody>
          <a:bodyPr wrap="square" lIns="0" tIns="0" rIns="0" bIns="0" rtlCol="0" anchor="ctr"/>
          <a:lstStyle/>
          <a:p>
            <a:pPr algn="ctr" indent="0" marL="0">
              <a:buNone/>
            </a:pPr>
            <a:r>
              <a:rPr lang="en-US" sz="1400" dirty="0">
                <a:solidFill>
                  <a:srgbClr val="F5F5F7"/>
                </a:solidFill>
                <a:latin typeface="Arial" pitchFamily="34" charset="0"/>
                <a:ea typeface="Arial" pitchFamily="34" charset="-122"/>
                <a:cs typeface="Arial" pitchFamily="34" charset="-120"/>
              </a:rPr>
              <a:t>SELECT * FROM SEMANTIC_VIEW(…)</a:t>
            </a:r>
            <a:endParaRPr lang="en-US" sz="1400" dirty="0"/>
          </a:p>
          <a:p>
            <a:pPr algn="ctr" indent="0" marL="0">
              <a:buNone/>
            </a:pPr>
            <a:r>
              <a:rPr lang="en-US" sz="1400" dirty="0">
                <a:solidFill>
                  <a:srgbClr val="F5F5F7"/>
                </a:solidFill>
                <a:latin typeface="Arial" pitchFamily="34" charset="0"/>
                <a:ea typeface="Arial" pitchFamily="34" charset="-122"/>
                <a:cs typeface="Arial" pitchFamily="34" charset="-120"/>
              </a:rPr>
              <a:t>or plain SQL</a:t>
            </a:r>
            <a:endParaRPr lang="en-US" sz="1400" dirty="0"/>
          </a:p>
        </p:txBody>
      </p:sp>
      <p:sp>
        <p:nvSpPr>
          <p:cNvPr id="7" name="Text 5"/>
          <p:cNvSpPr txBox="1"/>
          <p:nvPr/>
        </p:nvSpPr>
        <p:spPr>
          <a:xfrm>
            <a:off x="3200400" y="2560320"/>
            <a:ext cx="365760" cy="548640"/>
          </a:xfrm>
          <a:prstGeom prst="rect">
            <a:avLst/>
          </a:prstGeom>
          <a:noFill/>
          <a:ln/>
        </p:spPr>
        <p:txBody>
          <a:bodyPr wrap="square" lIns="0" tIns="0" rIns="0" bIns="0" rtlCol="0" anchor="ctr"/>
          <a:lstStyle/>
          <a:p>
            <a:pPr algn="ctr" indent="0" marL="0">
              <a:buNone/>
            </a:pPr>
            <a:r>
              <a:rPr lang="en-US" sz="2200" dirty="0">
                <a:solidFill>
                  <a:srgbClr val="A1A1A6"/>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566160" y="2286000"/>
            <a:ext cx="2377440" cy="1143000"/>
          </a:xfrm>
          <a:prstGeom prst="roundRect">
            <a:avLst>
              <a:gd name="adj" fmla="val 9600"/>
            </a:avLst>
          </a:prstGeom>
          <a:solidFill>
            <a:srgbClr val="1D1D1F"/>
          </a:solidFill>
          <a:ln w="12700">
            <a:solidFill>
              <a:srgbClr val="A1A1A6"/>
            </a:solidFill>
            <a:prstDash val="solid"/>
          </a:ln>
        </p:spPr>
      </p:sp>
      <p:sp>
        <p:nvSpPr>
          <p:cNvPr id="9" name="Text 7"/>
          <p:cNvSpPr txBox="1"/>
          <p:nvPr/>
        </p:nvSpPr>
        <p:spPr>
          <a:xfrm>
            <a:off x="3703320" y="2286000"/>
            <a:ext cx="2103120" cy="1143000"/>
          </a:xfrm>
          <a:prstGeom prst="rect">
            <a:avLst/>
          </a:prstGeom>
          <a:noFill/>
          <a:ln/>
        </p:spPr>
        <p:txBody>
          <a:bodyPr wrap="square" lIns="0" tIns="0" rIns="0" bIns="0" rtlCol="0" anchor="ctr"/>
          <a:lstStyle/>
          <a:p>
            <a:pPr algn="ctr" indent="0" marL="0">
              <a:buNone/>
            </a:pPr>
            <a:r>
              <a:rPr lang="en-US" sz="1400" dirty="0">
                <a:solidFill>
                  <a:srgbClr val="F5F5F7"/>
                </a:solidFill>
                <a:latin typeface="Arial" pitchFamily="34" charset="0"/>
                <a:ea typeface="Arial" pitchFamily="34" charset="-122"/>
                <a:cs typeface="Arial" pitchFamily="34" charset="-120"/>
              </a:rPr>
              <a:t>Snowflake looks up the formulas</a:t>
            </a:r>
            <a:endParaRPr lang="en-US" sz="1400" dirty="0"/>
          </a:p>
        </p:txBody>
      </p:sp>
      <p:sp>
        <p:nvSpPr>
          <p:cNvPr id="10" name="Text 8"/>
          <p:cNvSpPr txBox="1"/>
          <p:nvPr/>
        </p:nvSpPr>
        <p:spPr>
          <a:xfrm>
            <a:off x="5943600" y="2560320"/>
            <a:ext cx="365760" cy="548640"/>
          </a:xfrm>
          <a:prstGeom prst="rect">
            <a:avLst/>
          </a:prstGeom>
          <a:noFill/>
          <a:ln/>
        </p:spPr>
        <p:txBody>
          <a:bodyPr wrap="square" lIns="0" tIns="0" rIns="0" bIns="0" rtlCol="0" anchor="ctr"/>
          <a:lstStyle/>
          <a:p>
            <a:pPr algn="ctr" indent="0" marL="0">
              <a:buNone/>
            </a:pPr>
            <a:r>
              <a:rPr lang="en-US" sz="2200" dirty="0">
                <a:solidFill>
                  <a:srgbClr val="A1A1A6"/>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6309360" y="2286000"/>
            <a:ext cx="2377440" cy="1143000"/>
          </a:xfrm>
          <a:prstGeom prst="roundRect">
            <a:avLst>
              <a:gd name="adj" fmla="val 9600"/>
            </a:avLst>
          </a:prstGeom>
          <a:solidFill>
            <a:srgbClr val="1D1D1F"/>
          </a:solidFill>
          <a:ln w="12700">
            <a:solidFill>
              <a:srgbClr val="A1A1A6"/>
            </a:solidFill>
            <a:prstDash val="solid"/>
          </a:ln>
        </p:spPr>
      </p:sp>
      <p:sp>
        <p:nvSpPr>
          <p:cNvPr id="12" name="Text 10"/>
          <p:cNvSpPr txBox="1"/>
          <p:nvPr/>
        </p:nvSpPr>
        <p:spPr>
          <a:xfrm>
            <a:off x="6446520" y="2286000"/>
            <a:ext cx="2103120" cy="1143000"/>
          </a:xfrm>
          <a:prstGeom prst="rect">
            <a:avLst/>
          </a:prstGeom>
          <a:noFill/>
          <a:ln/>
        </p:spPr>
        <p:txBody>
          <a:bodyPr wrap="square" lIns="0" tIns="0" rIns="0" bIns="0" rtlCol="0" anchor="ctr"/>
          <a:lstStyle/>
          <a:p>
            <a:pPr algn="ctr" indent="0" marL="0">
              <a:buNone/>
            </a:pPr>
            <a:r>
              <a:rPr lang="en-US" sz="1400" dirty="0">
                <a:solidFill>
                  <a:srgbClr val="F5F5F7"/>
                </a:solidFill>
                <a:latin typeface="Arial" pitchFamily="34" charset="0"/>
                <a:ea typeface="Arial" pitchFamily="34" charset="-122"/>
                <a:cs typeface="Arial" pitchFamily="34" charset="-120"/>
              </a:rPr>
              <a:t>Builds JOIN, WHERE, GROUP BY</a:t>
            </a:r>
            <a:endParaRPr lang="en-US" sz="1400" dirty="0"/>
          </a:p>
        </p:txBody>
      </p:sp>
      <p:sp>
        <p:nvSpPr>
          <p:cNvPr id="13" name="Text 11"/>
          <p:cNvSpPr txBox="1"/>
          <p:nvPr/>
        </p:nvSpPr>
        <p:spPr>
          <a:xfrm>
            <a:off x="8686800" y="2560320"/>
            <a:ext cx="365760" cy="548640"/>
          </a:xfrm>
          <a:prstGeom prst="rect">
            <a:avLst/>
          </a:prstGeom>
          <a:noFill/>
          <a:ln/>
        </p:spPr>
        <p:txBody>
          <a:bodyPr wrap="square" lIns="0" tIns="0" rIns="0" bIns="0" rtlCol="0" anchor="ctr"/>
          <a:lstStyle/>
          <a:p>
            <a:pPr algn="ctr" indent="0" marL="0">
              <a:buNone/>
            </a:pPr>
            <a:r>
              <a:rPr lang="en-US" sz="2200" dirty="0">
                <a:solidFill>
                  <a:srgbClr val="A1A1A6"/>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9052560" y="2286000"/>
            <a:ext cx="2377440" cy="1143000"/>
          </a:xfrm>
          <a:prstGeom prst="roundRect">
            <a:avLst>
              <a:gd name="adj" fmla="val 9600"/>
            </a:avLst>
          </a:prstGeom>
          <a:solidFill>
            <a:srgbClr val="1D1D1F"/>
          </a:solidFill>
          <a:ln w="12700">
            <a:solidFill>
              <a:srgbClr val="A1A1A6"/>
            </a:solidFill>
            <a:prstDash val="solid"/>
          </a:ln>
        </p:spPr>
      </p:sp>
      <p:sp>
        <p:nvSpPr>
          <p:cNvPr id="15" name="Text 13"/>
          <p:cNvSpPr txBox="1"/>
          <p:nvPr/>
        </p:nvSpPr>
        <p:spPr>
          <a:xfrm>
            <a:off x="9189720" y="2286000"/>
            <a:ext cx="2103120" cy="1143000"/>
          </a:xfrm>
          <a:prstGeom prst="rect">
            <a:avLst/>
          </a:prstGeom>
          <a:noFill/>
          <a:ln/>
        </p:spPr>
        <p:txBody>
          <a:bodyPr wrap="square" lIns="0" tIns="0" rIns="0" bIns="0" rtlCol="0" anchor="ctr"/>
          <a:lstStyle/>
          <a:p>
            <a:pPr algn="ctr" indent="0" marL="0">
              <a:buNone/>
            </a:pPr>
            <a:r>
              <a:rPr lang="en-US" sz="1400" dirty="0">
                <a:solidFill>
                  <a:srgbClr val="F5F5F7"/>
                </a:solidFill>
                <a:latin typeface="Arial" pitchFamily="34" charset="0"/>
                <a:ea typeface="Arial" pitchFamily="34" charset="-122"/>
                <a:cs typeface="Arial" pitchFamily="34" charset="-120"/>
              </a:rPr>
              <a:t>Same answer every time</a:t>
            </a:r>
            <a:endParaRPr lang="en-US" sz="1400" dirty="0"/>
          </a:p>
        </p:txBody>
      </p:sp>
      <p:sp>
        <p:nvSpPr>
          <p:cNvPr id="16" name="Text 14"/>
          <p:cNvSpPr txBox="1"/>
          <p:nvPr/>
        </p:nvSpPr>
        <p:spPr>
          <a:xfrm>
            <a:off x="822960" y="3794760"/>
            <a:ext cx="10515600" cy="411480"/>
          </a:xfrm>
          <a:prstGeom prst="rect">
            <a:avLst/>
          </a:prstGeom>
          <a:noFill/>
          <a:ln/>
        </p:spPr>
        <p:txBody>
          <a:bodyPr wrap="square" lIns="0" tIns="0" rIns="0" bIns="0" rtlCol="0" anchor="ctr"/>
          <a:lstStyle/>
          <a:p>
            <a:pPr indent="0" marL="0">
              <a:buNone/>
            </a:pPr>
            <a:r>
              <a:rPr lang="en-US" sz="1800" b="1" dirty="0">
                <a:solidFill>
                  <a:srgbClr val="29B5E8"/>
                </a:solidFill>
                <a:latin typeface="Arial" pitchFamily="34" charset="0"/>
                <a:ea typeface="Arial" pitchFamily="34" charset="-122"/>
                <a:cs typeface="Arial" pitchFamily="34" charset="-120"/>
              </a:rPr>
              <a:t>B.  Question in plain English  (Cortex Analyst)</a:t>
            </a:r>
            <a:endParaRPr lang="en-US" sz="1800" dirty="0"/>
          </a:p>
        </p:txBody>
      </p:sp>
      <p:sp>
        <p:nvSpPr>
          <p:cNvPr id="17" name="Shape 15"/>
          <p:cNvSpPr/>
          <p:nvPr/>
        </p:nvSpPr>
        <p:spPr>
          <a:xfrm>
            <a:off x="822960" y="4297680"/>
            <a:ext cx="2377440" cy="1143000"/>
          </a:xfrm>
          <a:prstGeom prst="roundRect">
            <a:avLst>
              <a:gd name="adj" fmla="val 9600"/>
            </a:avLst>
          </a:prstGeom>
          <a:solidFill>
            <a:srgbClr val="1D1D1F"/>
          </a:solidFill>
          <a:ln w="12700">
            <a:solidFill>
              <a:srgbClr val="29B5E8"/>
            </a:solidFill>
            <a:prstDash val="solid"/>
          </a:ln>
        </p:spPr>
      </p:sp>
      <p:sp>
        <p:nvSpPr>
          <p:cNvPr id="18" name="Text 16"/>
          <p:cNvSpPr txBox="1"/>
          <p:nvPr/>
        </p:nvSpPr>
        <p:spPr>
          <a:xfrm>
            <a:off x="960120" y="4297680"/>
            <a:ext cx="2103120" cy="1143000"/>
          </a:xfrm>
          <a:prstGeom prst="rect">
            <a:avLst/>
          </a:prstGeom>
          <a:noFill/>
          <a:ln/>
        </p:spPr>
        <p:txBody>
          <a:bodyPr wrap="square" lIns="0" tIns="0" rIns="0" bIns="0" rtlCol="0" anchor="ctr"/>
          <a:lstStyle/>
          <a:p>
            <a:pPr algn="ctr" indent="0" marL="0">
              <a:buNone/>
            </a:pPr>
            <a:r>
              <a:rPr lang="en-US" sz="1400" dirty="0">
                <a:solidFill>
                  <a:srgbClr val="F5F5F7"/>
                </a:solidFill>
                <a:latin typeface="Arial" pitchFamily="34" charset="0"/>
                <a:ea typeface="Arial" pitchFamily="34" charset="-122"/>
                <a:cs typeface="Arial" pitchFamily="34" charset="-120"/>
              </a:rPr>
              <a:t>“What was revenue by category?”</a:t>
            </a:r>
            <a:endParaRPr lang="en-US" sz="1400" dirty="0"/>
          </a:p>
        </p:txBody>
      </p:sp>
      <p:sp>
        <p:nvSpPr>
          <p:cNvPr id="19" name="Text 17"/>
          <p:cNvSpPr txBox="1"/>
          <p:nvPr/>
        </p:nvSpPr>
        <p:spPr>
          <a:xfrm>
            <a:off x="3200400" y="4572000"/>
            <a:ext cx="365760" cy="548640"/>
          </a:xfrm>
          <a:prstGeom prst="rect">
            <a:avLst/>
          </a:prstGeom>
          <a:noFill/>
          <a:ln/>
        </p:spPr>
        <p:txBody>
          <a:bodyPr wrap="square" lIns="0" tIns="0" rIns="0" bIns="0" rtlCol="0" anchor="ctr"/>
          <a:lstStyle/>
          <a:p>
            <a:pPr algn="ctr" indent="0" marL="0">
              <a:buNone/>
            </a:pPr>
            <a:r>
              <a:rPr lang="en-US" sz="2200" dirty="0">
                <a:solidFill>
                  <a:srgbClr val="29B5E8"/>
                </a:solidFill>
                <a:latin typeface="Arial" pitchFamily="34" charset="0"/>
                <a:ea typeface="Arial" pitchFamily="34" charset="-122"/>
                <a:cs typeface="Arial" pitchFamily="34" charset="-120"/>
              </a:rPr>
              <a:t>→</a:t>
            </a:r>
            <a:endParaRPr lang="en-US" sz="2200" dirty="0"/>
          </a:p>
        </p:txBody>
      </p:sp>
      <p:sp>
        <p:nvSpPr>
          <p:cNvPr id="20" name="Shape 18"/>
          <p:cNvSpPr/>
          <p:nvPr/>
        </p:nvSpPr>
        <p:spPr>
          <a:xfrm>
            <a:off x="3566160" y="4297680"/>
            <a:ext cx="2377440" cy="1143000"/>
          </a:xfrm>
          <a:prstGeom prst="roundRect">
            <a:avLst>
              <a:gd name="adj" fmla="val 9600"/>
            </a:avLst>
          </a:prstGeom>
          <a:solidFill>
            <a:srgbClr val="1D1D1F"/>
          </a:solidFill>
          <a:ln w="12700">
            <a:solidFill>
              <a:srgbClr val="29B5E8"/>
            </a:solidFill>
            <a:prstDash val="solid"/>
          </a:ln>
        </p:spPr>
      </p:sp>
      <p:sp>
        <p:nvSpPr>
          <p:cNvPr id="21" name="Text 19"/>
          <p:cNvSpPr txBox="1"/>
          <p:nvPr/>
        </p:nvSpPr>
        <p:spPr>
          <a:xfrm>
            <a:off x="3703320" y="4297680"/>
            <a:ext cx="2103120" cy="1143000"/>
          </a:xfrm>
          <a:prstGeom prst="rect">
            <a:avLst/>
          </a:prstGeom>
          <a:noFill/>
          <a:ln/>
        </p:spPr>
        <p:txBody>
          <a:bodyPr wrap="square" lIns="0" tIns="0" rIns="0" bIns="0" rtlCol="0" anchor="ctr"/>
          <a:lstStyle/>
          <a:p>
            <a:pPr algn="ctr" indent="0" marL="0">
              <a:buNone/>
            </a:pPr>
            <a:r>
              <a:rPr lang="en-US" sz="1400" dirty="0">
                <a:solidFill>
                  <a:srgbClr val="F5F5F7"/>
                </a:solidFill>
                <a:latin typeface="Arial" pitchFamily="34" charset="0"/>
                <a:ea typeface="Arial" pitchFamily="34" charset="-122"/>
                <a:cs typeface="Arial" pitchFamily="34" charset="-120"/>
              </a:rPr>
              <a:t>AI reads the semantic view</a:t>
            </a:r>
            <a:endParaRPr lang="en-US" sz="1400" dirty="0"/>
          </a:p>
        </p:txBody>
      </p:sp>
      <p:sp>
        <p:nvSpPr>
          <p:cNvPr id="22" name="Text 20"/>
          <p:cNvSpPr txBox="1"/>
          <p:nvPr/>
        </p:nvSpPr>
        <p:spPr>
          <a:xfrm>
            <a:off x="5943600" y="4572000"/>
            <a:ext cx="365760" cy="548640"/>
          </a:xfrm>
          <a:prstGeom prst="rect">
            <a:avLst/>
          </a:prstGeom>
          <a:noFill/>
          <a:ln/>
        </p:spPr>
        <p:txBody>
          <a:bodyPr wrap="square" lIns="0" tIns="0" rIns="0" bIns="0" rtlCol="0" anchor="ctr"/>
          <a:lstStyle/>
          <a:p>
            <a:pPr algn="ctr" indent="0" marL="0">
              <a:buNone/>
            </a:pPr>
            <a:r>
              <a:rPr lang="en-US" sz="2200" dirty="0">
                <a:solidFill>
                  <a:srgbClr val="29B5E8"/>
                </a:solidFill>
                <a:latin typeface="Arial" pitchFamily="34" charset="0"/>
                <a:ea typeface="Arial" pitchFamily="34" charset="-122"/>
                <a:cs typeface="Arial" pitchFamily="34" charset="-120"/>
              </a:rPr>
              <a:t>→</a:t>
            </a:r>
            <a:endParaRPr lang="en-US" sz="2200" dirty="0"/>
          </a:p>
        </p:txBody>
      </p:sp>
      <p:sp>
        <p:nvSpPr>
          <p:cNvPr id="23" name="Shape 21"/>
          <p:cNvSpPr/>
          <p:nvPr/>
        </p:nvSpPr>
        <p:spPr>
          <a:xfrm>
            <a:off x="6309360" y="4297680"/>
            <a:ext cx="2377440" cy="1143000"/>
          </a:xfrm>
          <a:prstGeom prst="roundRect">
            <a:avLst>
              <a:gd name="adj" fmla="val 9600"/>
            </a:avLst>
          </a:prstGeom>
          <a:solidFill>
            <a:srgbClr val="1D1D1F"/>
          </a:solidFill>
          <a:ln w="12700">
            <a:solidFill>
              <a:srgbClr val="29B5E8"/>
            </a:solidFill>
            <a:prstDash val="solid"/>
          </a:ln>
        </p:spPr>
      </p:sp>
      <p:sp>
        <p:nvSpPr>
          <p:cNvPr id="24" name="Text 22"/>
          <p:cNvSpPr txBox="1"/>
          <p:nvPr/>
        </p:nvSpPr>
        <p:spPr>
          <a:xfrm>
            <a:off x="6446520" y="4297680"/>
            <a:ext cx="2103120" cy="1143000"/>
          </a:xfrm>
          <a:prstGeom prst="rect">
            <a:avLst/>
          </a:prstGeom>
          <a:noFill/>
          <a:ln/>
        </p:spPr>
        <p:txBody>
          <a:bodyPr wrap="square" lIns="0" tIns="0" rIns="0" bIns="0" rtlCol="0" anchor="ctr"/>
          <a:lstStyle/>
          <a:p>
            <a:pPr algn="ctr" indent="0" marL="0">
              <a:buNone/>
            </a:pPr>
            <a:r>
              <a:rPr lang="en-US" sz="1400" dirty="0">
                <a:solidFill>
                  <a:srgbClr val="F5F5F7"/>
                </a:solidFill>
                <a:latin typeface="Arial" pitchFamily="34" charset="0"/>
                <a:ea typeface="Arial" pitchFamily="34" charset="-122"/>
                <a:cs typeface="Arial" pitchFamily="34" charset="-120"/>
              </a:rPr>
              <a:t>Writes SQL on the real tables</a:t>
            </a:r>
            <a:endParaRPr lang="en-US" sz="1400" dirty="0"/>
          </a:p>
        </p:txBody>
      </p:sp>
      <p:sp>
        <p:nvSpPr>
          <p:cNvPr id="25" name="Text 23"/>
          <p:cNvSpPr txBox="1"/>
          <p:nvPr/>
        </p:nvSpPr>
        <p:spPr>
          <a:xfrm>
            <a:off x="8686800" y="4572000"/>
            <a:ext cx="365760" cy="548640"/>
          </a:xfrm>
          <a:prstGeom prst="rect">
            <a:avLst/>
          </a:prstGeom>
          <a:noFill/>
          <a:ln/>
        </p:spPr>
        <p:txBody>
          <a:bodyPr wrap="square" lIns="0" tIns="0" rIns="0" bIns="0" rtlCol="0" anchor="ctr"/>
          <a:lstStyle/>
          <a:p>
            <a:pPr algn="ctr" indent="0" marL="0">
              <a:buNone/>
            </a:pPr>
            <a:r>
              <a:rPr lang="en-US" sz="2200" dirty="0">
                <a:solidFill>
                  <a:srgbClr val="29B5E8"/>
                </a:solidFill>
                <a:latin typeface="Arial" pitchFamily="34" charset="0"/>
                <a:ea typeface="Arial" pitchFamily="34" charset="-122"/>
                <a:cs typeface="Arial" pitchFamily="34" charset="-120"/>
              </a:rPr>
              <a:t>→</a:t>
            </a:r>
            <a:endParaRPr lang="en-US" sz="2200" dirty="0"/>
          </a:p>
        </p:txBody>
      </p:sp>
      <p:sp>
        <p:nvSpPr>
          <p:cNvPr id="26" name="Shape 24"/>
          <p:cNvSpPr/>
          <p:nvPr/>
        </p:nvSpPr>
        <p:spPr>
          <a:xfrm>
            <a:off x="9052560" y="4297680"/>
            <a:ext cx="2377440" cy="1143000"/>
          </a:xfrm>
          <a:prstGeom prst="roundRect">
            <a:avLst>
              <a:gd name="adj" fmla="val 9600"/>
            </a:avLst>
          </a:prstGeom>
          <a:solidFill>
            <a:srgbClr val="1D1D1F"/>
          </a:solidFill>
          <a:ln w="12700">
            <a:solidFill>
              <a:srgbClr val="29B5E8"/>
            </a:solidFill>
            <a:prstDash val="solid"/>
          </a:ln>
        </p:spPr>
      </p:sp>
      <p:sp>
        <p:nvSpPr>
          <p:cNvPr id="27" name="Text 25"/>
          <p:cNvSpPr txBox="1"/>
          <p:nvPr/>
        </p:nvSpPr>
        <p:spPr>
          <a:xfrm>
            <a:off x="9189720" y="4297680"/>
            <a:ext cx="2103120" cy="1143000"/>
          </a:xfrm>
          <a:prstGeom prst="rect">
            <a:avLst/>
          </a:prstGeom>
          <a:noFill/>
          <a:ln/>
        </p:spPr>
        <p:txBody>
          <a:bodyPr wrap="square" lIns="0" tIns="0" rIns="0" bIns="0" rtlCol="0" anchor="ctr"/>
          <a:lstStyle/>
          <a:p>
            <a:pPr algn="ctr" indent="0" marL="0">
              <a:buNone/>
            </a:pPr>
            <a:r>
              <a:rPr lang="en-US" sz="1400" dirty="0">
                <a:solidFill>
                  <a:srgbClr val="F5F5F7"/>
                </a:solidFill>
                <a:latin typeface="Arial" pitchFamily="34" charset="0"/>
                <a:ea typeface="Arial" pitchFamily="34" charset="-122"/>
                <a:cs typeface="Arial" pitchFamily="34" charset="-120"/>
              </a:rPr>
              <a:t>Runs it, shows the SQL</a:t>
            </a:r>
            <a:endParaRPr lang="en-US" sz="1400" dirty="0"/>
          </a:p>
        </p:txBody>
      </p:sp>
      <p:sp>
        <p:nvSpPr>
          <p:cNvPr id="28" name="Text 26"/>
          <p:cNvSpPr txBox="1"/>
          <p:nvPr/>
        </p:nvSpPr>
        <p:spPr>
          <a:xfrm>
            <a:off x="822960" y="594360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The AI doesn’t query the semantic view. It reads it, like an instruction manual.</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5  ·  WHAT CHANGES, WHAT DOESN’T</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200" b="1" dirty="0">
                <a:solidFill>
                  <a:srgbClr val="F5F5F7"/>
                </a:solidFill>
                <a:latin typeface="Arial" pitchFamily="34" charset="0"/>
                <a:ea typeface="Arial" pitchFamily="34" charset="-122"/>
                <a:cs typeface="Arial" pitchFamily="34" charset="-120"/>
              </a:rPr>
              <a:t>The formula is fixed. The picking still needs checking.</a:t>
            </a:r>
            <a:endParaRPr lang="en-US" sz="3200" dirty="0"/>
          </a:p>
        </p:txBody>
      </p:sp>
      <p:sp>
        <p:nvSpPr>
          <p:cNvPr id="4" name="Shape 2"/>
          <p:cNvSpPr/>
          <p:nvPr/>
        </p:nvSpPr>
        <p:spPr>
          <a:xfrm>
            <a:off x="822960" y="1920240"/>
            <a:ext cx="5029200" cy="3017520"/>
          </a:xfrm>
          <a:prstGeom prst="roundRect">
            <a:avLst>
              <a:gd name="adj" fmla="val 3636"/>
            </a:avLst>
          </a:prstGeom>
          <a:solidFill>
            <a:srgbClr val="1D1D1F"/>
          </a:solidFill>
          <a:ln w="12700">
            <a:solidFill>
              <a:srgbClr val="34C759"/>
            </a:solidFill>
            <a:prstDash val="solid"/>
          </a:ln>
        </p:spPr>
      </p:sp>
      <p:sp>
        <p:nvSpPr>
          <p:cNvPr id="5" name="Text 3"/>
          <p:cNvSpPr txBox="1"/>
          <p:nvPr/>
        </p:nvSpPr>
        <p:spPr>
          <a:xfrm>
            <a:off x="1097280" y="2103120"/>
            <a:ext cx="4572000" cy="411480"/>
          </a:xfrm>
          <a:prstGeom prst="rect">
            <a:avLst/>
          </a:prstGeom>
          <a:noFill/>
          <a:ln/>
        </p:spPr>
        <p:txBody>
          <a:bodyPr wrap="square" lIns="0" tIns="0" rIns="0" bIns="0" rtlCol="0" anchor="ctr"/>
          <a:lstStyle/>
          <a:p>
            <a:pPr indent="0" marL="0">
              <a:buNone/>
            </a:pPr>
            <a:r>
              <a:rPr lang="en-US" sz="1800" b="1" dirty="0">
                <a:solidFill>
                  <a:srgbClr val="34C759"/>
                </a:solidFill>
                <a:latin typeface="Arial" pitchFamily="34" charset="0"/>
                <a:ea typeface="Arial" pitchFamily="34" charset="-122"/>
                <a:cs typeface="Arial" pitchFamily="34" charset="-120"/>
              </a:rPr>
              <a:t>Now fixed</a:t>
            </a:r>
            <a:endParaRPr lang="en-US" sz="1800" dirty="0"/>
          </a:p>
        </p:txBody>
      </p:sp>
      <p:sp>
        <p:nvSpPr>
          <p:cNvPr id="6" name="Text 4"/>
          <p:cNvSpPr txBox="1"/>
          <p:nvPr/>
        </p:nvSpPr>
        <p:spPr>
          <a:xfrm>
            <a:off x="1097280" y="2651760"/>
            <a:ext cx="4572000" cy="2011680"/>
          </a:xfrm>
          <a:prstGeom prst="rect">
            <a:avLst/>
          </a:prstGeom>
          <a:noFill/>
          <a:ln/>
        </p:spPr>
        <p:txBody>
          <a:bodyPr wrap="square" lIns="0" tIns="0" rIns="0" bIns="0" rtlCol="0" anchor="ctr"/>
          <a:lstStyle/>
          <a:p>
            <a:pPr indent="0" marL="0">
              <a:spcAft>
                <a:spcPts val="1000"/>
              </a:spcAft>
              <a:buNone/>
            </a:pPr>
            <a:r>
              <a:rPr lang="en-US" sz="2000" dirty="0">
                <a:solidFill>
                  <a:srgbClr val="F5F5F7"/>
                </a:solidFill>
                <a:latin typeface="Arial" pitchFamily="34" charset="0"/>
                <a:ea typeface="Arial" pitchFamily="34" charset="-122"/>
                <a:cs typeface="Arial" pitchFamily="34" charset="-120"/>
              </a:rPr>
              <a:t>What “revenue” means</a:t>
            </a:r>
            <a:endParaRPr lang="en-US" sz="2000" dirty="0"/>
          </a:p>
          <a:p>
            <a:pPr indent="0" marL="0">
              <a:spcAft>
                <a:spcPts val="1000"/>
              </a:spcAft>
              <a:buNone/>
            </a:pPr>
            <a:r>
              <a:rPr lang="en-US" sz="2000" dirty="0">
                <a:solidFill>
                  <a:srgbClr val="F5F5F7"/>
                </a:solidFill>
                <a:latin typeface="Arial" pitchFamily="34" charset="0"/>
                <a:ea typeface="Arial" pitchFamily="34" charset="-122"/>
                <a:cs typeface="Arial" pitchFamily="34" charset="-120"/>
              </a:rPr>
              <a:t>How tables join</a:t>
            </a:r>
            <a:endParaRPr lang="en-US" sz="2000" dirty="0"/>
          </a:p>
          <a:p>
            <a:pPr indent="0" marL="0">
              <a:spcAft>
                <a:spcPts val="1000"/>
              </a:spcAft>
              <a:buNone/>
            </a:pPr>
            <a:r>
              <a:rPr lang="en-US" sz="2000" dirty="0">
                <a:solidFill>
                  <a:srgbClr val="F5F5F7"/>
                </a:solidFill>
                <a:latin typeface="Arial" pitchFamily="34" charset="0"/>
                <a:ea typeface="Arial" pitchFamily="34" charset="-122"/>
                <a:cs typeface="Arial" pitchFamily="34" charset="-120"/>
              </a:rPr>
              <a:t>Which orders are excluded</a:t>
            </a:r>
            <a:endParaRPr lang="en-US" sz="2000" dirty="0"/>
          </a:p>
        </p:txBody>
      </p:sp>
      <p:sp>
        <p:nvSpPr>
          <p:cNvPr id="7" name="Shape 5"/>
          <p:cNvSpPr/>
          <p:nvPr/>
        </p:nvSpPr>
        <p:spPr>
          <a:xfrm>
            <a:off x="6309360" y="1920240"/>
            <a:ext cx="5029200" cy="3017520"/>
          </a:xfrm>
          <a:prstGeom prst="roundRect">
            <a:avLst>
              <a:gd name="adj" fmla="val 3636"/>
            </a:avLst>
          </a:prstGeom>
          <a:solidFill>
            <a:srgbClr val="1D1D1F"/>
          </a:solidFill>
          <a:ln w="12700">
            <a:solidFill>
              <a:srgbClr val="FF6B6B"/>
            </a:solidFill>
            <a:prstDash val="solid"/>
          </a:ln>
        </p:spPr>
      </p:sp>
      <p:sp>
        <p:nvSpPr>
          <p:cNvPr id="8" name="Text 6"/>
          <p:cNvSpPr txBox="1"/>
          <p:nvPr/>
        </p:nvSpPr>
        <p:spPr>
          <a:xfrm>
            <a:off x="6583680" y="2103120"/>
            <a:ext cx="4572000" cy="411480"/>
          </a:xfrm>
          <a:prstGeom prst="rect">
            <a:avLst/>
          </a:prstGeom>
          <a:noFill/>
          <a:ln/>
        </p:spPr>
        <p:txBody>
          <a:bodyPr wrap="square" lIns="0" tIns="0" rIns="0" bIns="0" rtlCol="0" anchor="ctr"/>
          <a:lstStyle/>
          <a:p>
            <a:pPr indent="0" marL="0">
              <a:buNone/>
            </a:pPr>
            <a:r>
              <a:rPr lang="en-US" sz="1800" b="1" dirty="0">
                <a:solidFill>
                  <a:srgbClr val="FF6B6B"/>
                </a:solidFill>
                <a:latin typeface="Arial" pitchFamily="34" charset="0"/>
                <a:ea typeface="Arial" pitchFamily="34" charset="-122"/>
                <a:cs typeface="Arial" pitchFamily="34" charset="-120"/>
              </a:rPr>
              <a:t>Still can go wrong</a:t>
            </a:r>
            <a:endParaRPr lang="en-US" sz="1800" dirty="0"/>
          </a:p>
        </p:txBody>
      </p:sp>
      <p:sp>
        <p:nvSpPr>
          <p:cNvPr id="9" name="Text 7"/>
          <p:cNvSpPr txBox="1"/>
          <p:nvPr/>
        </p:nvSpPr>
        <p:spPr>
          <a:xfrm>
            <a:off x="6583680" y="2651760"/>
            <a:ext cx="4572000" cy="2011680"/>
          </a:xfrm>
          <a:prstGeom prst="rect">
            <a:avLst/>
          </a:prstGeom>
          <a:noFill/>
          <a:ln/>
        </p:spPr>
        <p:txBody>
          <a:bodyPr wrap="square" lIns="0" tIns="0" rIns="0" bIns="0" rtlCol="0" anchor="ctr"/>
          <a:lstStyle/>
          <a:p>
            <a:pPr indent="0" marL="0">
              <a:spcAft>
                <a:spcPts val="1000"/>
              </a:spcAft>
              <a:buNone/>
            </a:pPr>
            <a:r>
              <a:rPr lang="en-US" sz="2000" dirty="0">
                <a:solidFill>
                  <a:srgbClr val="F5F5F7"/>
                </a:solidFill>
                <a:latin typeface="Arial" pitchFamily="34" charset="0"/>
                <a:ea typeface="Arial" pitchFamily="34" charset="-122"/>
                <a:cs typeface="Arial" pitchFamily="34" charset="-120"/>
              </a:rPr>
              <a:t>AI picks the wrong metric</a:t>
            </a:r>
            <a:endParaRPr lang="en-US" sz="2000" dirty="0"/>
          </a:p>
          <a:p>
            <a:pPr indent="0" marL="0">
              <a:spcAft>
                <a:spcPts val="1000"/>
              </a:spcAft>
              <a:buNone/>
            </a:pPr>
            <a:r>
              <a:rPr lang="en-US" sz="2000" dirty="0">
                <a:solidFill>
                  <a:srgbClr val="F5F5F7"/>
                </a:solidFill>
                <a:latin typeface="Arial" pitchFamily="34" charset="0"/>
                <a:ea typeface="Arial" pitchFamily="34" charset="-122"/>
                <a:cs typeface="Arial" pitchFamily="34" charset="-120"/>
              </a:rPr>
              <a:t>AI misreads a filter or date</a:t>
            </a:r>
            <a:endParaRPr lang="en-US" sz="2000" dirty="0"/>
          </a:p>
          <a:p>
            <a:pPr indent="0" marL="0">
              <a:spcAft>
                <a:spcPts val="1000"/>
              </a:spcAft>
              <a:buNone/>
            </a:pPr>
            <a:r>
              <a:rPr lang="en-US" sz="2000" dirty="0">
                <a:solidFill>
                  <a:srgbClr val="F5F5F7"/>
                </a:solidFill>
                <a:latin typeface="Arial" pitchFamily="34" charset="0"/>
                <a:ea typeface="Arial" pitchFamily="34" charset="-122"/>
                <a:cs typeface="Arial" pitchFamily="34" charset="-120"/>
              </a:rPr>
              <a:t>Our rule itself is wrong</a:t>
            </a:r>
            <a:endParaRPr lang="en-US" sz="2000" dirty="0"/>
          </a:p>
        </p:txBody>
      </p:sp>
      <p:sp>
        <p:nvSpPr>
          <p:cNvPr id="10" name="Text 8"/>
          <p:cNvSpPr txBox="1"/>
          <p:nvPr/>
        </p:nvSpPr>
        <p:spPr>
          <a:xfrm>
            <a:off x="822960" y="5212080"/>
            <a:ext cx="10515600" cy="457200"/>
          </a:xfrm>
          <a:prstGeom prst="rect">
            <a:avLst/>
          </a:prstGeom>
          <a:noFill/>
          <a:ln/>
        </p:spPr>
        <p:txBody>
          <a:bodyPr wrap="square" lIns="0" tIns="0" rIns="0" bIns="0" rtlCol="0" anchor="ctr"/>
          <a:lstStyle/>
          <a:p>
            <a:pPr indent="0" marL="0">
              <a:buNone/>
            </a:pPr>
            <a:r>
              <a:rPr lang="en-US" sz="1600" dirty="0">
                <a:solidFill>
                  <a:srgbClr val="A1A1A6"/>
                </a:solidFill>
                <a:latin typeface="Arial" pitchFamily="34" charset="0"/>
                <a:ea typeface="Arial" pitchFamily="34" charset="-122"/>
                <a:cs typeface="Arial" pitchFamily="34" charset="-120"/>
              </a:rPr>
              <a:t>So: we verify every metric today, and add verified example questions next lecture.</a:t>
            </a:r>
            <a:endParaRPr lang="en-US" sz="1600" dirty="0"/>
          </a:p>
        </p:txBody>
      </p:sp>
      <p:sp>
        <p:nvSpPr>
          <p:cNvPr id="11" name="Text 9"/>
          <p:cNvSpPr txBox="1"/>
          <p:nvPr/>
        </p:nvSpPr>
        <p:spPr>
          <a:xfrm>
            <a:off x="822960" y="585216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Picking is easier than inventing. Easier isn’t perfect.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365760"/>
          </a:xfrm>
          <a:prstGeom prst="rect">
            <a:avLst/>
          </a:prstGeom>
          <a:noFill/>
          <a:ln/>
        </p:spPr>
        <p:txBody>
          <a:bodyPr wrap="square" lIns="0" tIns="0" rIns="0" bIns="0" rtlCol="0" anchor="ctr"/>
          <a:lstStyle/>
          <a:p>
            <a:pPr indent="0" marL="0">
              <a:buNone/>
            </a:pPr>
            <a:r>
              <a:rPr lang="en-US" sz="1400" b="1" spc="200" kern="0" dirty="0">
                <a:solidFill>
                  <a:srgbClr val="29B5E8"/>
                </a:solidFill>
                <a:latin typeface="Arial" pitchFamily="34" charset="0"/>
                <a:ea typeface="Arial" pitchFamily="34" charset="-122"/>
                <a:cs typeface="Arial" pitchFamily="34" charset="-120"/>
              </a:rPr>
              <a:t>6  ·  WHAT WE DO TODAY</a:t>
            </a:r>
            <a:endParaRPr lang="en-US" sz="1400" dirty="0"/>
          </a:p>
        </p:txBody>
      </p:sp>
      <p:sp>
        <p:nvSpPr>
          <p:cNvPr id="3" name="Text 1"/>
          <p:cNvSpPr txBox="1"/>
          <p:nvPr/>
        </p:nvSpPr>
        <p:spPr>
          <a:xfrm>
            <a:off x="822960" y="914400"/>
            <a:ext cx="1051560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Our rules, then the agent builds it.</a:t>
            </a:r>
            <a:endParaRPr lang="en-US" sz="3400" dirty="0"/>
          </a:p>
        </p:txBody>
      </p:sp>
      <p:sp>
        <p:nvSpPr>
          <p:cNvPr id="4" name="Shape 2"/>
          <p:cNvSpPr/>
          <p:nvPr/>
        </p:nvSpPr>
        <p:spPr>
          <a:xfrm>
            <a:off x="822960" y="1828800"/>
            <a:ext cx="6766560" cy="475488"/>
          </a:xfrm>
          <a:prstGeom prst="roundRect">
            <a:avLst>
              <a:gd name="adj" fmla="val 23077"/>
            </a:avLst>
          </a:prstGeom>
          <a:solidFill>
            <a:srgbClr val="1D1D1F"/>
          </a:solidFill>
          <a:ln w="12700">
            <a:solidFill>
              <a:srgbClr val="3A3A3C"/>
            </a:solidFill>
            <a:prstDash val="solid"/>
          </a:ln>
        </p:spPr>
      </p:sp>
      <p:sp>
        <p:nvSpPr>
          <p:cNvPr id="5" name="Text 3"/>
          <p:cNvSpPr txBox="1"/>
          <p:nvPr/>
        </p:nvSpPr>
        <p:spPr>
          <a:xfrm>
            <a:off x="1005840" y="1828800"/>
            <a:ext cx="2286000" cy="475488"/>
          </a:xfrm>
          <a:prstGeom prst="rect">
            <a:avLst/>
          </a:prstGeom>
          <a:noFill/>
          <a:ln/>
        </p:spPr>
        <p:txBody>
          <a:bodyPr wrap="square" lIns="0" tIns="0" rIns="0" bIns="0" rtlCol="0" anchor="ctr"/>
          <a:lstStyle/>
          <a:p>
            <a:pPr indent="0" marL="0">
              <a:buNone/>
            </a:pPr>
            <a:r>
              <a:rPr lang="en-US" sz="1300" b="1" dirty="0">
                <a:solidFill>
                  <a:srgbClr val="29B5E8"/>
                </a:solidFill>
                <a:latin typeface="Courier New" pitchFamily="34" charset="0"/>
                <a:ea typeface="Courier New" pitchFamily="34" charset="-122"/>
                <a:cs typeface="Courier New" pitchFamily="34" charset="-120"/>
              </a:rPr>
              <a:t>total_revenue</a:t>
            </a:r>
            <a:endParaRPr lang="en-US" sz="1300" dirty="0"/>
          </a:p>
        </p:txBody>
      </p:sp>
      <p:sp>
        <p:nvSpPr>
          <p:cNvPr id="6" name="Text 4"/>
          <p:cNvSpPr txBox="1"/>
          <p:nvPr/>
        </p:nvSpPr>
        <p:spPr>
          <a:xfrm>
            <a:off x="3291840" y="1828800"/>
            <a:ext cx="4206240" cy="475488"/>
          </a:xfrm>
          <a:prstGeom prst="rect">
            <a:avLst/>
          </a:prstGeom>
          <a:noFill/>
          <a:ln/>
        </p:spPr>
        <p:txBody>
          <a:bodyPr wrap="square" lIns="0" tIns="0" rIns="0" bIns="0" rtlCol="0" anchor="ctr"/>
          <a:lstStyle/>
          <a:p>
            <a:pPr indent="0" marL="0">
              <a:buNone/>
            </a:pPr>
            <a:r>
              <a:rPr lang="en-US" sz="1200" dirty="0">
                <a:solidFill>
                  <a:srgbClr val="F5F5F7"/>
                </a:solidFill>
                <a:latin typeface="Arial" pitchFamily="34" charset="0"/>
                <a:ea typeface="Arial" pitchFamily="34" charset="-122"/>
                <a:cs typeface="Arial" pitchFamily="34" charset="-120"/>
              </a:rPr>
              <a:t>Sum of line revenue. Excludes cancelled + pending. Returns subtract.</a:t>
            </a:r>
            <a:endParaRPr lang="en-US" sz="1200" dirty="0"/>
          </a:p>
        </p:txBody>
      </p:sp>
      <p:sp>
        <p:nvSpPr>
          <p:cNvPr id="7" name="Shape 5"/>
          <p:cNvSpPr/>
          <p:nvPr/>
        </p:nvSpPr>
        <p:spPr>
          <a:xfrm>
            <a:off x="822960" y="2395728"/>
            <a:ext cx="6766560" cy="475488"/>
          </a:xfrm>
          <a:prstGeom prst="roundRect">
            <a:avLst>
              <a:gd name="adj" fmla="val 23077"/>
            </a:avLst>
          </a:prstGeom>
          <a:solidFill>
            <a:srgbClr val="1D1D1F"/>
          </a:solidFill>
          <a:ln w="12700">
            <a:solidFill>
              <a:srgbClr val="3A3A3C"/>
            </a:solidFill>
            <a:prstDash val="solid"/>
          </a:ln>
        </p:spPr>
      </p:sp>
      <p:sp>
        <p:nvSpPr>
          <p:cNvPr id="8" name="Text 6"/>
          <p:cNvSpPr txBox="1"/>
          <p:nvPr/>
        </p:nvSpPr>
        <p:spPr>
          <a:xfrm>
            <a:off x="1005840" y="2395728"/>
            <a:ext cx="2286000" cy="475488"/>
          </a:xfrm>
          <a:prstGeom prst="rect">
            <a:avLst/>
          </a:prstGeom>
          <a:noFill/>
          <a:ln/>
        </p:spPr>
        <p:txBody>
          <a:bodyPr wrap="square" lIns="0" tIns="0" rIns="0" bIns="0" rtlCol="0" anchor="ctr"/>
          <a:lstStyle/>
          <a:p>
            <a:pPr indent="0" marL="0">
              <a:buNone/>
            </a:pPr>
            <a:r>
              <a:rPr lang="en-US" sz="1300" b="1" dirty="0">
                <a:solidFill>
                  <a:srgbClr val="29B5E8"/>
                </a:solidFill>
                <a:latin typeface="Courier New" pitchFamily="34" charset="0"/>
                <a:ea typeface="Courier New" pitchFamily="34" charset="-122"/>
                <a:cs typeface="Courier New" pitchFamily="34" charset="-120"/>
              </a:rPr>
              <a:t>order_count</a:t>
            </a:r>
            <a:endParaRPr lang="en-US" sz="1300" dirty="0"/>
          </a:p>
        </p:txBody>
      </p:sp>
      <p:sp>
        <p:nvSpPr>
          <p:cNvPr id="9" name="Text 7"/>
          <p:cNvSpPr txBox="1"/>
          <p:nvPr/>
        </p:nvSpPr>
        <p:spPr>
          <a:xfrm>
            <a:off x="3291840" y="2395728"/>
            <a:ext cx="4206240" cy="475488"/>
          </a:xfrm>
          <a:prstGeom prst="rect">
            <a:avLst/>
          </a:prstGeom>
          <a:noFill/>
          <a:ln/>
        </p:spPr>
        <p:txBody>
          <a:bodyPr wrap="square" lIns="0" tIns="0" rIns="0" bIns="0" rtlCol="0" anchor="ctr"/>
          <a:lstStyle/>
          <a:p>
            <a:pPr indent="0" marL="0">
              <a:buNone/>
            </a:pPr>
            <a:r>
              <a:rPr lang="en-US" sz="1200" dirty="0">
                <a:solidFill>
                  <a:srgbClr val="F5F5F7"/>
                </a:solidFill>
                <a:latin typeface="Arial" pitchFamily="34" charset="0"/>
                <a:ea typeface="Arial" pitchFamily="34" charset="-122"/>
                <a:cs typeface="Arial" pitchFamily="34" charset="-120"/>
              </a:rPr>
              <a:t>Distinct orders. Excludes cancelled + pending.</a:t>
            </a:r>
            <a:endParaRPr lang="en-US" sz="1200" dirty="0"/>
          </a:p>
        </p:txBody>
      </p:sp>
      <p:sp>
        <p:nvSpPr>
          <p:cNvPr id="10" name="Shape 8"/>
          <p:cNvSpPr/>
          <p:nvPr/>
        </p:nvSpPr>
        <p:spPr>
          <a:xfrm>
            <a:off x="822960" y="2962656"/>
            <a:ext cx="6766560" cy="475488"/>
          </a:xfrm>
          <a:prstGeom prst="roundRect">
            <a:avLst>
              <a:gd name="adj" fmla="val 23077"/>
            </a:avLst>
          </a:prstGeom>
          <a:solidFill>
            <a:srgbClr val="1D1D1F"/>
          </a:solidFill>
          <a:ln w="12700">
            <a:solidFill>
              <a:srgbClr val="3A3A3C"/>
            </a:solidFill>
            <a:prstDash val="solid"/>
          </a:ln>
        </p:spPr>
      </p:sp>
      <p:sp>
        <p:nvSpPr>
          <p:cNvPr id="11" name="Text 9"/>
          <p:cNvSpPr txBox="1"/>
          <p:nvPr/>
        </p:nvSpPr>
        <p:spPr>
          <a:xfrm>
            <a:off x="1005840" y="2962656"/>
            <a:ext cx="2286000" cy="475488"/>
          </a:xfrm>
          <a:prstGeom prst="rect">
            <a:avLst/>
          </a:prstGeom>
          <a:noFill/>
          <a:ln/>
        </p:spPr>
        <p:txBody>
          <a:bodyPr wrap="square" lIns="0" tIns="0" rIns="0" bIns="0" rtlCol="0" anchor="ctr"/>
          <a:lstStyle/>
          <a:p>
            <a:pPr indent="0" marL="0">
              <a:buNone/>
            </a:pPr>
            <a:r>
              <a:rPr lang="en-US" sz="1300" b="1" dirty="0">
                <a:solidFill>
                  <a:srgbClr val="29B5E8"/>
                </a:solidFill>
                <a:latin typeface="Courier New" pitchFamily="34" charset="0"/>
                <a:ea typeface="Courier New" pitchFamily="34" charset="-122"/>
                <a:cs typeface="Courier New" pitchFamily="34" charset="-120"/>
              </a:rPr>
              <a:t>avg_order_value</a:t>
            </a:r>
            <a:endParaRPr lang="en-US" sz="1300" dirty="0"/>
          </a:p>
        </p:txBody>
      </p:sp>
      <p:sp>
        <p:nvSpPr>
          <p:cNvPr id="12" name="Text 10"/>
          <p:cNvSpPr txBox="1"/>
          <p:nvPr/>
        </p:nvSpPr>
        <p:spPr>
          <a:xfrm>
            <a:off x="3291840" y="2962656"/>
            <a:ext cx="4206240" cy="475488"/>
          </a:xfrm>
          <a:prstGeom prst="rect">
            <a:avLst/>
          </a:prstGeom>
          <a:noFill/>
          <a:ln/>
        </p:spPr>
        <p:txBody>
          <a:bodyPr wrap="square" lIns="0" tIns="0" rIns="0" bIns="0" rtlCol="0" anchor="ctr"/>
          <a:lstStyle/>
          <a:p>
            <a:pPr indent="0" marL="0">
              <a:buNone/>
            </a:pPr>
            <a:r>
              <a:rPr lang="en-US" sz="1200" dirty="0">
                <a:solidFill>
                  <a:srgbClr val="F5F5F7"/>
                </a:solidFill>
                <a:latin typeface="Arial" pitchFamily="34" charset="0"/>
                <a:ea typeface="Arial" pitchFamily="34" charset="-122"/>
                <a:cs typeface="Arial" pitchFamily="34" charset="-120"/>
              </a:rPr>
              <a:t>Revenue ÷ orders.</a:t>
            </a:r>
            <a:endParaRPr lang="en-US" sz="1200" dirty="0"/>
          </a:p>
        </p:txBody>
      </p:sp>
      <p:sp>
        <p:nvSpPr>
          <p:cNvPr id="13" name="Shape 11"/>
          <p:cNvSpPr/>
          <p:nvPr/>
        </p:nvSpPr>
        <p:spPr>
          <a:xfrm>
            <a:off x="822960" y="3529584"/>
            <a:ext cx="6766560" cy="475488"/>
          </a:xfrm>
          <a:prstGeom prst="roundRect">
            <a:avLst>
              <a:gd name="adj" fmla="val 23077"/>
            </a:avLst>
          </a:prstGeom>
          <a:solidFill>
            <a:srgbClr val="1D1D1F"/>
          </a:solidFill>
          <a:ln w="12700">
            <a:solidFill>
              <a:srgbClr val="3A3A3C"/>
            </a:solidFill>
            <a:prstDash val="solid"/>
          </a:ln>
        </p:spPr>
      </p:sp>
      <p:sp>
        <p:nvSpPr>
          <p:cNvPr id="14" name="Text 12"/>
          <p:cNvSpPr txBox="1"/>
          <p:nvPr/>
        </p:nvSpPr>
        <p:spPr>
          <a:xfrm>
            <a:off x="1005840" y="3529584"/>
            <a:ext cx="2286000" cy="475488"/>
          </a:xfrm>
          <a:prstGeom prst="rect">
            <a:avLst/>
          </a:prstGeom>
          <a:noFill/>
          <a:ln/>
        </p:spPr>
        <p:txBody>
          <a:bodyPr wrap="square" lIns="0" tIns="0" rIns="0" bIns="0" rtlCol="0" anchor="ctr"/>
          <a:lstStyle/>
          <a:p>
            <a:pPr indent="0" marL="0">
              <a:buNone/>
            </a:pPr>
            <a:r>
              <a:rPr lang="en-US" sz="1300" b="1" dirty="0">
                <a:solidFill>
                  <a:srgbClr val="29B5E8"/>
                </a:solidFill>
                <a:latin typeface="Courier New" pitchFamily="34" charset="0"/>
                <a:ea typeface="Courier New" pitchFamily="34" charset="-122"/>
                <a:cs typeface="Courier New" pitchFamily="34" charset="-120"/>
              </a:rPr>
              <a:t>return_rate</a:t>
            </a:r>
            <a:endParaRPr lang="en-US" sz="1300" dirty="0"/>
          </a:p>
        </p:txBody>
      </p:sp>
      <p:sp>
        <p:nvSpPr>
          <p:cNvPr id="15" name="Text 13"/>
          <p:cNvSpPr txBox="1"/>
          <p:nvPr/>
        </p:nvSpPr>
        <p:spPr>
          <a:xfrm>
            <a:off x="3291840" y="3529584"/>
            <a:ext cx="4206240" cy="475488"/>
          </a:xfrm>
          <a:prstGeom prst="rect">
            <a:avLst/>
          </a:prstGeom>
          <a:noFill/>
          <a:ln/>
        </p:spPr>
        <p:txBody>
          <a:bodyPr wrap="square" lIns="0" tIns="0" rIns="0" bIns="0" rtlCol="0" anchor="ctr"/>
          <a:lstStyle/>
          <a:p>
            <a:pPr indent="0" marL="0">
              <a:buNone/>
            </a:pPr>
            <a:r>
              <a:rPr lang="en-US" sz="1200" dirty="0">
                <a:solidFill>
                  <a:srgbClr val="F5F5F7"/>
                </a:solidFill>
                <a:latin typeface="Arial" pitchFamily="34" charset="0"/>
                <a:ea typeface="Arial" pitchFamily="34" charset="-122"/>
                <a:cs typeface="Arial" pitchFamily="34" charset="-120"/>
              </a:rPr>
              <a:t>Return lines ÷ all lines, by count.</a:t>
            </a:r>
            <a:endParaRPr lang="en-US" sz="1200" dirty="0"/>
          </a:p>
        </p:txBody>
      </p:sp>
      <p:sp>
        <p:nvSpPr>
          <p:cNvPr id="16" name="Shape 14"/>
          <p:cNvSpPr/>
          <p:nvPr/>
        </p:nvSpPr>
        <p:spPr>
          <a:xfrm>
            <a:off x="822960" y="4096512"/>
            <a:ext cx="6766560" cy="475488"/>
          </a:xfrm>
          <a:prstGeom prst="roundRect">
            <a:avLst>
              <a:gd name="adj" fmla="val 23077"/>
            </a:avLst>
          </a:prstGeom>
          <a:solidFill>
            <a:srgbClr val="1D1D1F"/>
          </a:solidFill>
          <a:ln w="12700">
            <a:solidFill>
              <a:srgbClr val="3A3A3C"/>
            </a:solidFill>
            <a:prstDash val="solid"/>
          </a:ln>
        </p:spPr>
      </p:sp>
      <p:sp>
        <p:nvSpPr>
          <p:cNvPr id="17" name="Text 15"/>
          <p:cNvSpPr txBox="1"/>
          <p:nvPr/>
        </p:nvSpPr>
        <p:spPr>
          <a:xfrm>
            <a:off x="1005840" y="4096512"/>
            <a:ext cx="2286000" cy="475488"/>
          </a:xfrm>
          <a:prstGeom prst="rect">
            <a:avLst/>
          </a:prstGeom>
          <a:noFill/>
          <a:ln/>
        </p:spPr>
        <p:txBody>
          <a:bodyPr wrap="square" lIns="0" tIns="0" rIns="0" bIns="0" rtlCol="0" anchor="ctr"/>
          <a:lstStyle/>
          <a:p>
            <a:pPr indent="0" marL="0">
              <a:buNone/>
            </a:pPr>
            <a:r>
              <a:rPr lang="en-US" sz="1300" b="1" dirty="0">
                <a:solidFill>
                  <a:srgbClr val="29B5E8"/>
                </a:solidFill>
                <a:latin typeface="Courier New" pitchFamily="34" charset="0"/>
                <a:ea typeface="Courier New" pitchFamily="34" charset="-122"/>
                <a:cs typeface="Courier New" pitchFamily="34" charset="-120"/>
              </a:rPr>
              <a:t>active_customers</a:t>
            </a:r>
            <a:endParaRPr lang="en-US" sz="1300" dirty="0"/>
          </a:p>
        </p:txBody>
      </p:sp>
      <p:sp>
        <p:nvSpPr>
          <p:cNvPr id="18" name="Text 16"/>
          <p:cNvSpPr txBox="1"/>
          <p:nvPr/>
        </p:nvSpPr>
        <p:spPr>
          <a:xfrm>
            <a:off x="3291840" y="4096512"/>
            <a:ext cx="4206240" cy="475488"/>
          </a:xfrm>
          <a:prstGeom prst="rect">
            <a:avLst/>
          </a:prstGeom>
          <a:noFill/>
          <a:ln/>
        </p:spPr>
        <p:txBody>
          <a:bodyPr wrap="square" lIns="0" tIns="0" rIns="0" bIns="0" rtlCol="0" anchor="ctr"/>
          <a:lstStyle/>
          <a:p>
            <a:pPr indent="0" marL="0">
              <a:buNone/>
            </a:pPr>
            <a:r>
              <a:rPr lang="en-US" sz="1200" dirty="0">
                <a:solidFill>
                  <a:srgbClr val="F5F5F7"/>
                </a:solidFill>
                <a:latin typeface="Arial" pitchFamily="34" charset="0"/>
                <a:ea typeface="Arial" pitchFamily="34" charset="-122"/>
                <a:cs typeface="Arial" pitchFamily="34" charset="-120"/>
              </a:rPr>
              <a:t>Customers with at least one counted order.</a:t>
            </a:r>
            <a:endParaRPr lang="en-US" sz="1200" dirty="0"/>
          </a:p>
        </p:txBody>
      </p:sp>
      <p:sp>
        <p:nvSpPr>
          <p:cNvPr id="19" name="Shape 17"/>
          <p:cNvSpPr/>
          <p:nvPr/>
        </p:nvSpPr>
        <p:spPr>
          <a:xfrm>
            <a:off x="8046720" y="1874520"/>
            <a:ext cx="457200" cy="457200"/>
          </a:xfrm>
          <a:prstGeom prst="ellipse">
            <a:avLst/>
          </a:prstGeom>
          <a:solidFill>
            <a:srgbClr val="29B5E8"/>
          </a:solidFill>
          <a:ln/>
        </p:spPr>
      </p:sp>
      <p:sp>
        <p:nvSpPr>
          <p:cNvPr id="20" name="Text 18"/>
          <p:cNvSpPr txBox="1"/>
          <p:nvPr/>
        </p:nvSpPr>
        <p:spPr>
          <a:xfrm>
            <a:off x="8046720" y="1874520"/>
            <a:ext cx="457200" cy="45720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1</a:t>
            </a:r>
            <a:endParaRPr lang="en-US" sz="1600" dirty="0"/>
          </a:p>
        </p:txBody>
      </p:sp>
      <p:sp>
        <p:nvSpPr>
          <p:cNvPr id="21" name="Text 19"/>
          <p:cNvSpPr txBox="1"/>
          <p:nvPr/>
        </p:nvSpPr>
        <p:spPr>
          <a:xfrm>
            <a:off x="8686800" y="1828800"/>
            <a:ext cx="2651760" cy="548640"/>
          </a:xfrm>
          <a:prstGeom prst="rect">
            <a:avLst/>
          </a:prstGeom>
          <a:noFill/>
          <a:ln/>
        </p:spPr>
        <p:txBody>
          <a:bodyPr wrap="square" lIns="0" tIns="0" rIns="0" bIns="0" rtlCol="0" anchor="ctr"/>
          <a:lstStyle/>
          <a:p>
            <a:pPr indent="0" marL="0">
              <a:buNone/>
            </a:pPr>
            <a:r>
              <a:rPr lang="en-US" sz="1400" dirty="0">
                <a:solidFill>
                  <a:srgbClr val="F5F5F7"/>
                </a:solidFill>
                <a:latin typeface="Arial" pitchFamily="34" charset="0"/>
                <a:ea typeface="Arial" pitchFamily="34" charset="-122"/>
                <a:cs typeface="Arial" pitchFamily="34" charset="-120"/>
              </a:rPr>
              <a:t>Paste prompt into agent</a:t>
            </a:r>
            <a:endParaRPr lang="en-US" sz="1400" dirty="0"/>
          </a:p>
        </p:txBody>
      </p:sp>
      <p:sp>
        <p:nvSpPr>
          <p:cNvPr id="22" name="Shape 20"/>
          <p:cNvSpPr/>
          <p:nvPr/>
        </p:nvSpPr>
        <p:spPr>
          <a:xfrm>
            <a:off x="8046720" y="2587752"/>
            <a:ext cx="457200" cy="457200"/>
          </a:xfrm>
          <a:prstGeom prst="ellipse">
            <a:avLst/>
          </a:prstGeom>
          <a:solidFill>
            <a:srgbClr val="29B5E8"/>
          </a:solidFill>
          <a:ln/>
        </p:spPr>
      </p:sp>
      <p:sp>
        <p:nvSpPr>
          <p:cNvPr id="23" name="Text 21"/>
          <p:cNvSpPr txBox="1"/>
          <p:nvPr/>
        </p:nvSpPr>
        <p:spPr>
          <a:xfrm>
            <a:off x="8046720" y="2587752"/>
            <a:ext cx="457200" cy="45720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2</a:t>
            </a:r>
            <a:endParaRPr lang="en-US" sz="1600" dirty="0"/>
          </a:p>
        </p:txBody>
      </p:sp>
      <p:sp>
        <p:nvSpPr>
          <p:cNvPr id="24" name="Text 22"/>
          <p:cNvSpPr txBox="1"/>
          <p:nvPr/>
        </p:nvSpPr>
        <p:spPr>
          <a:xfrm>
            <a:off x="8686800" y="2542032"/>
            <a:ext cx="2651760" cy="548640"/>
          </a:xfrm>
          <a:prstGeom prst="rect">
            <a:avLst/>
          </a:prstGeom>
          <a:noFill/>
          <a:ln/>
        </p:spPr>
        <p:txBody>
          <a:bodyPr wrap="square" lIns="0" tIns="0" rIns="0" bIns="0" rtlCol="0" anchor="ctr"/>
          <a:lstStyle/>
          <a:p>
            <a:pPr indent="0" marL="0">
              <a:buNone/>
            </a:pPr>
            <a:r>
              <a:rPr lang="en-US" sz="1400" dirty="0">
                <a:solidFill>
                  <a:srgbClr val="F5F5F7"/>
                </a:solidFill>
                <a:latin typeface="Arial" pitchFamily="34" charset="0"/>
                <a:ea typeface="Arial" pitchFamily="34" charset="-122"/>
                <a:cs typeface="Arial" pitchFamily="34" charset="-120"/>
              </a:rPr>
              <a:t>Agent checks real columns</a:t>
            </a:r>
            <a:endParaRPr lang="en-US" sz="1400" dirty="0"/>
          </a:p>
        </p:txBody>
      </p:sp>
      <p:sp>
        <p:nvSpPr>
          <p:cNvPr id="25" name="Shape 23"/>
          <p:cNvSpPr/>
          <p:nvPr/>
        </p:nvSpPr>
        <p:spPr>
          <a:xfrm>
            <a:off x="8046720" y="3300984"/>
            <a:ext cx="457200" cy="457200"/>
          </a:xfrm>
          <a:prstGeom prst="ellipse">
            <a:avLst/>
          </a:prstGeom>
          <a:solidFill>
            <a:srgbClr val="29B5E8"/>
          </a:solidFill>
          <a:ln/>
        </p:spPr>
      </p:sp>
      <p:sp>
        <p:nvSpPr>
          <p:cNvPr id="26" name="Text 24"/>
          <p:cNvSpPr txBox="1"/>
          <p:nvPr/>
        </p:nvSpPr>
        <p:spPr>
          <a:xfrm>
            <a:off x="8046720" y="3300984"/>
            <a:ext cx="457200" cy="45720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3</a:t>
            </a:r>
            <a:endParaRPr lang="en-US" sz="1600" dirty="0"/>
          </a:p>
        </p:txBody>
      </p:sp>
      <p:sp>
        <p:nvSpPr>
          <p:cNvPr id="27" name="Text 25"/>
          <p:cNvSpPr txBox="1"/>
          <p:nvPr/>
        </p:nvSpPr>
        <p:spPr>
          <a:xfrm>
            <a:off x="8686800" y="3255264"/>
            <a:ext cx="2651760" cy="548640"/>
          </a:xfrm>
          <a:prstGeom prst="rect">
            <a:avLst/>
          </a:prstGeom>
          <a:noFill/>
          <a:ln/>
        </p:spPr>
        <p:txBody>
          <a:bodyPr wrap="square" lIns="0" tIns="0" rIns="0" bIns="0" rtlCol="0" anchor="ctr"/>
          <a:lstStyle/>
          <a:p>
            <a:pPr indent="0" marL="0">
              <a:buNone/>
            </a:pPr>
            <a:r>
              <a:rPr lang="en-US" sz="1400" dirty="0">
                <a:solidFill>
                  <a:srgbClr val="F5F5F7"/>
                </a:solidFill>
                <a:latin typeface="Arial" pitchFamily="34" charset="0"/>
                <a:ea typeface="Arial" pitchFamily="34" charset="-122"/>
                <a:cs typeface="Arial" pitchFamily="34" charset="-120"/>
              </a:rPr>
              <a:t>Agent creates ORDERIQ_SV</a:t>
            </a:r>
            <a:endParaRPr lang="en-US" sz="1400" dirty="0"/>
          </a:p>
        </p:txBody>
      </p:sp>
      <p:sp>
        <p:nvSpPr>
          <p:cNvPr id="28" name="Shape 26"/>
          <p:cNvSpPr/>
          <p:nvPr/>
        </p:nvSpPr>
        <p:spPr>
          <a:xfrm>
            <a:off x="8046720" y="4014216"/>
            <a:ext cx="457200" cy="457200"/>
          </a:xfrm>
          <a:prstGeom prst="ellipse">
            <a:avLst/>
          </a:prstGeom>
          <a:solidFill>
            <a:srgbClr val="29B5E8"/>
          </a:solidFill>
          <a:ln/>
        </p:spPr>
      </p:sp>
      <p:sp>
        <p:nvSpPr>
          <p:cNvPr id="29" name="Text 27"/>
          <p:cNvSpPr txBox="1"/>
          <p:nvPr/>
        </p:nvSpPr>
        <p:spPr>
          <a:xfrm>
            <a:off x="8046720" y="4014216"/>
            <a:ext cx="457200" cy="45720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4</a:t>
            </a:r>
            <a:endParaRPr lang="en-US" sz="1600" dirty="0"/>
          </a:p>
        </p:txBody>
      </p:sp>
      <p:sp>
        <p:nvSpPr>
          <p:cNvPr id="30" name="Text 28"/>
          <p:cNvSpPr txBox="1"/>
          <p:nvPr/>
        </p:nvSpPr>
        <p:spPr>
          <a:xfrm>
            <a:off x="8686800" y="3968496"/>
            <a:ext cx="2651760" cy="548640"/>
          </a:xfrm>
          <a:prstGeom prst="rect">
            <a:avLst/>
          </a:prstGeom>
          <a:noFill/>
          <a:ln/>
        </p:spPr>
        <p:txBody>
          <a:bodyPr wrap="square" lIns="0" tIns="0" rIns="0" bIns="0" rtlCol="0" anchor="ctr"/>
          <a:lstStyle/>
          <a:p>
            <a:pPr indent="0" marL="0">
              <a:buNone/>
            </a:pPr>
            <a:r>
              <a:rPr lang="en-US" sz="1400" dirty="0">
                <a:solidFill>
                  <a:srgbClr val="F5F5F7"/>
                </a:solidFill>
                <a:latin typeface="Arial" pitchFamily="34" charset="0"/>
                <a:ea typeface="Arial" pitchFamily="34" charset="-122"/>
                <a:cs typeface="Arial" pitchFamily="34" charset="-120"/>
              </a:rPr>
              <a:t>We verify: each metric = plain SQL</a:t>
            </a:r>
            <a:endParaRPr lang="en-US" sz="1400" dirty="0"/>
          </a:p>
        </p:txBody>
      </p:sp>
      <p:sp>
        <p:nvSpPr>
          <p:cNvPr id="31" name="Text 29"/>
          <p:cNvSpPr txBox="1"/>
          <p:nvPr/>
        </p:nvSpPr>
        <p:spPr>
          <a:xfrm>
            <a:off x="822960" y="4846320"/>
            <a:ext cx="10515600" cy="365760"/>
          </a:xfrm>
          <a:prstGeom prst="rect">
            <a:avLst/>
          </a:prstGeom>
          <a:noFill/>
          <a:ln/>
        </p:spPr>
        <p:txBody>
          <a:bodyPr wrap="square" lIns="0" tIns="0" rIns="0" bIns="0" rtlCol="0" anchor="ctr"/>
          <a:lstStyle/>
          <a:p>
            <a:pPr indent="0" marL="0">
              <a:buNone/>
            </a:pPr>
            <a:r>
              <a:rPr lang="en-US" sz="1400" i="1" dirty="0">
                <a:solidFill>
                  <a:srgbClr val="A1A1A6"/>
                </a:solidFill>
                <a:latin typeface="Arial" pitchFamily="34" charset="0"/>
                <a:ea typeface="Arial" pitchFamily="34" charset="-122"/>
                <a:cs typeface="Arial" pitchFamily="34" charset="-120"/>
              </a:rPr>
              <a:t>Course rules for teaching. Your company will have its own.</a:t>
            </a:r>
            <a:endParaRPr lang="en-US" sz="1400" dirty="0"/>
          </a:p>
        </p:txBody>
      </p:sp>
      <p:sp>
        <p:nvSpPr>
          <p:cNvPr id="32" name="Text 30"/>
          <p:cNvSpPr txBox="1"/>
          <p:nvPr/>
        </p:nvSpPr>
        <p:spPr>
          <a:xfrm>
            <a:off x="822960" y="5760720"/>
            <a:ext cx="10515600" cy="457200"/>
          </a:xfrm>
          <a:prstGeom prst="rect">
            <a:avLst/>
          </a:prstGeom>
          <a:noFill/>
          <a:ln/>
        </p:spPr>
        <p:txBody>
          <a:bodyPr wrap="square" lIns="0" tIns="0" rIns="0" bIns="0" rtlCol="0" anchor="ctr"/>
          <a:lstStyle/>
          <a:p>
            <a:pPr indent="0" marL="0">
              <a:buNone/>
            </a:pPr>
            <a:r>
              <a:rPr lang="en-US" sz="1600" b="1" dirty="0">
                <a:solidFill>
                  <a:srgbClr val="29B5E8"/>
                </a:solidFill>
                <a:latin typeface="Arial" pitchFamily="34" charset="0"/>
                <a:ea typeface="Arial" pitchFamily="34" charset="-122"/>
                <a:cs typeface="Arial" pitchFamily="34" charset="-120"/>
              </a:rPr>
              <a:t>Say: </a:t>
            </a:r>
            <a:pPr indent="0" marL="0">
              <a:buNone/>
            </a:pPr>
            <a:r>
              <a:rPr lang="en-US" sz="1600" i="1" dirty="0">
                <a:solidFill>
                  <a:srgbClr val="F5F5F7"/>
                </a:solidFill>
                <a:latin typeface="Arial" pitchFamily="34" charset="0"/>
                <a:ea typeface="Arial" pitchFamily="34" charset="-122"/>
                <a:cs typeface="Arial" pitchFamily="34" charset="-120"/>
              </a:rPr>
              <a:t>If the semantic view and plain SQL disagree, the view is wrong. We fix it before moving 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2026-09-27T03:09:57Z</dcterms:created>
  <dcterms:modified xsi:type="dcterms:W3CDTF">2026-09-27T03:09:57Z</dcterms:modified>
</cp:coreProperties>
</file>